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465" r:id="rId2"/>
    <p:sldId id="26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2597" autoAdjust="0"/>
  </p:normalViewPr>
  <p:slideViewPr>
    <p:cSldViewPr snapToGrid="0">
      <p:cViewPr varScale="1">
        <p:scale>
          <a:sx n="68" d="100"/>
          <a:sy n="68" d="100"/>
        </p:scale>
        <p:origin x="1219" y="72"/>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10/10/25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Steve Cerwin and I am going to talk about a way of probing the bottom side ionosphere using ordinary amateur radios transmitting and receiving audio waveforms that can reveal the Time Difference of Arrival, or TDOA between multipath propagation modes.</a:t>
            </a:r>
          </a:p>
        </p:txBody>
      </p:sp>
      <p:sp>
        <p:nvSpPr>
          <p:cNvPr id="4" name="Slide Number Placeholder 3"/>
          <p:cNvSpPr>
            <a:spLocks noGrp="1"/>
          </p:cNvSpPr>
          <p:nvPr>
            <p:ph type="sldNum" sz="quarter" idx="5"/>
          </p:nvPr>
        </p:nvSpPr>
        <p:spPr/>
        <p:txBody>
          <a:bodyPr/>
          <a:lstStyle/>
          <a:p>
            <a:fld id="{591AE693-752C-4720-B6D7-D348E1F4E496}" type="slidenum">
              <a:rPr lang="en-US" smtClean="0"/>
              <a:t>1</a:t>
            </a:fld>
            <a:endParaRPr lang="en-US"/>
          </a:p>
        </p:txBody>
      </p:sp>
    </p:spTree>
    <p:extLst>
      <p:ext uri="{BB962C8B-B14F-4D97-AF65-F5344CB8AC3E}">
        <p14:creationId xmlns:p14="http://schemas.microsoft.com/office/powerpoint/2010/main" val="539493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charts show TDOA data taken over the same NVIS path at two different frequencies of 5.3 MHz and 7.3 MHz. Both plots include the hmF2 overlay from the Austin, TX ionosonde. The calculated F2 layer height profile at 5.3 MHz showed definite peaking over the acquisition window with a well-defined peak that occurred about 20 minutes before local totality. Note that incident sun angle also peaks over this period. The 7.3 MHz data set showed the double-hump saddle with the second peak at 30 minutes after totality. The Austin ionosonde showed general peaking over this time window with only a modest peak at the time of totality. These TDOA data sets show a clear frequency dependence while still being generally consistent with Austin hmF2.  Definite frequency dependent height bumps were obtained during the 2023 annular eclipse and reported at the 2023 AGU Fall meeting. </a:t>
            </a:r>
          </a:p>
        </p:txBody>
      </p:sp>
      <p:sp>
        <p:nvSpPr>
          <p:cNvPr id="4" name="Slide Number Placeholder 3"/>
          <p:cNvSpPr>
            <a:spLocks noGrp="1"/>
          </p:cNvSpPr>
          <p:nvPr>
            <p:ph type="sldNum" sz="quarter" idx="5"/>
          </p:nvPr>
        </p:nvSpPr>
        <p:spPr/>
        <p:txBody>
          <a:bodyPr/>
          <a:lstStyle/>
          <a:p>
            <a:fld id="{591AE693-752C-4720-B6D7-D348E1F4E496}" type="slidenum">
              <a:rPr lang="en-US" smtClean="0"/>
              <a:t>2</a:t>
            </a:fld>
            <a:endParaRPr lang="en-US"/>
          </a:p>
        </p:txBody>
      </p:sp>
    </p:spTree>
    <p:extLst>
      <p:ext uri="{BB962C8B-B14F-4D97-AF65-F5344CB8AC3E}">
        <p14:creationId xmlns:p14="http://schemas.microsoft.com/office/powerpoint/2010/main" val="2831137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C668-90E8-451C-C1A3-87C44D3A5117}"/>
              </a:ext>
            </a:extLst>
          </p:cNvPr>
          <p:cNvSpPr>
            <a:spLocks noGrp="1"/>
          </p:cNvSpPr>
          <p:nvPr>
            <p:ph type="ctrTitle"/>
          </p:nvPr>
        </p:nvSpPr>
        <p:spPr>
          <a:xfrm>
            <a:off x="850609" y="558837"/>
            <a:ext cx="10494333" cy="1854754"/>
          </a:xfrm>
        </p:spPr>
        <p:txBody>
          <a:bodyPr>
            <a:normAutofit/>
          </a:bodyPr>
          <a:lstStyle/>
          <a:p>
            <a:r>
              <a:rPr lang="en-US" sz="4000" kern="100" dirty="0">
                <a:effectLst/>
                <a:latin typeface="Calibri" panose="020F0502020204030204" pitchFamily="34" charset="0"/>
                <a:ea typeface="Calibri" panose="020F0502020204030204" pitchFamily="34" charset="0"/>
                <a:cs typeface="Times New Roman" panose="02020603050405020304" pitchFamily="18" charset="0"/>
              </a:rPr>
              <a:t>HamSCI HF Multipath Propagation Mode Analysis Using Amateur Radios and Audio Waveforms Sensitive to Time Difference of Arrival (TDOA) </a:t>
            </a:r>
            <a:endParaRPr lang="en-US" dirty="0"/>
          </a:p>
        </p:txBody>
      </p:sp>
      <p:sp>
        <p:nvSpPr>
          <p:cNvPr id="3" name="Subtitle 2">
            <a:extLst>
              <a:ext uri="{FF2B5EF4-FFF2-40B4-BE49-F238E27FC236}">
                <a16:creationId xmlns:a16="http://schemas.microsoft.com/office/drawing/2014/main" id="{F932A519-7BEC-5DBC-A6A4-EEF2BA81B9AC}"/>
              </a:ext>
            </a:extLst>
          </p:cNvPr>
          <p:cNvSpPr>
            <a:spLocks noGrp="1"/>
          </p:cNvSpPr>
          <p:nvPr>
            <p:ph type="subTitle" idx="1"/>
          </p:nvPr>
        </p:nvSpPr>
        <p:spPr>
          <a:xfrm>
            <a:off x="2502640" y="2791047"/>
            <a:ext cx="6463711" cy="1477925"/>
          </a:xfrm>
        </p:spPr>
        <p:txBody>
          <a:bodyPr>
            <a:normAutofit/>
          </a:bodyPr>
          <a:lstStyle/>
          <a:p>
            <a:r>
              <a:rPr lang="en-US" sz="1800" dirty="0"/>
              <a:t>Steve Cerwin WA5FRF, Jesse T. McMahan K1FR,</a:t>
            </a:r>
          </a:p>
          <a:p>
            <a:r>
              <a:rPr lang="en-US" sz="1800" dirty="0"/>
              <a:t>Alexandros Papadopoulos KC3WUD, Gerard Piccini KD2ZHK,</a:t>
            </a:r>
          </a:p>
          <a:p>
            <a:r>
              <a:rPr lang="en-US" sz="1800" dirty="0"/>
              <a:t>Paul Bilberry N5DUP, Sam Blackshear AB5YO</a:t>
            </a:r>
          </a:p>
          <a:p>
            <a:r>
              <a:rPr lang="en-US" sz="1800" dirty="0"/>
              <a:t>Kristina V. Collins KD8OXT, Nathaniel  A. Frissell W2NAV</a:t>
            </a:r>
          </a:p>
          <a:p>
            <a:endParaRPr lang="en-US" sz="1600" dirty="0"/>
          </a:p>
        </p:txBody>
      </p:sp>
      <p:sp>
        <p:nvSpPr>
          <p:cNvPr id="4" name="TextBox 3">
            <a:extLst>
              <a:ext uri="{FF2B5EF4-FFF2-40B4-BE49-F238E27FC236}">
                <a16:creationId xmlns:a16="http://schemas.microsoft.com/office/drawing/2014/main" id="{0EF4D52B-A8FE-5FB1-A573-9385532A661A}"/>
              </a:ext>
            </a:extLst>
          </p:cNvPr>
          <p:cNvSpPr txBox="1"/>
          <p:nvPr/>
        </p:nvSpPr>
        <p:spPr>
          <a:xfrm>
            <a:off x="1725835" y="4646429"/>
            <a:ext cx="8017323" cy="954107"/>
          </a:xfrm>
          <a:prstGeom prst="rect">
            <a:avLst/>
          </a:prstGeom>
          <a:noFill/>
        </p:spPr>
        <p:txBody>
          <a:bodyPr wrap="none" rtlCol="0">
            <a:spAutoFit/>
          </a:bodyPr>
          <a:lstStyle/>
          <a:p>
            <a:pPr algn="ctr"/>
            <a:r>
              <a:rPr lang="en-US" sz="2800" b="0" i="0" dirty="0">
                <a:effectLst/>
                <a:latin typeface="avenir_nextdemi_bold"/>
              </a:rPr>
              <a:t>American Geophysical Union (AGU) Fall Meeting 2024</a:t>
            </a:r>
          </a:p>
          <a:p>
            <a:pPr algn="ctr"/>
            <a:r>
              <a:rPr lang="en-US" sz="2800" dirty="0">
                <a:latin typeface="avenir_nextdemi_bold"/>
              </a:rPr>
              <a:t>December 9-13, 2024</a:t>
            </a:r>
            <a:endParaRPr lang="en-US" sz="2800" dirty="0"/>
          </a:p>
        </p:txBody>
      </p:sp>
      <p:pic>
        <p:nvPicPr>
          <p:cNvPr id="5" name="Picture 4" descr="A person standing on a computer&#10;&#10;Description automatically generated">
            <a:extLst>
              <a:ext uri="{FF2B5EF4-FFF2-40B4-BE49-F238E27FC236}">
                <a16:creationId xmlns:a16="http://schemas.microsoft.com/office/drawing/2014/main" id="{4AA33C46-CB2B-2B4B-741F-A62FF67BD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805" y="6148571"/>
            <a:ext cx="2453853" cy="548688"/>
          </a:xfrm>
          <a:prstGeom prst="rect">
            <a:avLst/>
          </a:prstGeom>
        </p:spPr>
      </p:pic>
      <p:sp>
        <p:nvSpPr>
          <p:cNvPr id="6" name="TextBox 5">
            <a:extLst>
              <a:ext uri="{FF2B5EF4-FFF2-40B4-BE49-F238E27FC236}">
                <a16:creationId xmlns:a16="http://schemas.microsoft.com/office/drawing/2014/main" id="{D4708A3E-DEE8-9805-492B-D51AEC7A6769}"/>
              </a:ext>
            </a:extLst>
          </p:cNvPr>
          <p:cNvSpPr txBox="1"/>
          <p:nvPr/>
        </p:nvSpPr>
        <p:spPr>
          <a:xfrm>
            <a:off x="2724728" y="6192082"/>
            <a:ext cx="4192173" cy="461665"/>
          </a:xfrm>
          <a:prstGeom prst="rect">
            <a:avLst/>
          </a:prstGeom>
          <a:noFill/>
        </p:spPr>
        <p:txBody>
          <a:bodyPr wrap="none" rtlCol="0">
            <a:spAutoFit/>
          </a:bodyPr>
          <a:lstStyle/>
          <a:p>
            <a:r>
              <a:rPr lang="en-US" sz="2400" dirty="0"/>
              <a:t>steve@cerwinconsulting.com</a:t>
            </a:r>
          </a:p>
        </p:txBody>
      </p:sp>
    </p:spTree>
    <p:extLst>
      <p:ext uri="{BB962C8B-B14F-4D97-AF65-F5344CB8AC3E}">
        <p14:creationId xmlns:p14="http://schemas.microsoft.com/office/powerpoint/2010/main" val="182924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A927E5-825B-79D0-7DB1-11CCBB26DBAD}"/>
              </a:ext>
            </a:extLst>
          </p:cNvPr>
          <p:cNvSpPr>
            <a:spLocks noGrp="1" noRot="1" noMove="1" noResize="1" noEditPoints="1" noAdjustHandles="1" noChangeArrowheads="1" noChangeShapeType="1"/>
          </p:cNvSpPr>
          <p:nvPr>
            <p:ph type="title"/>
          </p:nvPr>
        </p:nvSpPr>
        <p:spPr>
          <a:xfrm>
            <a:off x="341618" y="144259"/>
            <a:ext cx="11313541" cy="1302326"/>
          </a:xfrm>
        </p:spPr>
        <p:txBody>
          <a:bodyPr>
            <a:noAutofit/>
          </a:bodyPr>
          <a:lstStyle/>
          <a:p>
            <a:r>
              <a:rPr lang="en-US" sz="3200" dirty="0"/>
              <a:t>Simultaneous TDOA Measurements at Different Frequencies Over the Same Path Gave Different Height Profiles </a:t>
            </a:r>
          </a:p>
        </p:txBody>
      </p:sp>
      <p:pic>
        <p:nvPicPr>
          <p:cNvPr id="7" name="Picture 6" descr="A graph with blue lines and black text&#10;&#10;Description automatically generated">
            <a:extLst>
              <a:ext uri="{FF2B5EF4-FFF2-40B4-BE49-F238E27FC236}">
                <a16:creationId xmlns:a16="http://schemas.microsoft.com/office/drawing/2014/main" id="{6E30EDFE-8036-602D-F0D4-A8DFC285487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341618" y="1630424"/>
            <a:ext cx="5754382" cy="3155950"/>
          </a:xfrm>
          <a:prstGeom prst="rect">
            <a:avLst/>
          </a:prstGeom>
        </p:spPr>
      </p:pic>
      <p:sp>
        <p:nvSpPr>
          <p:cNvPr id="9" name="TextBox 8">
            <a:extLst>
              <a:ext uri="{FF2B5EF4-FFF2-40B4-BE49-F238E27FC236}">
                <a16:creationId xmlns:a16="http://schemas.microsoft.com/office/drawing/2014/main" id="{8BD5C5ED-11B2-D6D0-54FF-76D3C8431B15}"/>
              </a:ext>
            </a:extLst>
          </p:cNvPr>
          <p:cNvSpPr txBox="1">
            <a:spLocks noGrp="1" noRot="1" noMove="1" noResize="1" noEditPoints="1" noAdjustHandles="1" noChangeArrowheads="1" noChangeShapeType="1"/>
          </p:cNvSpPr>
          <p:nvPr/>
        </p:nvSpPr>
        <p:spPr>
          <a:xfrm>
            <a:off x="838200" y="4766447"/>
            <a:ext cx="4571999" cy="923330"/>
          </a:xfrm>
          <a:prstGeom prst="rect">
            <a:avLst/>
          </a:prstGeom>
          <a:noFill/>
        </p:spPr>
        <p:txBody>
          <a:bodyPr wrap="square" rtlCol="0">
            <a:spAutoFit/>
          </a:bodyPr>
          <a:lstStyle/>
          <a:p>
            <a:r>
              <a:rPr lang="en-US" dirty="0"/>
              <a:t>5.3 MHz TDOA data showed a height bump near the time of eclipse passage in Texas.</a:t>
            </a:r>
          </a:p>
          <a:p>
            <a:r>
              <a:rPr lang="en-US" dirty="0"/>
              <a:t>Austin ionosonde hmF2 overlay.</a:t>
            </a:r>
          </a:p>
        </p:txBody>
      </p:sp>
      <p:sp>
        <p:nvSpPr>
          <p:cNvPr id="10" name="TextBox 9">
            <a:extLst>
              <a:ext uri="{FF2B5EF4-FFF2-40B4-BE49-F238E27FC236}">
                <a16:creationId xmlns:a16="http://schemas.microsoft.com/office/drawing/2014/main" id="{172CF9AE-2F71-D7F6-162C-EE8460255702}"/>
              </a:ext>
            </a:extLst>
          </p:cNvPr>
          <p:cNvSpPr txBox="1">
            <a:spLocks noGrp="1" noRot="1" noMove="1" noResize="1" noEditPoints="1" noAdjustHandles="1" noChangeArrowheads="1" noChangeShapeType="1"/>
          </p:cNvSpPr>
          <p:nvPr/>
        </p:nvSpPr>
        <p:spPr>
          <a:xfrm>
            <a:off x="510344" y="5790411"/>
            <a:ext cx="11171311" cy="646331"/>
          </a:xfrm>
          <a:prstGeom prst="rect">
            <a:avLst/>
          </a:prstGeom>
          <a:noFill/>
        </p:spPr>
        <p:txBody>
          <a:bodyPr wrap="square" rtlCol="0">
            <a:spAutoFit/>
          </a:bodyPr>
          <a:lstStyle/>
          <a:p>
            <a:pPr algn="ctr"/>
            <a:r>
              <a:rPr lang="en-US" dirty="0"/>
              <a:t>Path: 8.8 km ground distance for Near Vertical Incidence Skywave (NVIS)</a:t>
            </a:r>
          </a:p>
          <a:p>
            <a:pPr algn="ctr"/>
            <a:r>
              <a:rPr lang="en-US" dirty="0"/>
              <a:t>5.3 MHz data analyzed by Steve Cerwin WA5FRF; 7.3 MHz data analyzed by Sam Blackshear AB5YO</a:t>
            </a:r>
          </a:p>
        </p:txBody>
      </p:sp>
      <p:sp>
        <p:nvSpPr>
          <p:cNvPr id="11" name="TextBox 10">
            <a:extLst>
              <a:ext uri="{FF2B5EF4-FFF2-40B4-BE49-F238E27FC236}">
                <a16:creationId xmlns:a16="http://schemas.microsoft.com/office/drawing/2014/main" id="{C4D6D4B8-CE90-C0DF-CE17-3E299B036088}"/>
              </a:ext>
            </a:extLst>
          </p:cNvPr>
          <p:cNvSpPr txBox="1"/>
          <p:nvPr/>
        </p:nvSpPr>
        <p:spPr>
          <a:xfrm>
            <a:off x="3268287" y="2527686"/>
            <a:ext cx="1613006" cy="369332"/>
          </a:xfrm>
          <a:prstGeom prst="rect">
            <a:avLst/>
          </a:prstGeom>
          <a:solidFill>
            <a:schemeClr val="bg1"/>
          </a:solidFill>
        </p:spPr>
        <p:txBody>
          <a:bodyPr wrap="none" rtlCol="0">
            <a:spAutoFit/>
          </a:bodyPr>
          <a:lstStyle/>
          <a:p>
            <a:r>
              <a:rPr lang="en-US" dirty="0"/>
              <a:t>Eclipse Passage</a:t>
            </a:r>
          </a:p>
        </p:txBody>
      </p:sp>
      <p:cxnSp>
        <p:nvCxnSpPr>
          <p:cNvPr id="12" name="Straight Arrow Connector 11">
            <a:extLst>
              <a:ext uri="{FF2B5EF4-FFF2-40B4-BE49-F238E27FC236}">
                <a16:creationId xmlns:a16="http://schemas.microsoft.com/office/drawing/2014/main" id="{85D75297-F484-B30C-B24E-90383F25E0C0}"/>
              </a:ext>
            </a:extLst>
          </p:cNvPr>
          <p:cNvCxnSpPr>
            <a:cxnSpLocks/>
          </p:cNvCxnSpPr>
          <p:nvPr/>
        </p:nvCxnSpPr>
        <p:spPr>
          <a:xfrm>
            <a:off x="3743077" y="2914602"/>
            <a:ext cx="512402" cy="0"/>
          </a:xfrm>
          <a:prstGeom prst="straightConnector1">
            <a:avLst/>
          </a:prstGeom>
          <a:ln w="317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0282EC7-648C-00CB-45A5-DFA32F585C39}"/>
              </a:ext>
            </a:extLst>
          </p:cNvPr>
          <p:cNvSpPr txBox="1"/>
          <p:nvPr/>
        </p:nvSpPr>
        <p:spPr>
          <a:xfrm>
            <a:off x="793808" y="2453351"/>
            <a:ext cx="2184381" cy="307777"/>
          </a:xfrm>
          <a:prstGeom prst="rect">
            <a:avLst/>
          </a:prstGeom>
          <a:noFill/>
        </p:spPr>
        <p:txBody>
          <a:bodyPr wrap="none" rtlCol="0">
            <a:spAutoFit/>
          </a:bodyPr>
          <a:lstStyle/>
          <a:p>
            <a:r>
              <a:rPr lang="en-US" sz="1400" dirty="0">
                <a:latin typeface="+mj-lt"/>
                <a:ea typeface="Verdana" panose="020B0604030504040204" pitchFamily="34" charset="0"/>
                <a:cs typeface="Arial" panose="020B0604020202020204" pitchFamily="34" charset="0"/>
              </a:rPr>
              <a:t>Standard ionosonde scaling</a:t>
            </a:r>
          </a:p>
        </p:txBody>
      </p:sp>
      <p:pic>
        <p:nvPicPr>
          <p:cNvPr id="6" name="Picture 5" descr="A graph with blue and red lines&#10;&#10;Description automatically generated">
            <a:extLst>
              <a:ext uri="{FF2B5EF4-FFF2-40B4-BE49-F238E27FC236}">
                <a16:creationId xmlns:a16="http://schemas.microsoft.com/office/drawing/2014/main" id="{66D33A3F-711D-9CDB-E943-B5D4275CF83C}"/>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181124" y="1630424"/>
            <a:ext cx="5893096" cy="3451530"/>
          </a:xfrm>
          <a:prstGeom prst="rect">
            <a:avLst/>
          </a:prstGeom>
        </p:spPr>
      </p:pic>
      <p:sp>
        <p:nvSpPr>
          <p:cNvPr id="8" name="TextBox 7">
            <a:extLst>
              <a:ext uri="{FF2B5EF4-FFF2-40B4-BE49-F238E27FC236}">
                <a16:creationId xmlns:a16="http://schemas.microsoft.com/office/drawing/2014/main" id="{D7893B55-E6CF-2C09-E97F-FEC9372B25DC}"/>
              </a:ext>
            </a:extLst>
          </p:cNvPr>
          <p:cNvSpPr txBox="1">
            <a:spLocks noGrp="1" noRot="1" noMove="1" noResize="1" noEditPoints="1" noAdjustHandles="1" noChangeArrowheads="1" noChangeShapeType="1"/>
          </p:cNvSpPr>
          <p:nvPr/>
        </p:nvSpPr>
        <p:spPr>
          <a:xfrm>
            <a:off x="7105319" y="4720923"/>
            <a:ext cx="3784597" cy="923330"/>
          </a:xfrm>
          <a:prstGeom prst="rect">
            <a:avLst/>
          </a:prstGeom>
          <a:solidFill>
            <a:schemeClr val="bg1"/>
          </a:solidFill>
        </p:spPr>
        <p:txBody>
          <a:bodyPr wrap="square" rtlCol="0">
            <a:spAutoFit/>
          </a:bodyPr>
          <a:lstStyle/>
          <a:p>
            <a:r>
              <a:rPr lang="en-US" dirty="0"/>
              <a:t>7.3 MHz TDOA data did not show a height bump. Manually scaled ionosonde hmF2 overlay.</a:t>
            </a:r>
          </a:p>
        </p:txBody>
      </p:sp>
    </p:spTree>
    <p:extLst>
      <p:ext uri="{BB962C8B-B14F-4D97-AF65-F5344CB8AC3E}">
        <p14:creationId xmlns:p14="http://schemas.microsoft.com/office/powerpoint/2010/main" val="1928906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34986</TotalTime>
  <Words>368</Words>
  <Application>Microsoft Macintosh PowerPoint</Application>
  <PresentationFormat>Widescreen</PresentationFormat>
  <Paragraphs>20</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avenir_nextdemi_bold</vt:lpstr>
      <vt:lpstr>Calibri</vt:lpstr>
      <vt:lpstr>Office Theme</vt:lpstr>
      <vt:lpstr>HamSCI HF Multipath Propagation Mode Analysis Using Amateur Radios and Audio Waveforms Sensitive to Time Difference of Arrival (TDOA) </vt:lpstr>
      <vt:lpstr>Simultaneous TDOA Measurements at Different Frequencies Over the Same Path Gave Different Height Profiles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176</cp:revision>
  <dcterms:created xsi:type="dcterms:W3CDTF">2024-10-19T11:54:09Z</dcterms:created>
  <dcterms:modified xsi:type="dcterms:W3CDTF">2025-10-10T20:19:57Z</dcterms:modified>
</cp:coreProperties>
</file>