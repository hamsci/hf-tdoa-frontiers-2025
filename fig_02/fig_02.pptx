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48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21" autoAdjust="0"/>
    <p:restoredTop sz="96247" autoAdjust="0"/>
  </p:normalViewPr>
  <p:slideViewPr>
    <p:cSldViewPr snapToGrid="0">
      <p:cViewPr varScale="1">
        <p:scale>
          <a:sx n="123" d="100"/>
          <a:sy n="123" d="100"/>
        </p:scale>
        <p:origin x="224" y="184"/>
      </p:cViewPr>
      <p:guideLst/>
    </p:cSldViewPr>
  </p:slideViewPr>
  <p:notesTextViewPr>
    <p:cViewPr>
      <p:scale>
        <a:sx n="1" d="1"/>
        <a:sy n="1" d="1"/>
      </p:scale>
      <p:origin x="0" y="0"/>
    </p:cViewPr>
  </p:notesTextViewPr>
  <p:sorterViewPr>
    <p:cViewPr>
      <p:scale>
        <a:sx n="140" d="100"/>
        <a:sy n="14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606220-9AFA-4FA1-9079-EA85A4A02A94}" type="datetimeFigureOut">
              <a:rPr lang="en-US" smtClean="0"/>
              <a:t>10/10/25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AE693-752C-4720-B6D7-D348E1F4E496}" type="slidenum">
              <a:rPr lang="en-US" smtClean="0"/>
              <a:t>‹#›</a:t>
            </a:fld>
            <a:endParaRPr lang="en-US"/>
          </a:p>
        </p:txBody>
      </p:sp>
    </p:spTree>
    <p:extLst>
      <p:ext uri="{BB962C8B-B14F-4D97-AF65-F5344CB8AC3E}">
        <p14:creationId xmlns:p14="http://schemas.microsoft.com/office/powerpoint/2010/main" val="1716587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F372F-4981-6A96-2069-D070CA78D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818D8-360F-FB72-08C9-18F5C95DA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02F7D-2E39-3D60-DA2A-CA2130E31034}"/>
              </a:ext>
            </a:extLst>
          </p:cNvPr>
          <p:cNvSpPr>
            <a:spLocks noGrp="1"/>
          </p:cNvSpPr>
          <p:nvPr>
            <p:ph type="body" idx="1"/>
          </p:nvPr>
        </p:nvSpPr>
        <p:spPr/>
        <p:txBody>
          <a:bodyPr/>
          <a:lstStyle/>
          <a:p>
            <a:r>
              <a:rPr lang="en-US" dirty="0"/>
              <a:t>This slide shows the setup for the 2023 and 2024 Eclipse experiments. The radio propagation paths described in this paper are shown in the map overlay on the left. The upper right photo shows the eclipse paths and identifies the map location in Texas. The lower right photo shows amateur radio station WA5FRF used to transmit the TDOA waveforms. Both eclipses passed very nearly overhead this station though angular orientation and path directions were very different.  </a:t>
            </a:r>
          </a:p>
        </p:txBody>
      </p:sp>
      <p:sp>
        <p:nvSpPr>
          <p:cNvPr id="4" name="Slide Number Placeholder 3">
            <a:extLst>
              <a:ext uri="{FF2B5EF4-FFF2-40B4-BE49-F238E27FC236}">
                <a16:creationId xmlns:a16="http://schemas.microsoft.com/office/drawing/2014/main" id="{40E6D1C5-0D03-BE6B-7FB3-F478FC644C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1AE693-752C-4720-B6D7-D348E1F4E49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96089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18D5-C364-681A-F336-254C47712B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76EC7F5-7BFE-5A34-D66B-D91F0C87BB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1BEC19-0A8D-C3AA-2A3F-4467BD450E78}"/>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6E121EBB-A9D2-0684-0B55-E4A3F0FDC8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1F745-533B-F306-2B5C-9C97130426C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15635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27DF-7972-0E49-317C-37D6BC5001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C92EB8-7320-9577-A667-ED891D284C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BFE0B-B19C-A2A1-762D-9C1696540189}"/>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7A7E1DB9-E17D-DF24-70E4-1E041CBF2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2083F4-8D52-2C1E-96F2-F08E870F71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729090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D2FE4-B0E0-4504-DCB9-66345B3543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48A0-5A50-BAA8-AE36-24A9BA6A32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F0D038-3E97-8F24-5C01-7AFF8291DEC6}"/>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4E0A3934-C94E-34E7-7140-7043C4AE7B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85543F-7AEF-395F-4C86-026204D85C1F}"/>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503786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A7314-97E3-1F82-652E-315F7662B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ADCEAE-06FE-8238-58D6-4960AB1CE0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ED1006-51BF-FF21-15A4-7CAF0F23E8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B4C1338-4D8D-2075-E1F0-7F932E78F841}"/>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8B761E79-8D6F-B113-9A0C-27FCAF6186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7CD1FA-2360-1C81-02ED-1CC8AA1DD50B}"/>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771596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8649D-56B0-9728-D1B7-AD4521D6AD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5A6C79-4449-1C7A-A516-79CCC6F6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8A231A-D606-2EF7-61FD-2D043D7267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A31F68-4C14-C3A2-8851-A83A9251CE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DCE558-D50D-B0F3-2407-7BCAB0DD2DA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AF6E91-1845-0038-299A-E7D1F22AE517}"/>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8" name="Footer Placeholder 7">
            <a:extLst>
              <a:ext uri="{FF2B5EF4-FFF2-40B4-BE49-F238E27FC236}">
                <a16:creationId xmlns:a16="http://schemas.microsoft.com/office/drawing/2014/main" id="{4350A02E-D1B3-93D8-C2D4-D4917913CC0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30E3F5-C468-CD1A-8848-5354361DBD9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3289696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D3F6A-BF43-E98C-ACD3-9432E5CDD64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6DF50AF-91C3-61CA-B46A-DEA95A1146AF}"/>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4" name="Footer Placeholder 3">
            <a:extLst>
              <a:ext uri="{FF2B5EF4-FFF2-40B4-BE49-F238E27FC236}">
                <a16:creationId xmlns:a16="http://schemas.microsoft.com/office/drawing/2014/main" id="{3D84558C-698F-35BD-4193-7BBF99FC939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0AB9BA-C606-76BB-FB59-CD5228708D8C}"/>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232167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5D6E10-40FA-74F1-2547-E893FAF1238F}"/>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3" name="Footer Placeholder 2">
            <a:extLst>
              <a:ext uri="{FF2B5EF4-FFF2-40B4-BE49-F238E27FC236}">
                <a16:creationId xmlns:a16="http://schemas.microsoft.com/office/drawing/2014/main" id="{49CCC1C9-A010-42CA-C672-C7B93A2418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C669021-D371-FA64-8689-B9318DBCBE55}"/>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918128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FB8E4-3F17-6847-0FD6-23143306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43399A-A8F6-13DF-344D-E331C9210B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14521-733E-6794-7638-9F0746F924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DBA1B7-BD71-09C9-BB2B-525A885C1BA2}"/>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F27BC925-0590-D1B6-0BB1-F87671B1E7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6CA66E-2B96-69D2-25F6-626EE0EFD083}"/>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6458354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56614-BAA5-28FB-5606-F728094E3F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7BD1BC2-0A3D-147C-A142-479B81A74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FE830D-6BF2-F698-BCD9-C47420056E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F800B-10F2-68BC-EDDD-9D37B4982EDB}"/>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6" name="Footer Placeholder 5">
            <a:extLst>
              <a:ext uri="{FF2B5EF4-FFF2-40B4-BE49-F238E27FC236}">
                <a16:creationId xmlns:a16="http://schemas.microsoft.com/office/drawing/2014/main" id="{00C013F8-E632-2F70-354D-AD014B48D2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766E7-BD61-4408-4AF5-B1D196BB1FD7}"/>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805374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74547-C476-5E9F-00E7-56F22E3275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C35955-F25F-DC16-5A7F-02BF90A731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47494-4B36-5304-A297-381DA12E6E29}"/>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A7ECCC26-CE59-1D86-BA63-2646EC3301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166E80-AEC2-8F5F-E7A6-2B309216D871}"/>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1488734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27F85D-7190-1093-9FBD-E405A9729D1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9D832E-97C8-6830-C39E-D9F3EEAE91F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0783A0-745E-0934-1B8C-CE842FAD4236}"/>
              </a:ext>
            </a:extLst>
          </p:cNvPr>
          <p:cNvSpPr>
            <a:spLocks noGrp="1"/>
          </p:cNvSpPr>
          <p:nvPr>
            <p:ph type="dt" sz="half" idx="10"/>
          </p:nvPr>
        </p:nvSpPr>
        <p:spPr/>
        <p:txBody>
          <a:body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35CB00ED-BEDD-FD5F-D3CC-8007E043D4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59ACDB-5C73-4509-1FEA-F54BC9931956}"/>
              </a:ext>
            </a:extLst>
          </p:cNvPr>
          <p:cNvSpPr>
            <a:spLocks noGrp="1"/>
          </p:cNvSpPr>
          <p:nvPr>
            <p:ph type="sldNum" sz="quarter" idx="12"/>
          </p:nvPr>
        </p:nvSpPr>
        <p:spPr/>
        <p:txBody>
          <a:bodyPr/>
          <a:lstStyle/>
          <a:p>
            <a:fld id="{15B1C0B9-E3A8-4662-BF5D-12372F198869}" type="slidenum">
              <a:rPr lang="en-US" smtClean="0"/>
              <a:t>‹#›</a:t>
            </a:fld>
            <a:endParaRPr lang="en-US"/>
          </a:p>
        </p:txBody>
      </p:sp>
    </p:spTree>
    <p:extLst>
      <p:ext uri="{BB962C8B-B14F-4D97-AF65-F5344CB8AC3E}">
        <p14:creationId xmlns:p14="http://schemas.microsoft.com/office/powerpoint/2010/main" val="492870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E6ABC3-EAAC-B0B7-D3DC-71183A7DF2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633D00-F676-29D5-C369-7E64033DBD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B616E7-8C9B-63C8-4FE0-422C2C5F1B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B5E4D4-5F0F-4EDB-8383-53EA13D893D3}" type="datetimeFigureOut">
              <a:rPr lang="en-US" smtClean="0"/>
              <a:t>10/10/25</a:t>
            </a:fld>
            <a:endParaRPr lang="en-US"/>
          </a:p>
        </p:txBody>
      </p:sp>
      <p:sp>
        <p:nvSpPr>
          <p:cNvPr id="5" name="Footer Placeholder 4">
            <a:extLst>
              <a:ext uri="{FF2B5EF4-FFF2-40B4-BE49-F238E27FC236}">
                <a16:creationId xmlns:a16="http://schemas.microsoft.com/office/drawing/2014/main" id="{82E489E1-9C55-4435-878F-806B8DEB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01B997-005D-01F7-C9F4-6D16FCAB1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B1C0B9-E3A8-4662-BF5D-12372F198869}" type="slidenum">
              <a:rPr lang="en-US" smtClean="0"/>
              <a:t>‹#›</a:t>
            </a:fld>
            <a:endParaRPr lang="en-US"/>
          </a:p>
        </p:txBody>
      </p:sp>
    </p:spTree>
    <p:extLst>
      <p:ext uri="{BB962C8B-B14F-4D97-AF65-F5344CB8AC3E}">
        <p14:creationId xmlns:p14="http://schemas.microsoft.com/office/powerpoint/2010/main" val="2854267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1A2FF-58E2-520E-565D-772CC94801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4F42B-4E75-B87F-186E-E49123777514}"/>
              </a:ext>
            </a:extLst>
          </p:cNvPr>
          <p:cNvSpPr>
            <a:spLocks noGrp="1" noRot="1" noMove="1" noResize="1" noEditPoints="1" noAdjustHandles="1" noChangeArrowheads="1" noChangeShapeType="1"/>
          </p:cNvSpPr>
          <p:nvPr>
            <p:ph type="title"/>
          </p:nvPr>
        </p:nvSpPr>
        <p:spPr>
          <a:xfrm>
            <a:off x="118747" y="136523"/>
            <a:ext cx="5144369" cy="825094"/>
          </a:xfrm>
        </p:spPr>
        <p:txBody>
          <a:bodyPr>
            <a:normAutofit fontScale="90000"/>
          </a:bodyPr>
          <a:lstStyle/>
          <a:p>
            <a:r>
              <a:rPr lang="en-US" sz="3600" dirty="0"/>
              <a:t>Setup for TDOA Eclipse Experiments</a:t>
            </a:r>
          </a:p>
        </p:txBody>
      </p:sp>
      <p:sp>
        <p:nvSpPr>
          <p:cNvPr id="3" name="Slide Number Placeholder 2">
            <a:extLst>
              <a:ext uri="{FF2B5EF4-FFF2-40B4-BE49-F238E27FC236}">
                <a16:creationId xmlns:a16="http://schemas.microsoft.com/office/drawing/2014/main" id="{AF135FCF-3777-23B9-5501-2A778A660C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02E099-75C6-4785-BA6C-247B514205D8}" type="slidenum">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A3024758-6955-59FE-FEFE-14D270B97484}"/>
              </a:ext>
            </a:extLst>
          </p:cNvPr>
          <p:cNvPicPr>
            <a:picLocks noGrp="1" noRot="1" noChangeAspect="1" noMove="1" noResize="1" noEditPoints="1" noAdjustHandles="1" noChangeArrowheads="1" noChangeShapeType="1" noCrop="1"/>
          </p:cNvPicPr>
          <p:nvPr/>
        </p:nvPicPr>
        <p:blipFill>
          <a:blip r:embed="rId3"/>
          <a:stretch>
            <a:fillRect/>
          </a:stretch>
        </p:blipFill>
        <p:spPr>
          <a:xfrm>
            <a:off x="311260" y="1179977"/>
            <a:ext cx="5294459" cy="4498046"/>
          </a:xfrm>
          <a:prstGeom prst="rect">
            <a:avLst/>
          </a:prstGeom>
        </p:spPr>
      </p:pic>
      <p:sp>
        <p:nvSpPr>
          <p:cNvPr id="8" name="TextBox 7">
            <a:extLst>
              <a:ext uri="{FF2B5EF4-FFF2-40B4-BE49-F238E27FC236}">
                <a16:creationId xmlns:a16="http://schemas.microsoft.com/office/drawing/2014/main" id="{A6AB6F1D-9549-A53D-17F7-46DCD1665A9D}"/>
              </a:ext>
            </a:extLst>
          </p:cNvPr>
          <p:cNvSpPr txBox="1">
            <a:spLocks noGrp="1" noRot="1" noMove="1" noResize="1" noEditPoints="1" noAdjustHandles="1" noChangeArrowheads="1" noChangeShapeType="1"/>
          </p:cNvSpPr>
          <p:nvPr/>
        </p:nvSpPr>
        <p:spPr>
          <a:xfrm>
            <a:off x="175398" y="5896383"/>
            <a:ext cx="5430321" cy="642530"/>
          </a:xfrm>
          <a:prstGeom prst="rect">
            <a:avLst/>
          </a:prstGeom>
          <a:noFill/>
          <a:ln>
            <a:solidFill>
              <a:schemeClr val="accent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rPr>
              <a:t>Geometry gave proximity to expected eclipse paths and Austin Ionosonde used for ground truth data.</a:t>
            </a:r>
          </a:p>
        </p:txBody>
      </p:sp>
      <p:pic>
        <p:nvPicPr>
          <p:cNvPr id="4" name="Picture 3" descr="A map of the united states&#10;&#10;Description automatically generated">
            <a:extLst>
              <a:ext uri="{FF2B5EF4-FFF2-40B4-BE49-F238E27FC236}">
                <a16:creationId xmlns:a16="http://schemas.microsoft.com/office/drawing/2014/main" id="{6E9AA182-A9A6-5DD9-106F-13D99316F989}"/>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5927920" y="309758"/>
            <a:ext cx="5887607" cy="2943804"/>
          </a:xfrm>
          <a:prstGeom prst="rect">
            <a:avLst/>
          </a:prstGeom>
        </p:spPr>
      </p:pic>
      <p:cxnSp>
        <p:nvCxnSpPr>
          <p:cNvPr id="13" name="Straight Connector 12">
            <a:extLst>
              <a:ext uri="{FF2B5EF4-FFF2-40B4-BE49-F238E27FC236}">
                <a16:creationId xmlns:a16="http://schemas.microsoft.com/office/drawing/2014/main" id="{2FD67B61-6925-15E0-0853-3C6E6EDEE68B}"/>
              </a:ext>
            </a:extLst>
          </p:cNvPr>
          <p:cNvCxnSpPr/>
          <p:nvPr/>
        </p:nvCxnSpPr>
        <p:spPr>
          <a:xfrm flipV="1">
            <a:off x="1690577" y="1781660"/>
            <a:ext cx="1371600" cy="307741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28DE3A3-4AD2-5292-0C56-41B4C1DFADA4}"/>
              </a:ext>
            </a:extLst>
          </p:cNvPr>
          <p:cNvSpPr txBox="1"/>
          <p:nvPr/>
        </p:nvSpPr>
        <p:spPr>
          <a:xfrm>
            <a:off x="1979526" y="2341268"/>
            <a:ext cx="680547" cy="430887"/>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407 km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ptos" panose="02110004020202020204"/>
                <a:ea typeface="+mn-ea"/>
                <a:cs typeface="+mn-cs"/>
              </a:rPr>
              <a:t>Path</a:t>
            </a:r>
          </a:p>
        </p:txBody>
      </p:sp>
      <p:sp>
        <p:nvSpPr>
          <p:cNvPr id="17" name="Oval 16">
            <a:extLst>
              <a:ext uri="{FF2B5EF4-FFF2-40B4-BE49-F238E27FC236}">
                <a16:creationId xmlns:a16="http://schemas.microsoft.com/office/drawing/2014/main" id="{100A5AE2-135F-416A-3DCF-968FD326F457}"/>
              </a:ext>
            </a:extLst>
          </p:cNvPr>
          <p:cNvSpPr/>
          <p:nvPr/>
        </p:nvSpPr>
        <p:spPr>
          <a:xfrm>
            <a:off x="1577592" y="4762919"/>
            <a:ext cx="92889" cy="7606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D01CAA4F-C1A9-DC36-71D7-EB304EA2584D}"/>
              </a:ext>
            </a:extLst>
          </p:cNvPr>
          <p:cNvSpPr txBox="1"/>
          <p:nvPr/>
        </p:nvSpPr>
        <p:spPr>
          <a:xfrm>
            <a:off x="653027" y="4428192"/>
            <a:ext cx="834129" cy="577081"/>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AB5YO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9 km NVIS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Path</a:t>
            </a:r>
          </a:p>
        </p:txBody>
      </p:sp>
      <p:sp>
        <p:nvSpPr>
          <p:cNvPr id="19" name="TextBox 18">
            <a:extLst>
              <a:ext uri="{FF2B5EF4-FFF2-40B4-BE49-F238E27FC236}">
                <a16:creationId xmlns:a16="http://schemas.microsoft.com/office/drawing/2014/main" id="{A59FCB85-0F4E-6A39-9ADE-C575680EAE08}"/>
              </a:ext>
            </a:extLst>
          </p:cNvPr>
          <p:cNvSpPr txBox="1"/>
          <p:nvPr/>
        </p:nvSpPr>
        <p:spPr>
          <a:xfrm>
            <a:off x="7566412" y="865453"/>
            <a:ext cx="1055076"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2023 Annular Eclipse</a:t>
            </a:r>
          </a:p>
        </p:txBody>
      </p:sp>
      <p:sp>
        <p:nvSpPr>
          <p:cNvPr id="20" name="TextBox 19">
            <a:extLst>
              <a:ext uri="{FF2B5EF4-FFF2-40B4-BE49-F238E27FC236}">
                <a16:creationId xmlns:a16="http://schemas.microsoft.com/office/drawing/2014/main" id="{AE1AF241-6B13-414E-C84E-359D8EE89E4C}"/>
              </a:ext>
            </a:extLst>
          </p:cNvPr>
          <p:cNvSpPr txBox="1"/>
          <p:nvPr/>
        </p:nvSpPr>
        <p:spPr>
          <a:xfrm>
            <a:off x="9003325" y="1096285"/>
            <a:ext cx="853107" cy="461665"/>
          </a:xfrm>
          <a:prstGeom prst="rect">
            <a:avLst/>
          </a:prstGeom>
          <a:solidFill>
            <a:schemeClr val="bg1"/>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rPr>
              <a:t>2024 Total Eclipse</a:t>
            </a:r>
          </a:p>
        </p:txBody>
      </p:sp>
      <p:cxnSp>
        <p:nvCxnSpPr>
          <p:cNvPr id="25" name="Straight Arrow Connector 24">
            <a:extLst>
              <a:ext uri="{FF2B5EF4-FFF2-40B4-BE49-F238E27FC236}">
                <a16:creationId xmlns:a16="http://schemas.microsoft.com/office/drawing/2014/main" id="{E2E4F20D-F51B-2C85-1A2B-C0A3C8F3E958}"/>
              </a:ext>
            </a:extLst>
          </p:cNvPr>
          <p:cNvCxnSpPr>
            <a:stCxn id="18" idx="3"/>
            <a:endCxn id="17" idx="1"/>
          </p:cNvCxnSpPr>
          <p:nvPr/>
        </p:nvCxnSpPr>
        <p:spPr>
          <a:xfrm>
            <a:off x="1487156" y="4716733"/>
            <a:ext cx="104039" cy="5732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578F810-586C-4F32-B863-A1B9945F7349}"/>
              </a:ext>
            </a:extLst>
          </p:cNvPr>
          <p:cNvCxnSpPr>
            <a:cxnSpLocks/>
          </p:cNvCxnSpPr>
          <p:nvPr/>
        </p:nvCxnSpPr>
        <p:spPr>
          <a:xfrm flipV="1">
            <a:off x="9742021" y="1413566"/>
            <a:ext cx="417979" cy="3704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30398269-FB82-E41A-FEE9-D214B1605C32}"/>
              </a:ext>
            </a:extLst>
          </p:cNvPr>
          <p:cNvCxnSpPr>
            <a:cxnSpLocks/>
          </p:cNvCxnSpPr>
          <p:nvPr/>
        </p:nvCxnSpPr>
        <p:spPr>
          <a:xfrm>
            <a:off x="7325259" y="1287977"/>
            <a:ext cx="361737" cy="35367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6A30EDA5-8D21-8BAE-F3ED-8B50FF45B246}"/>
              </a:ext>
            </a:extLst>
          </p:cNvPr>
          <p:cNvSpPr txBox="1"/>
          <p:nvPr/>
        </p:nvSpPr>
        <p:spPr>
          <a:xfrm>
            <a:off x="2721903" y="1497521"/>
            <a:ext cx="662475" cy="253916"/>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N6RFM</a:t>
            </a:r>
          </a:p>
        </p:txBody>
      </p:sp>
      <p:sp>
        <p:nvSpPr>
          <p:cNvPr id="9" name="TextBox 8">
            <a:extLst>
              <a:ext uri="{FF2B5EF4-FFF2-40B4-BE49-F238E27FC236}">
                <a16:creationId xmlns:a16="http://schemas.microsoft.com/office/drawing/2014/main" id="{FD53970D-0386-8926-CB2C-2A3EDBC701AF}"/>
              </a:ext>
            </a:extLst>
          </p:cNvPr>
          <p:cNvSpPr txBox="1"/>
          <p:nvPr/>
        </p:nvSpPr>
        <p:spPr>
          <a:xfrm>
            <a:off x="376473" y="2214310"/>
            <a:ext cx="662475" cy="253916"/>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N5DUP</a:t>
            </a:r>
          </a:p>
        </p:txBody>
      </p:sp>
      <p:sp>
        <p:nvSpPr>
          <p:cNvPr id="10" name="TextBox 9">
            <a:extLst>
              <a:ext uri="{FF2B5EF4-FFF2-40B4-BE49-F238E27FC236}">
                <a16:creationId xmlns:a16="http://schemas.microsoft.com/office/drawing/2014/main" id="{7F1B7CB9-964F-D61D-18F5-7ACEEF570E32}"/>
              </a:ext>
            </a:extLst>
          </p:cNvPr>
          <p:cNvSpPr txBox="1"/>
          <p:nvPr/>
        </p:nvSpPr>
        <p:spPr>
          <a:xfrm>
            <a:off x="1292798" y="4914798"/>
            <a:ext cx="686728" cy="253916"/>
          </a:xfrm>
          <a:prstGeom prst="rect">
            <a:avLst/>
          </a:prstGeom>
          <a:solidFill>
            <a:schemeClr val="bg1"/>
          </a:solidFill>
          <a:ln w="25400">
            <a:solidFill>
              <a:srgbClr val="FF0000"/>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Aptos" panose="02110004020202020204"/>
                <a:ea typeface="+mn-ea"/>
                <a:cs typeface="+mn-cs"/>
              </a:rPr>
              <a:t>WA5FRF</a:t>
            </a:r>
          </a:p>
        </p:txBody>
      </p:sp>
      <p:cxnSp>
        <p:nvCxnSpPr>
          <p:cNvPr id="12" name="Straight Connector 11">
            <a:extLst>
              <a:ext uri="{FF2B5EF4-FFF2-40B4-BE49-F238E27FC236}">
                <a16:creationId xmlns:a16="http://schemas.microsoft.com/office/drawing/2014/main" id="{C71D9AD6-612B-46CA-1005-4D6162197374}"/>
              </a:ext>
            </a:extLst>
          </p:cNvPr>
          <p:cNvCxnSpPr>
            <a:cxnSpLocks/>
          </p:cNvCxnSpPr>
          <p:nvPr/>
        </p:nvCxnSpPr>
        <p:spPr>
          <a:xfrm flipV="1">
            <a:off x="741145" y="731520"/>
            <a:ext cx="4030445" cy="5313145"/>
          </a:xfrm>
          <a:prstGeom prst="line">
            <a:avLst/>
          </a:prstGeom>
          <a:ln w="825500">
            <a:solidFill>
              <a:schemeClr val="bg1">
                <a:lumMod val="50000"/>
                <a:alpha val="39000"/>
              </a:schemeClr>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6B1F34BF-97D8-F78E-A1B5-F0EB25680367}"/>
              </a:ext>
            </a:extLst>
          </p:cNvPr>
          <p:cNvCxnSpPr>
            <a:cxnSpLocks/>
          </p:cNvCxnSpPr>
          <p:nvPr/>
        </p:nvCxnSpPr>
        <p:spPr>
          <a:xfrm>
            <a:off x="-34605" y="3333425"/>
            <a:ext cx="3450363" cy="2904206"/>
          </a:xfrm>
          <a:prstGeom prst="line">
            <a:avLst/>
          </a:prstGeom>
          <a:ln w="825500">
            <a:solidFill>
              <a:schemeClr val="bg1">
                <a:lumMod val="50000"/>
                <a:alpha val="39000"/>
              </a:schemeClr>
            </a:solidFill>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6769E031-96BD-5320-2381-5B3F4C4290E0}"/>
              </a:ext>
            </a:extLst>
          </p:cNvPr>
          <p:cNvCxnSpPr/>
          <p:nvPr/>
        </p:nvCxnSpPr>
        <p:spPr>
          <a:xfrm flipV="1">
            <a:off x="3384378" y="2946400"/>
            <a:ext cx="311322" cy="44169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435DFBE8-A488-A7FA-A145-D965A0A4D9B5}"/>
              </a:ext>
            </a:extLst>
          </p:cNvPr>
          <p:cNvSpPr txBox="1"/>
          <p:nvPr/>
        </p:nvSpPr>
        <p:spPr>
          <a:xfrm>
            <a:off x="3204851" y="3333425"/>
            <a:ext cx="670376" cy="461665"/>
          </a:xfrm>
          <a:prstGeom prst="rect">
            <a:avLst/>
          </a:prstGeom>
          <a:noFill/>
        </p:spPr>
        <p:txBody>
          <a:bodyPr wrap="none" rtlCol="0">
            <a:spAutoFit/>
          </a:bodyPr>
          <a:lstStyle/>
          <a:p>
            <a:r>
              <a:rPr lang="en-US" sz="1200" dirty="0"/>
              <a:t>2024</a:t>
            </a:r>
          </a:p>
          <a:p>
            <a:r>
              <a:rPr lang="en-US" sz="1200" dirty="0"/>
              <a:t>Eclipse</a:t>
            </a:r>
          </a:p>
        </p:txBody>
      </p:sp>
      <p:cxnSp>
        <p:nvCxnSpPr>
          <p:cNvPr id="40" name="Straight Arrow Connector 39">
            <a:extLst>
              <a:ext uri="{FF2B5EF4-FFF2-40B4-BE49-F238E27FC236}">
                <a16:creationId xmlns:a16="http://schemas.microsoft.com/office/drawing/2014/main" id="{19985C7F-4BAD-5F2B-C0C2-F874F72002EC}"/>
              </a:ext>
            </a:extLst>
          </p:cNvPr>
          <p:cNvCxnSpPr>
            <a:cxnSpLocks/>
          </p:cNvCxnSpPr>
          <p:nvPr/>
        </p:nvCxnSpPr>
        <p:spPr>
          <a:xfrm>
            <a:off x="534247" y="3182491"/>
            <a:ext cx="399203" cy="3420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3856E6FB-6003-5FD6-D44D-2885430DF0F1}"/>
              </a:ext>
            </a:extLst>
          </p:cNvPr>
          <p:cNvSpPr txBox="1"/>
          <p:nvPr/>
        </p:nvSpPr>
        <p:spPr>
          <a:xfrm>
            <a:off x="579112" y="2891868"/>
            <a:ext cx="670376" cy="461665"/>
          </a:xfrm>
          <a:prstGeom prst="rect">
            <a:avLst/>
          </a:prstGeom>
          <a:noFill/>
        </p:spPr>
        <p:txBody>
          <a:bodyPr wrap="none" rtlCol="0">
            <a:spAutoFit/>
          </a:bodyPr>
          <a:lstStyle/>
          <a:p>
            <a:r>
              <a:rPr lang="en-US" sz="1200" dirty="0"/>
              <a:t>2023</a:t>
            </a:r>
          </a:p>
          <a:p>
            <a:r>
              <a:rPr lang="en-US" sz="1200" dirty="0"/>
              <a:t>Eclipse</a:t>
            </a:r>
          </a:p>
        </p:txBody>
      </p:sp>
    </p:spTree>
    <p:extLst>
      <p:ext uri="{BB962C8B-B14F-4D97-AF65-F5344CB8AC3E}">
        <p14:creationId xmlns:p14="http://schemas.microsoft.com/office/powerpoint/2010/main" val="18920855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21187</TotalTime>
  <Words>125</Words>
  <Application>Microsoft Macintosh PowerPoint</Application>
  <PresentationFormat>Widescreen</PresentationFormat>
  <Paragraphs>19</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Setup for TDOA Eclipse Experiments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Cerwin</dc:creator>
  <cp:lastModifiedBy>Dr. Nathaniel A. Frissell Ph.D.</cp:lastModifiedBy>
  <cp:revision>157</cp:revision>
  <dcterms:created xsi:type="dcterms:W3CDTF">2024-10-19T11:54:09Z</dcterms:created>
  <dcterms:modified xsi:type="dcterms:W3CDTF">2025-10-10T20:06:53Z</dcterms:modified>
</cp:coreProperties>
</file>