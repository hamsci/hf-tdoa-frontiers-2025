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2.xml" ContentType="application/vnd.openxmlformats-officedocument.drawingml.chartshape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460" r:id="rId2"/>
    <p:sldId id="403" r:id="rId3"/>
    <p:sldId id="446" r:id="rId4"/>
    <p:sldId id="459" r:id="rId5"/>
    <p:sldId id="447" r:id="rId6"/>
    <p:sldId id="448" r:id="rId7"/>
    <p:sldId id="449" r:id="rId8"/>
    <p:sldId id="45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urrent Version" id="{0AE2BC28-8722-41DA-8A11-2BEFDE19DE82}">
          <p14:sldIdLst>
            <p14:sldId id="460"/>
          </p14:sldIdLst>
        </p14:section>
        <p14:section name="Parts" id="{E0817752-2B7D-4331-AA3A-450A26571EFE}">
          <p14:sldIdLst>
            <p14:sldId id="403"/>
            <p14:sldId id="446"/>
            <p14:sldId id="459"/>
            <p14:sldId id="447"/>
            <p14:sldId id="448"/>
            <p14:sldId id="449"/>
            <p14:sldId id="45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7"/>
    <p:restoredTop sz="77966" autoAdjust="0"/>
  </p:normalViewPr>
  <p:slideViewPr>
    <p:cSldViewPr snapToGrid="0">
      <p:cViewPr varScale="1">
        <p:scale>
          <a:sx n="86" d="100"/>
          <a:sy n="86" d="100"/>
        </p:scale>
        <p:origin x="142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stevecerwin\Desktop\HamSCI\Timing%20Study%20012920\FlatEarth%20TOF%203.xlsx" TargetMode="Externa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\\Users\stevecerwin\Desktop\HamSCI\Timing%20Study%20012920\FlatEarth%20TOF%203.xlsx" TargetMode="Externa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chartUserShapes" Target="../drawings/drawing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5"/>
          <c:order val="0"/>
          <c:tx>
            <c:strRef>
              <c:f>Sheet1!$E$1:$E$2</c:f>
              <c:strCache>
                <c:ptCount val="2"/>
                <c:pt idx="0">
                  <c:v>3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Sheet1!$E$3:$E$27</c:f>
              <c:numCache>
                <c:formatCode>0</c:formatCode>
                <c:ptCount val="25"/>
                <c:pt idx="0">
                  <c:v>1382.9316685939332</c:v>
                </c:pt>
                <c:pt idx="1">
                  <c:v>1423.0249470757708</c:v>
                </c:pt>
                <c:pt idx="2">
                  <c:v>1477.3286702694159</c:v>
                </c:pt>
                <c:pt idx="3">
                  <c:v>1544.34452114805</c:v>
                </c:pt>
                <c:pt idx="4">
                  <c:v>1622.4980739587954</c:v>
                </c:pt>
                <c:pt idx="5">
                  <c:v>1710.263137648707</c:v>
                </c:pt>
                <c:pt idx="6">
                  <c:v>1806.2391868188445</c:v>
                </c:pt>
                <c:pt idx="7">
                  <c:v>1909.1883092036783</c:v>
                </c:pt>
                <c:pt idx="8">
                  <c:v>2018.0436070610567</c:v>
                </c:pt>
                <c:pt idx="9">
                  <c:v>2131.9005605327843</c:v>
                </c:pt>
                <c:pt idx="10">
                  <c:v>2250</c:v>
                </c:pt>
                <c:pt idx="11">
                  <c:v>2371.7082451262845</c:v>
                </c:pt>
                <c:pt idx="12">
                  <c:v>2496.4975465639859</c:v>
                </c:pt>
                <c:pt idx="13">
                  <c:v>2623.9283526803852</c:v>
                </c:pt>
                <c:pt idx="14">
                  <c:v>2753.633962602873</c:v>
                </c:pt>
                <c:pt idx="15">
                  <c:v>2885.3076092507017</c:v>
                </c:pt>
                <c:pt idx="16">
                  <c:v>3018.691769624716</c:v>
                </c:pt>
                <c:pt idx="17">
                  <c:v>3153.5694062442958</c:v>
                </c:pt>
                <c:pt idx="18">
                  <c:v>3289.7568299191962</c:v>
                </c:pt>
                <c:pt idx="19">
                  <c:v>3427.0978976387587</c:v>
                </c:pt>
                <c:pt idx="20">
                  <c:v>3565.4592972014143</c:v>
                </c:pt>
                <c:pt idx="21">
                  <c:v>3704.7267105685405</c:v>
                </c:pt>
                <c:pt idx="22">
                  <c:v>3844.8016853928893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CE2-0F42-B6AC-594F69D695C9}"/>
            </c:ext>
          </c:extLst>
        </c:ser>
        <c:ser>
          <c:idx val="4"/>
          <c:order val="1"/>
          <c:tx>
            <c:strRef>
              <c:f>Sheet1!$D$1:$D$2</c:f>
              <c:strCache>
                <c:ptCount val="2"/>
                <c:pt idx="0">
                  <c:v>2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Sheet1!$D$3:$D$27</c:f>
              <c:numCache>
                <c:formatCode>0</c:formatCode>
                <c:ptCount val="25"/>
                <c:pt idx="0">
                  <c:v>1364.734406395618</c:v>
                </c:pt>
                <c:pt idx="1">
                  <c:v>1382.9316685939332</c:v>
                </c:pt>
                <c:pt idx="2">
                  <c:v>1408.0127840328723</c:v>
                </c:pt>
                <c:pt idx="3">
                  <c:v>1439.6180048887968</c:v>
                </c:pt>
                <c:pt idx="4">
                  <c:v>1477.3286702694156</c:v>
                </c:pt>
                <c:pt idx="5">
                  <c:v>1520.6906325745549</c:v>
                </c:pt>
                <c:pt idx="6">
                  <c:v>1569.2354826475216</c:v>
                </c:pt>
                <c:pt idx="7">
                  <c:v>1622.4980739587952</c:v>
                </c:pt>
                <c:pt idx="8">
                  <c:v>1680.0297616411442</c:v>
                </c:pt>
                <c:pt idx="9">
                  <c:v>1741.4074767267998</c:v>
                </c:pt>
                <c:pt idx="10">
                  <c:v>1806.2391868188442</c:v>
                </c:pt>
                <c:pt idx="11">
                  <c:v>1874.1664813991313</c:v>
                </c:pt>
                <c:pt idx="12">
                  <c:v>1944.8650338776724</c:v>
                </c:pt>
                <c:pt idx="13">
                  <c:v>2018.0436070610565</c:v>
                </c:pt>
                <c:pt idx="14">
                  <c:v>2093.4421415458323</c:v>
                </c:pt>
                <c:pt idx="15">
                  <c:v>2170.829334609241</c:v>
                </c:pt>
                <c:pt idx="16">
                  <c:v>2250</c:v>
                </c:pt>
                <c:pt idx="17">
                  <c:v>2330.7724041613328</c:v>
                </c:pt>
                <c:pt idx="18">
                  <c:v>2412.9857024027306</c:v>
                </c:pt>
                <c:pt idx="19">
                  <c:v>2496.4975465639859</c:v>
                </c:pt>
                <c:pt idx="20">
                  <c:v>2581.1818998280614</c:v>
                </c:pt>
                <c:pt idx="21">
                  <c:v>2666.9270706189172</c:v>
                </c:pt>
                <c:pt idx="22">
                  <c:v>2753.633962602873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CE2-0F42-B6AC-594F69D695C9}"/>
            </c:ext>
          </c:extLst>
        </c:ser>
        <c:ser>
          <c:idx val="3"/>
          <c:order val="2"/>
          <c:tx>
            <c:strRef>
              <c:f>Sheet1!$C$1:$C$2</c:f>
              <c:strCache>
                <c:ptCount val="2"/>
                <c:pt idx="0">
                  <c:v>1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Sheet1!$C$3:$C$27</c:f>
              <c:numCache>
                <c:formatCode>0</c:formatCode>
                <c:ptCount val="25"/>
                <c:pt idx="0">
                  <c:v>1353.6986370680884</c:v>
                </c:pt>
                <c:pt idx="1">
                  <c:v>1358.3077707206126</c:v>
                </c:pt>
                <c:pt idx="2">
                  <c:v>1364.734406395618</c:v>
                </c:pt>
                <c:pt idx="3">
                  <c:v>1372.953021774598</c:v>
                </c:pt>
                <c:pt idx="4">
                  <c:v>1382.9316685939332</c:v>
                </c:pt>
                <c:pt idx="5">
                  <c:v>1394.6325680981354</c:v>
                </c:pt>
                <c:pt idx="6">
                  <c:v>1408.0127840328723</c:v>
                </c:pt>
                <c:pt idx="7">
                  <c:v>1423.0249470757708</c:v>
                </c:pt>
                <c:pt idx="8">
                  <c:v>1439.6180048887968</c:v>
                </c:pt>
                <c:pt idx="9">
                  <c:v>1457.7379737113251</c:v>
                </c:pt>
                <c:pt idx="10">
                  <c:v>1477.3286702694156</c:v>
                </c:pt>
                <c:pt idx="11">
                  <c:v>1498.3324063771697</c:v>
                </c:pt>
                <c:pt idx="12">
                  <c:v>1520.6906325745549</c:v>
                </c:pt>
                <c:pt idx="13">
                  <c:v>1544.34452114805</c:v>
                </c:pt>
                <c:pt idx="14">
                  <c:v>1569.2354826475216</c:v>
                </c:pt>
                <c:pt idx="15">
                  <c:v>1595.3056133543816</c:v>
                </c:pt>
                <c:pt idx="16">
                  <c:v>1622.4980739587952</c:v>
                </c:pt>
                <c:pt idx="17">
                  <c:v>1650.7574019219178</c:v>
                </c:pt>
                <c:pt idx="18">
                  <c:v>1680.0297616411442</c:v>
                </c:pt>
                <c:pt idx="19">
                  <c:v>1710.263137648707</c:v>
                </c:pt>
                <c:pt idx="20">
                  <c:v>1741.4074767267998</c:v>
                </c:pt>
                <c:pt idx="21">
                  <c:v>1773.41478509682</c:v>
                </c:pt>
                <c:pt idx="22">
                  <c:v>1806.2391868188442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CE2-0F42-B6AC-594F69D695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4650479"/>
        <c:axId val="1554652159"/>
      </c:scatterChart>
      <c:valAx>
        <c:axId val="1554650479"/>
        <c:scaling>
          <c:orientation val="minMax"/>
          <c:max val="400"/>
          <c:min val="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/>
                  <a:t>Virtual Layer Height - km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4652159"/>
        <c:crosses val="autoZero"/>
        <c:crossBetween val="midCat"/>
      </c:valAx>
      <c:valAx>
        <c:axId val="1554652159"/>
        <c:scaling>
          <c:orientation val="minMax"/>
          <c:max val="3000"/>
          <c:min val="1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/>
                  <a:t>Path Length-km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4650479"/>
        <c:crosses val="autoZero"/>
        <c:crossBetween val="midCat"/>
        <c:majorUnit val="500"/>
        <c:min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5"/>
          <c:order val="0"/>
          <c:tx>
            <c:strRef>
              <c:f>Sheet1!$E$1:$E$2</c:f>
              <c:strCache>
                <c:ptCount val="2"/>
                <c:pt idx="0">
                  <c:v>3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Sheet1!$E$3:$E$27</c:f>
              <c:numCache>
                <c:formatCode>0</c:formatCode>
                <c:ptCount val="25"/>
                <c:pt idx="0">
                  <c:v>1382.9316685939332</c:v>
                </c:pt>
                <c:pt idx="1">
                  <c:v>1423.0249470757708</c:v>
                </c:pt>
                <c:pt idx="2">
                  <c:v>1477.3286702694159</c:v>
                </c:pt>
                <c:pt idx="3">
                  <c:v>1544.34452114805</c:v>
                </c:pt>
                <c:pt idx="4">
                  <c:v>1622.4980739587954</c:v>
                </c:pt>
                <c:pt idx="5">
                  <c:v>1710.263137648707</c:v>
                </c:pt>
                <c:pt idx="6">
                  <c:v>1806.2391868188445</c:v>
                </c:pt>
                <c:pt idx="7">
                  <c:v>1909.1883092036783</c:v>
                </c:pt>
                <c:pt idx="8">
                  <c:v>2018.0436070610567</c:v>
                </c:pt>
                <c:pt idx="9">
                  <c:v>2131.9005605327843</c:v>
                </c:pt>
                <c:pt idx="10">
                  <c:v>2250</c:v>
                </c:pt>
                <c:pt idx="11">
                  <c:v>2371.7082451262845</c:v>
                </c:pt>
                <c:pt idx="12">
                  <c:v>2496.4975465639859</c:v>
                </c:pt>
                <c:pt idx="13">
                  <c:v>2623.9283526803852</c:v>
                </c:pt>
                <c:pt idx="14">
                  <c:v>2753.633962602873</c:v>
                </c:pt>
                <c:pt idx="15">
                  <c:v>2885.3076092507017</c:v>
                </c:pt>
                <c:pt idx="16">
                  <c:v>3018.691769624716</c:v>
                </c:pt>
                <c:pt idx="17">
                  <c:v>3153.5694062442958</c:v>
                </c:pt>
                <c:pt idx="18">
                  <c:v>3289.7568299191962</c:v>
                </c:pt>
                <c:pt idx="19">
                  <c:v>3427.0978976387587</c:v>
                </c:pt>
                <c:pt idx="20">
                  <c:v>3565.4592972014143</c:v>
                </c:pt>
                <c:pt idx="21">
                  <c:v>3704.7267105685405</c:v>
                </c:pt>
                <c:pt idx="22">
                  <c:v>3844.8016853928893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CE2-0F42-B6AC-594F69D695C9}"/>
            </c:ext>
          </c:extLst>
        </c:ser>
        <c:ser>
          <c:idx val="4"/>
          <c:order val="1"/>
          <c:tx>
            <c:strRef>
              <c:f>Sheet1!$D$1:$D$2</c:f>
              <c:strCache>
                <c:ptCount val="2"/>
                <c:pt idx="0">
                  <c:v>2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Sheet1!$D$3:$D$27</c:f>
              <c:numCache>
                <c:formatCode>0</c:formatCode>
                <c:ptCount val="25"/>
                <c:pt idx="0">
                  <c:v>1364.734406395618</c:v>
                </c:pt>
                <c:pt idx="1">
                  <c:v>1382.9316685939332</c:v>
                </c:pt>
                <c:pt idx="2">
                  <c:v>1408.0127840328723</c:v>
                </c:pt>
                <c:pt idx="3">
                  <c:v>1439.6180048887968</c:v>
                </c:pt>
                <c:pt idx="4">
                  <c:v>1477.3286702694156</c:v>
                </c:pt>
                <c:pt idx="5">
                  <c:v>1520.6906325745549</c:v>
                </c:pt>
                <c:pt idx="6">
                  <c:v>1569.2354826475216</c:v>
                </c:pt>
                <c:pt idx="7">
                  <c:v>1622.4980739587952</c:v>
                </c:pt>
                <c:pt idx="8">
                  <c:v>1680.0297616411442</c:v>
                </c:pt>
                <c:pt idx="9">
                  <c:v>1741.4074767267998</c:v>
                </c:pt>
                <c:pt idx="10">
                  <c:v>1806.2391868188442</c:v>
                </c:pt>
                <c:pt idx="11">
                  <c:v>1874.1664813991313</c:v>
                </c:pt>
                <c:pt idx="12">
                  <c:v>1944.8650338776724</c:v>
                </c:pt>
                <c:pt idx="13">
                  <c:v>2018.0436070610565</c:v>
                </c:pt>
                <c:pt idx="14">
                  <c:v>2093.4421415458323</c:v>
                </c:pt>
                <c:pt idx="15">
                  <c:v>2170.829334609241</c:v>
                </c:pt>
                <c:pt idx="16">
                  <c:v>2250</c:v>
                </c:pt>
                <c:pt idx="17">
                  <c:v>2330.7724041613328</c:v>
                </c:pt>
                <c:pt idx="18">
                  <c:v>2412.9857024027306</c:v>
                </c:pt>
                <c:pt idx="19">
                  <c:v>2496.4975465639859</c:v>
                </c:pt>
                <c:pt idx="20">
                  <c:v>2581.1818998280614</c:v>
                </c:pt>
                <c:pt idx="21">
                  <c:v>2666.9270706189172</c:v>
                </c:pt>
                <c:pt idx="22">
                  <c:v>2753.633962602873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CE2-0F42-B6AC-594F69D695C9}"/>
            </c:ext>
          </c:extLst>
        </c:ser>
        <c:ser>
          <c:idx val="3"/>
          <c:order val="2"/>
          <c:tx>
            <c:strRef>
              <c:f>Sheet1!$C$1:$C$2</c:f>
              <c:strCache>
                <c:ptCount val="2"/>
                <c:pt idx="0">
                  <c:v>1 hop</c:v>
                </c:pt>
                <c:pt idx="1">
                  <c:v>Dist - km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Sheet1!$B$3:$B$27</c:f>
              <c:numCache>
                <c:formatCode>General</c:formatCode>
                <c:ptCount val="25"/>
                <c:pt idx="0">
                  <c:v>50</c:v>
                </c:pt>
                <c:pt idx="1">
                  <c:v>75</c:v>
                </c:pt>
                <c:pt idx="2">
                  <c:v>100</c:v>
                </c:pt>
                <c:pt idx="3">
                  <c:v>125</c:v>
                </c:pt>
                <c:pt idx="4">
                  <c:v>150</c:v>
                </c:pt>
                <c:pt idx="5">
                  <c:v>175</c:v>
                </c:pt>
                <c:pt idx="6">
                  <c:v>200</c:v>
                </c:pt>
                <c:pt idx="7">
                  <c:v>225</c:v>
                </c:pt>
                <c:pt idx="8">
                  <c:v>250</c:v>
                </c:pt>
                <c:pt idx="9">
                  <c:v>275</c:v>
                </c:pt>
                <c:pt idx="10">
                  <c:v>300</c:v>
                </c:pt>
                <c:pt idx="11">
                  <c:v>325</c:v>
                </c:pt>
                <c:pt idx="12">
                  <c:v>350</c:v>
                </c:pt>
                <c:pt idx="13">
                  <c:v>375</c:v>
                </c:pt>
                <c:pt idx="14">
                  <c:v>400</c:v>
                </c:pt>
                <c:pt idx="15">
                  <c:v>425</c:v>
                </c:pt>
                <c:pt idx="16">
                  <c:v>450</c:v>
                </c:pt>
                <c:pt idx="17">
                  <c:v>475</c:v>
                </c:pt>
                <c:pt idx="18">
                  <c:v>500</c:v>
                </c:pt>
                <c:pt idx="19">
                  <c:v>525</c:v>
                </c:pt>
                <c:pt idx="20">
                  <c:v>550</c:v>
                </c:pt>
                <c:pt idx="21">
                  <c:v>575</c:v>
                </c:pt>
                <c:pt idx="22">
                  <c:v>600</c:v>
                </c:pt>
              </c:numCache>
            </c:numRef>
          </c:xVal>
          <c:yVal>
            <c:numRef>
              <c:f>Sheet1!$C$3:$C$27</c:f>
              <c:numCache>
                <c:formatCode>0</c:formatCode>
                <c:ptCount val="25"/>
                <c:pt idx="0">
                  <c:v>1353.6986370680884</c:v>
                </c:pt>
                <c:pt idx="1">
                  <c:v>1358.3077707206126</c:v>
                </c:pt>
                <c:pt idx="2">
                  <c:v>1364.734406395618</c:v>
                </c:pt>
                <c:pt idx="3">
                  <c:v>1372.953021774598</c:v>
                </c:pt>
                <c:pt idx="4">
                  <c:v>1382.9316685939332</c:v>
                </c:pt>
                <c:pt idx="5">
                  <c:v>1394.6325680981354</c:v>
                </c:pt>
                <c:pt idx="6">
                  <c:v>1408.0127840328723</c:v>
                </c:pt>
                <c:pt idx="7">
                  <c:v>1423.0249470757708</c:v>
                </c:pt>
                <c:pt idx="8">
                  <c:v>1439.6180048887968</c:v>
                </c:pt>
                <c:pt idx="9">
                  <c:v>1457.7379737113251</c:v>
                </c:pt>
                <c:pt idx="10">
                  <c:v>1477.3286702694156</c:v>
                </c:pt>
                <c:pt idx="11">
                  <c:v>1498.3324063771697</c:v>
                </c:pt>
                <c:pt idx="12">
                  <c:v>1520.6906325745549</c:v>
                </c:pt>
                <c:pt idx="13">
                  <c:v>1544.34452114805</c:v>
                </c:pt>
                <c:pt idx="14">
                  <c:v>1569.2354826475216</c:v>
                </c:pt>
                <c:pt idx="15">
                  <c:v>1595.3056133543816</c:v>
                </c:pt>
                <c:pt idx="16">
                  <c:v>1622.4980739587952</c:v>
                </c:pt>
                <c:pt idx="17">
                  <c:v>1650.7574019219178</c:v>
                </c:pt>
                <c:pt idx="18">
                  <c:v>1680.0297616411442</c:v>
                </c:pt>
                <c:pt idx="19">
                  <c:v>1710.263137648707</c:v>
                </c:pt>
                <c:pt idx="20">
                  <c:v>1741.4074767267998</c:v>
                </c:pt>
                <c:pt idx="21">
                  <c:v>1773.41478509682</c:v>
                </c:pt>
                <c:pt idx="22">
                  <c:v>1806.2391868188442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CE2-0F42-B6AC-594F69D695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4650479"/>
        <c:axId val="1554652159"/>
      </c:scatterChart>
      <c:valAx>
        <c:axId val="1554650479"/>
        <c:scaling>
          <c:orientation val="minMax"/>
          <c:max val="400"/>
          <c:min val="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/>
                  <a:t>Virtual Layer Height - km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4652159"/>
        <c:crosses val="autoZero"/>
        <c:crossBetween val="midCat"/>
      </c:valAx>
      <c:valAx>
        <c:axId val="1554652159"/>
        <c:scaling>
          <c:orientation val="minMax"/>
          <c:max val="3000"/>
          <c:min val="1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/>
                  <a:t>Path Length-km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4650479"/>
        <c:crosses val="autoZero"/>
        <c:crossBetween val="midCat"/>
        <c:majorUnit val="500"/>
        <c:min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0.55131</cdr:x>
      <cdr:y>0.04851</cdr:y>
    </cdr:from>
    <cdr:to>
      <cdr:x>0.95523</cdr:x>
      <cdr:y>0.7352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55D66F4D-72AA-D64E-B4E0-52B56E5CC05D}"/>
            </a:ext>
          </a:extLst>
        </cdr:cNvPr>
        <cdr:cNvSpPr/>
      </cdr:nvSpPr>
      <cdr:spPr>
        <a:xfrm xmlns:a="http://schemas.openxmlformats.org/drawingml/2006/main">
          <a:off x="2639329" y="117777"/>
          <a:ext cx="1933764" cy="1667344"/>
        </a:xfrm>
        <a:prstGeom xmlns:a="http://schemas.openxmlformats.org/drawingml/2006/main" prst="rect">
          <a:avLst/>
        </a:prstGeom>
        <a:noFill xmlns:a="http://schemas.openxmlformats.org/drawingml/2006/main"/>
      </cdr:spPr>
      <cdr:style>
        <a:lnRef xmlns:a="http://schemas.openxmlformats.org/drawingml/2006/main" idx="2">
          <a:schemeClr val="accent1">
            <a:shade val="50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91440" tIns="45720" rIns="91440" bIns="4572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US"/>
        </a:p>
      </cdr:txBody>
    </cdr:sp>
  </cdr:relSizeAnchor>
  <cdr:relSizeAnchor xmlns:cdr="http://schemas.openxmlformats.org/drawingml/2006/chartDrawing">
    <cdr:from>
      <cdr:x>0.80501</cdr:x>
      <cdr:y>0.25472</cdr:y>
    </cdr:from>
    <cdr:to>
      <cdr:x>0.9591</cdr:x>
      <cdr:y>0.40683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275FDDAD-3278-764E-B72C-D74029FB3DA5}"/>
            </a:ext>
          </a:extLst>
        </cdr:cNvPr>
        <cdr:cNvSpPr txBox="1"/>
      </cdr:nvSpPr>
      <cdr:spPr>
        <a:xfrm xmlns:a="http://schemas.openxmlformats.org/drawingml/2006/main">
          <a:off x="3853909" y="618482"/>
          <a:ext cx="737702" cy="369332"/>
        </a:xfrm>
        <a:prstGeom xmlns:a="http://schemas.openxmlformats.org/drawingml/2006/main" prst="rect">
          <a:avLst/>
        </a:prstGeom>
        <a:noFill xmlns:a="http://schemas.openxmlformats.org/drawingml/2006/main"/>
      </cdr:spPr>
      <cdr:txBody>
        <a:bodyPr xmlns:a="http://schemas.openxmlformats.org/drawingml/2006/main" wrap="none" rtlCol="0">
          <a:sp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dirty="0"/>
            <a:t>2-hop</a:t>
          </a:r>
        </a:p>
      </cdr:txBody>
    </cdr:sp>
  </cdr:relSizeAnchor>
  <cdr:relSizeAnchor xmlns:cdr="http://schemas.openxmlformats.org/drawingml/2006/chartDrawing">
    <cdr:from>
      <cdr:x>0.80501</cdr:x>
      <cdr:y>0.43039</cdr:y>
    </cdr:from>
    <cdr:to>
      <cdr:x>0.9591</cdr:x>
      <cdr:y>0.5825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275FDDAD-3278-764E-B72C-D74029FB3DA5}"/>
            </a:ext>
          </a:extLst>
        </cdr:cNvPr>
        <cdr:cNvSpPr txBox="1"/>
      </cdr:nvSpPr>
      <cdr:spPr>
        <a:xfrm xmlns:a="http://schemas.openxmlformats.org/drawingml/2006/main">
          <a:off x="3853909" y="1045017"/>
          <a:ext cx="737702" cy="369332"/>
        </a:xfrm>
        <a:prstGeom xmlns:a="http://schemas.openxmlformats.org/drawingml/2006/main" prst="rect">
          <a:avLst/>
        </a:prstGeom>
        <a:noFill xmlns:a="http://schemas.openxmlformats.org/drawingml/2006/main"/>
      </cdr:spPr>
      <cdr:txBody>
        <a:bodyPr xmlns:a="http://schemas.openxmlformats.org/drawingml/2006/main" wrap="none" rtlCol="0">
          <a:sp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dirty="0"/>
            <a:t>1-hop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0.55131</cdr:x>
      <cdr:y>0.04851</cdr:y>
    </cdr:from>
    <cdr:to>
      <cdr:x>0.95523</cdr:x>
      <cdr:y>0.7352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55D66F4D-72AA-D64E-B4E0-52B56E5CC05D}"/>
            </a:ext>
          </a:extLst>
        </cdr:cNvPr>
        <cdr:cNvSpPr/>
      </cdr:nvSpPr>
      <cdr:spPr>
        <a:xfrm xmlns:a="http://schemas.openxmlformats.org/drawingml/2006/main">
          <a:off x="2639329" y="117777"/>
          <a:ext cx="1933764" cy="1667344"/>
        </a:xfrm>
        <a:prstGeom xmlns:a="http://schemas.openxmlformats.org/drawingml/2006/main" prst="rect">
          <a:avLst/>
        </a:prstGeom>
        <a:noFill xmlns:a="http://schemas.openxmlformats.org/drawingml/2006/main"/>
      </cdr:spPr>
      <cdr:style>
        <a:lnRef xmlns:a="http://schemas.openxmlformats.org/drawingml/2006/main" idx="2">
          <a:schemeClr val="accent1">
            <a:shade val="50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91440" tIns="45720" rIns="91440" bIns="4572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US"/>
        </a:p>
      </cdr:txBody>
    </cdr:sp>
  </cdr:relSizeAnchor>
  <cdr:relSizeAnchor xmlns:cdr="http://schemas.openxmlformats.org/drawingml/2006/chartDrawing">
    <cdr:from>
      <cdr:x>0.80501</cdr:x>
      <cdr:y>0.25472</cdr:y>
    </cdr:from>
    <cdr:to>
      <cdr:x>0.9591</cdr:x>
      <cdr:y>0.40683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275FDDAD-3278-764E-B72C-D74029FB3DA5}"/>
            </a:ext>
          </a:extLst>
        </cdr:cNvPr>
        <cdr:cNvSpPr txBox="1"/>
      </cdr:nvSpPr>
      <cdr:spPr>
        <a:xfrm xmlns:a="http://schemas.openxmlformats.org/drawingml/2006/main">
          <a:off x="3853909" y="618482"/>
          <a:ext cx="737702" cy="369332"/>
        </a:xfrm>
        <a:prstGeom xmlns:a="http://schemas.openxmlformats.org/drawingml/2006/main" prst="rect">
          <a:avLst/>
        </a:prstGeom>
        <a:noFill xmlns:a="http://schemas.openxmlformats.org/drawingml/2006/main"/>
      </cdr:spPr>
      <cdr:txBody>
        <a:bodyPr xmlns:a="http://schemas.openxmlformats.org/drawingml/2006/main" wrap="none" rtlCol="0">
          <a:sp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dirty="0"/>
            <a:t>2-hop</a:t>
          </a:r>
        </a:p>
      </cdr:txBody>
    </cdr:sp>
  </cdr:relSizeAnchor>
  <cdr:relSizeAnchor xmlns:cdr="http://schemas.openxmlformats.org/drawingml/2006/chartDrawing">
    <cdr:from>
      <cdr:x>0.80501</cdr:x>
      <cdr:y>0.43039</cdr:y>
    </cdr:from>
    <cdr:to>
      <cdr:x>0.9591</cdr:x>
      <cdr:y>0.5825</cdr:y>
    </cdr:to>
    <cdr:sp macro="" textlink="">
      <cdr:nvSpPr>
        <cdr:cNvPr id="4" name="TextBox 13">
          <a:extLst xmlns:a="http://schemas.openxmlformats.org/drawingml/2006/main">
            <a:ext uri="{FF2B5EF4-FFF2-40B4-BE49-F238E27FC236}">
              <a16:creationId xmlns:a16="http://schemas.microsoft.com/office/drawing/2014/main" id="{275FDDAD-3278-764E-B72C-D74029FB3DA5}"/>
            </a:ext>
          </a:extLst>
        </cdr:cNvPr>
        <cdr:cNvSpPr txBox="1"/>
      </cdr:nvSpPr>
      <cdr:spPr>
        <a:xfrm xmlns:a="http://schemas.openxmlformats.org/drawingml/2006/main">
          <a:off x="3853909" y="1045017"/>
          <a:ext cx="737702" cy="369332"/>
        </a:xfrm>
        <a:prstGeom xmlns:a="http://schemas.openxmlformats.org/drawingml/2006/main" prst="rect">
          <a:avLst/>
        </a:prstGeom>
        <a:noFill xmlns:a="http://schemas.openxmlformats.org/drawingml/2006/main"/>
      </cdr:spPr>
      <cdr:txBody>
        <a:bodyPr xmlns:a="http://schemas.openxmlformats.org/drawingml/2006/main" wrap="none" rtlCol="0">
          <a:spAutoFit/>
        </a:bodyPr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dirty="0"/>
            <a:t>1-hop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561DD7-A158-9E42-9894-752AFA41BA82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480607-6FDE-B148-B62F-B4E0E5D91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5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203E2-A3D7-596A-E300-814D48AAE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A0D81-45BB-B9FD-6BD0-863A503B27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E5B16B-5B33-CE1F-71AE-6762A8FD7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/>
              <a:t>The formulas for a virtual height model of multipath ionospheric propagation are used to approximate layer height from 1-hop/2-hop Time Difference of Arrival (TDOA). (a) Illustration of 1- and 2-hop Refraction from the F2 Layer (b) Virtual Height model used to calculate the relationship between virtual height $h$ and path length. Time of Flight = Path Length </a:t>
            </a:r>
            <a:r>
              <a:rPr lang="en-US" sz="1100"/>
              <a:t>/ $c$ </a:t>
            </a:r>
            <a:r>
              <a:rPr lang="en-US" sz="1100" dirty="0"/>
              <a:t>(c) TDOA Example: At 1350 km ground distance </a:t>
            </a:r>
            <a:r>
              <a:rPr lang="en-US" sz="1100"/>
              <a:t>the TDOA </a:t>
            </a:r>
            <a:r>
              <a:rPr lang="en-US" sz="1100" dirty="0"/>
              <a:t>between 1 and 2 hop modes is 0.67 ms at 225 km layer height and 1.10 ms at 300 km.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7D34A-24C7-7199-54DB-2A79A2A2C7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818B16-7ABB-D24C-AAA8-3D2C6A2F494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217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/>
              <a:t>The pictorial on the left depicts 1 and 2 hop modes from the F layer and a 1 hop mode for the E layer. For a fixed ground distance between TX and RX the propagation path is a function of ionization layer height and number of hops. Doppler shift can be caused by a changing path length, driven by ascending or descending layer height. A virtual height geometric model was used to relate path length to layer height for a given ground distance.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1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818B16-7ABB-D24C-AAA8-3D2C6A2F494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7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 and X radiation from the sun photoionize the upper atmosphere into free electrons and positively charged ions.</a:t>
            </a:r>
          </a:p>
          <a:p>
            <a:r>
              <a:rPr lang="en-US" dirty="0"/>
              <a:t>Complex photochemical reactions with oxygen, ozone, nitrogen, and nitrous oxide arrange the ionization into layers labeled D, E, and F.</a:t>
            </a:r>
          </a:p>
          <a:p>
            <a:r>
              <a:rPr lang="en-US" dirty="0"/>
              <a:t>Velocity gradients in the ionized layers refract upward directed radio waves back to earth in the HF frequency range from 3-30 MHz. </a:t>
            </a:r>
          </a:p>
          <a:p>
            <a:r>
              <a:rPr lang="en-US" dirty="0"/>
              <a:t>Multiple hops involving reflection from the earth and other layers are possible, enabling global radio propagation.</a:t>
            </a:r>
          </a:p>
          <a:p>
            <a:r>
              <a:rPr lang="en-US" dirty="0"/>
              <a:t>Most HF radio propagation comes from the E and F layers. The D layer primarily acts as an attenuator with attenuation increasing with wavelength.</a:t>
            </a:r>
          </a:p>
          <a:p>
            <a:r>
              <a:rPr lang="en-US" dirty="0"/>
              <a:t>The F layer changes height significantly with diurnal changes in solar radiation. The E layer does so as well, but to a much smaller degree. The rate of height change imparts velocity on path length which results in Doppler shifts in frequency. </a:t>
            </a:r>
          </a:p>
          <a:p>
            <a:r>
              <a:rPr lang="en-US" dirty="0"/>
              <a:t>This paper postulates a phenomenology to explain observed complex Doppler behavior, specifically mode splitting, as a function of differential path velocity imparted on single and multiple hop modes by changing layer height.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F3820A-B226-C247-9C5B-9524F3BFEE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607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 and X radiation from the sun photoionize the upper atmosphere into free electrons and positively charged ions.</a:t>
            </a:r>
          </a:p>
          <a:p>
            <a:r>
              <a:rPr lang="en-US" dirty="0"/>
              <a:t>Complex photochemical reactions with oxygen, ozone, nitrogen, and nitrous oxide arrange the ionization into layers labeled D, E, and F.</a:t>
            </a:r>
          </a:p>
          <a:p>
            <a:r>
              <a:rPr lang="en-US" dirty="0"/>
              <a:t>Velocity gradients in the ionized layers refract upward directed radio waves back to earth in the HF frequency range from 3-30 MHz. </a:t>
            </a:r>
          </a:p>
          <a:p>
            <a:r>
              <a:rPr lang="en-US" dirty="0"/>
              <a:t>Multiple hops involving reflection from the earth and other layers are possible, enabling global radio propagation.</a:t>
            </a:r>
          </a:p>
          <a:p>
            <a:r>
              <a:rPr lang="en-US" dirty="0"/>
              <a:t>Most HF radio propagation comes from the E and F layers. The D layer primarily acts as an attenuator with attenuation increasing with wavelength.</a:t>
            </a:r>
          </a:p>
          <a:p>
            <a:r>
              <a:rPr lang="en-US" dirty="0"/>
              <a:t>The F layer changes height significantly with diurnal changes in solar radiation. The E layer does so as well, but to a much smaller degree. The rate of height change imparts velocity on path length which results in Doppler shifts in frequency. </a:t>
            </a:r>
          </a:p>
          <a:p>
            <a:r>
              <a:rPr lang="en-US" dirty="0"/>
              <a:t>This paper postulates a phenomenology to explain observed complex Doppler behavior, specifically mode splitting, as a function of differential path velocity imparted on single and multiple hop modes by changing layer height.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F3820A-B226-C247-9C5B-9524F3BFEE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6071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 and X radiation from the sun photoionize the upper atmosphere into free electrons and positively charged ions.</a:t>
            </a:r>
          </a:p>
          <a:p>
            <a:r>
              <a:rPr lang="en-US" dirty="0"/>
              <a:t>Complex photochemical reactions with oxygen, ozone, nitrogen, and nitrous oxide arrange the ionization into layers labeled D, E, and F.</a:t>
            </a:r>
          </a:p>
          <a:p>
            <a:r>
              <a:rPr lang="en-US" dirty="0"/>
              <a:t>Velocity gradients in the ionized layers refract upward directed radio waves back to earth in the HF frequency range from 3-30 MHz. </a:t>
            </a:r>
          </a:p>
          <a:p>
            <a:r>
              <a:rPr lang="en-US" dirty="0"/>
              <a:t>Multiple hops involving reflection from the earth and other layers are possible, enabling global radio propagation.</a:t>
            </a:r>
          </a:p>
          <a:p>
            <a:r>
              <a:rPr lang="en-US" dirty="0"/>
              <a:t>Most HF radio propagation comes from the E and F layers. The D layer primarily acts as an attenuator with attenuation increasing with wavelength.</a:t>
            </a:r>
          </a:p>
          <a:p>
            <a:r>
              <a:rPr lang="en-US" dirty="0"/>
              <a:t>The F layer changes height significantly with diurnal changes in solar radiation. The E layer does so as well, but to a much smaller degree. The rate of height change imparts velocity on path length which results in Doppler shifts in frequency. </a:t>
            </a:r>
          </a:p>
          <a:p>
            <a:r>
              <a:rPr lang="en-US" dirty="0"/>
              <a:t>This paper postulates a phenomenology to explain observed complex Doppler behavior, specifically mode splitting, as a function of differential path velocity imparted on single and multiple hop modes by changing layer height.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820A-B226-C247-9C5B-9524F3BFEE9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07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15FC-4595-3948-8E59-97F251488020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56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E2E01-673F-5740-AFBA-FB5349853319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45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8515C-3B47-BE4A-BCEC-183DD0EEACCC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113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C89CD-2A4D-EC4A-A417-CE94091D072D}" type="datetime1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66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03824-FD21-0F4D-B97D-AF4150A2A8CD}" type="datetime1">
              <a:rPr lang="en-US" smtClean="0"/>
              <a:t>8/13/2025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695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50781-2467-F64C-B288-FAD312D017EE}" type="datetime1">
              <a:rPr lang="en-US" smtClean="0"/>
              <a:t>8/13/2025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88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EDA03-B54D-5141-90B2-AF20FC4EA56F}" type="datetime1">
              <a:rPr lang="en-US" smtClean="0"/>
              <a:t>8/13/2025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7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25B48-7893-CB46-BC09-B9D5C25AEA39}" type="datetime1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47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7A9-4B7A-A740-BEEA-3A1BC0AC7562}" type="datetime1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7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2555B-F120-6242-BEF5-FAA855445114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033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45D82-FA4E-424F-8B90-546BCD7C68B7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876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55080-72D3-2645-BF25-2CC613CD18CC}" type="datetime1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2E099-75C6-4785-BA6C-247B51420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18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6C8B0-8A09-2CC5-AD72-2ED6E851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5A7BA253-C9AF-F510-EA0E-D23B90D21DAF}"/>
              </a:ext>
            </a:extLst>
          </p:cNvPr>
          <p:cNvGrpSpPr/>
          <p:nvPr/>
        </p:nvGrpSpPr>
        <p:grpSpPr>
          <a:xfrm>
            <a:off x="424834" y="897518"/>
            <a:ext cx="11342332" cy="5062965"/>
            <a:chOff x="389988" y="429886"/>
            <a:chExt cx="11342332" cy="5062965"/>
          </a:xfrm>
        </p:grpSpPr>
        <p:pic>
          <p:nvPicPr>
            <p:cNvPr id="30" name="Picture 29" descr="Diagram&#10;&#10;Description automatically generated">
              <a:extLst>
                <a:ext uri="{FF2B5EF4-FFF2-40B4-BE49-F238E27FC236}">
                  <a16:creationId xmlns:a16="http://schemas.microsoft.com/office/drawing/2014/main" id="{E197FBF1-6070-8347-1358-15F518A2D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1168" y="429886"/>
              <a:ext cx="7772400" cy="2156005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C53BCA8-CF4B-BC5D-EAE5-7C869F8E2D5A}"/>
                </a:ext>
              </a:extLst>
            </p:cNvPr>
            <p:cNvGrpSpPr/>
            <p:nvPr/>
          </p:nvGrpSpPr>
          <p:grpSpPr>
            <a:xfrm>
              <a:off x="6553511" y="2730560"/>
              <a:ext cx="5178809" cy="2762291"/>
              <a:chOff x="6553511" y="2685956"/>
              <a:chExt cx="5178809" cy="2762291"/>
            </a:xfrm>
          </p:grpSpPr>
          <p:graphicFrame>
            <p:nvGraphicFramePr>
              <p:cNvPr id="15" name="Chart 14">
                <a:extLst>
                  <a:ext uri="{FF2B5EF4-FFF2-40B4-BE49-F238E27FC236}">
                    <a16:creationId xmlns:a16="http://schemas.microsoft.com/office/drawing/2014/main" id="{6DA6AFC9-AA07-97C4-AFD4-9970305463F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84338404"/>
                  </p:ext>
                </p:extLst>
              </p:nvPr>
            </p:nvGraphicFramePr>
            <p:xfrm>
              <a:off x="6553511" y="3020179"/>
              <a:ext cx="4787409" cy="242806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2D42B4B-57C4-AD20-1168-2E0E1B11DBC3}"/>
                  </a:ext>
                </a:extLst>
              </p:cNvPr>
              <p:cNvGrpSpPr/>
              <p:nvPr/>
            </p:nvGrpSpPr>
            <p:grpSpPr>
              <a:xfrm>
                <a:off x="7251279" y="2685956"/>
                <a:ext cx="4481041" cy="2251477"/>
                <a:chOff x="7251279" y="2685956"/>
                <a:chExt cx="4481041" cy="2251477"/>
              </a:xfrm>
            </p:grpSpPr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4DFEEBC-9B45-5CB9-B05A-814BBAE40851}"/>
                    </a:ext>
                  </a:extLst>
                </p:cNvPr>
                <p:cNvSpPr txBox="1"/>
                <p:nvPr/>
              </p:nvSpPr>
              <p:spPr>
                <a:xfrm>
                  <a:off x="7251279" y="2739842"/>
                  <a:ext cx="3391872" cy="800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Path Lengths and Times of Flight</a:t>
                  </a:r>
                </a:p>
                <a:p>
                  <a:r>
                    <a:rPr lang="en-US" sz="1400" dirty="0"/>
                    <a:t>1350 km Ground Distance</a:t>
                  </a:r>
                  <a:r>
                    <a:rPr lang="en-US" sz="2800" dirty="0"/>
                    <a:t> </a:t>
                  </a: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388B2B2-E94C-57E7-9871-9058B5CB1D8C}"/>
                    </a:ext>
                  </a:extLst>
                </p:cNvPr>
                <p:cNvSpPr/>
                <p:nvPr/>
              </p:nvSpPr>
              <p:spPr>
                <a:xfrm>
                  <a:off x="7792667" y="3970259"/>
                  <a:ext cx="357187" cy="828675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C63600-97EB-ABB3-8779-9A3B013519B4}"/>
                    </a:ext>
                  </a:extLst>
                </p:cNvPr>
                <p:cNvSpPr txBox="1"/>
                <p:nvPr/>
              </p:nvSpPr>
              <p:spPr>
                <a:xfrm>
                  <a:off x="7475387" y="3623628"/>
                  <a:ext cx="9917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E Region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3C63B86-04FC-20D9-989C-0D4FA716404A}"/>
                    </a:ext>
                  </a:extLst>
                </p:cNvPr>
                <p:cNvSpPr txBox="1"/>
                <p:nvPr/>
              </p:nvSpPr>
              <p:spPr>
                <a:xfrm>
                  <a:off x="9254792" y="3137955"/>
                  <a:ext cx="110235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F2 Region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8D9D1DB-397D-FF23-BAAA-0C6C1CE39FE4}"/>
                    </a:ext>
                  </a:extLst>
                </p:cNvPr>
                <p:cNvSpPr txBox="1"/>
                <p:nvPr/>
              </p:nvSpPr>
              <p:spPr>
                <a:xfrm>
                  <a:off x="10407420" y="3132535"/>
                  <a:ext cx="73770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3-hop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0598AF7-D148-2E85-6F2E-50AADA48B6CD}"/>
                    </a:ext>
                  </a:extLst>
                </p:cNvPr>
                <p:cNvSpPr txBox="1"/>
                <p:nvPr/>
              </p:nvSpPr>
              <p:spPr>
                <a:xfrm>
                  <a:off x="11088105" y="4226993"/>
                  <a:ext cx="45878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5.00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544D9A8-1B5C-1286-0E77-B82EC3916BB0}"/>
                    </a:ext>
                  </a:extLst>
                </p:cNvPr>
                <p:cNvSpPr txBox="1"/>
                <p:nvPr/>
              </p:nvSpPr>
              <p:spPr>
                <a:xfrm>
                  <a:off x="11093617" y="3440448"/>
                  <a:ext cx="49460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8.33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1680FE6-03CF-4082-A94E-0405D8DEC04E}"/>
                    </a:ext>
                  </a:extLst>
                </p:cNvPr>
                <p:cNvSpPr txBox="1"/>
                <p:nvPr/>
              </p:nvSpPr>
              <p:spPr>
                <a:xfrm>
                  <a:off x="11088105" y="3831759"/>
                  <a:ext cx="45878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6.67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9E636D1-EE73-CEFF-80D2-F5D768C295C5}"/>
                    </a:ext>
                  </a:extLst>
                </p:cNvPr>
                <p:cNvSpPr txBox="1"/>
                <p:nvPr/>
              </p:nvSpPr>
              <p:spPr>
                <a:xfrm>
                  <a:off x="11096717" y="3005573"/>
                  <a:ext cx="45878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10.0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150A78-88DC-94A0-5FB6-ED7E7263FAD6}"/>
                    </a:ext>
                  </a:extLst>
                </p:cNvPr>
                <p:cNvSpPr txBox="1"/>
                <p:nvPr/>
              </p:nvSpPr>
              <p:spPr>
                <a:xfrm>
                  <a:off x="11088105" y="4660434"/>
                  <a:ext cx="45878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3.33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84EA381-0B36-3E05-461F-73054DA2C683}"/>
                    </a:ext>
                  </a:extLst>
                </p:cNvPr>
                <p:cNvSpPr txBox="1"/>
                <p:nvPr/>
              </p:nvSpPr>
              <p:spPr>
                <a:xfrm>
                  <a:off x="10902669" y="2685956"/>
                  <a:ext cx="82965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TOF-mS</a:t>
                  </a:r>
                </a:p>
              </p:txBody>
            </p: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051B8681-2ADF-CA21-AC8B-C11D8ED342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50086" y="3831759"/>
                  <a:ext cx="0" cy="276999"/>
                </a:xfrm>
                <a:prstGeom prst="straightConnector1">
                  <a:avLst/>
                </a:prstGeom>
                <a:ln w="2222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4D3F7097-31BA-E819-6651-546A9280FC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45107" y="4394561"/>
                  <a:ext cx="4979" cy="265873"/>
                </a:xfrm>
                <a:prstGeom prst="straightConnector1">
                  <a:avLst/>
                </a:prstGeom>
                <a:ln w="2222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40F17AF-E82F-573C-EE1C-8E9A5BE02A29}"/>
                    </a:ext>
                  </a:extLst>
                </p:cNvPr>
                <p:cNvSpPr txBox="1"/>
                <p:nvPr/>
              </p:nvSpPr>
              <p:spPr>
                <a:xfrm>
                  <a:off x="9808388" y="4099393"/>
                  <a:ext cx="50366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1.10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C56E7DF2-EE22-3A0C-DEDB-6BC5C7E934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36324" y="3984159"/>
                  <a:ext cx="0" cy="276999"/>
                </a:xfrm>
                <a:prstGeom prst="straightConnector1">
                  <a:avLst/>
                </a:prstGeom>
                <a:ln w="2222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Arrow Connector 36">
                  <a:extLst>
                    <a:ext uri="{FF2B5EF4-FFF2-40B4-BE49-F238E27FC236}">
                      <a16:creationId xmlns:a16="http://schemas.microsoft.com/office/drawing/2014/main" id="{F4F9A2E7-0675-AE86-B7FD-578E6A16A4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248598" y="4460696"/>
                  <a:ext cx="4979" cy="265873"/>
                </a:xfrm>
                <a:prstGeom prst="straightConnector1">
                  <a:avLst/>
                </a:prstGeom>
                <a:ln w="2222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0E0B47D-CC30-9D5B-C260-35758949BE26}"/>
                    </a:ext>
                  </a:extLst>
                </p:cNvPr>
                <p:cNvSpPr txBox="1"/>
                <p:nvPr/>
              </p:nvSpPr>
              <p:spPr>
                <a:xfrm>
                  <a:off x="8994626" y="4200034"/>
                  <a:ext cx="50366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0.67</a:t>
                  </a:r>
                </a:p>
              </p:txBody>
            </p:sp>
          </p:grp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53421F9-530A-DA23-4A17-7C2FDE6C1C5F}"/>
                </a:ext>
              </a:extLst>
            </p:cNvPr>
            <p:cNvSpPr txBox="1"/>
            <p:nvPr/>
          </p:nvSpPr>
          <p:spPr>
            <a:xfrm>
              <a:off x="4698973" y="2107228"/>
              <a:ext cx="4103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1- and 2-hop Refraction from the F2 Layer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447970-7CD9-8537-8E45-A87629E98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4797" y="3124386"/>
              <a:ext cx="5670124" cy="192207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6C3D54C-4662-56E6-9E14-2C148B4C944D}"/>
                </a:ext>
              </a:extLst>
            </p:cNvPr>
            <p:cNvSpPr txBox="1"/>
            <p:nvPr/>
          </p:nvSpPr>
          <p:spPr>
            <a:xfrm>
              <a:off x="5677304" y="3487988"/>
              <a:ext cx="407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98E794-A8E3-1EA5-28C9-9DF3C704F1D5}"/>
                </a:ext>
              </a:extLst>
            </p:cNvPr>
            <p:cNvSpPr txBox="1"/>
            <p:nvPr/>
          </p:nvSpPr>
          <p:spPr>
            <a:xfrm>
              <a:off x="5721621" y="4182047"/>
              <a:ext cx="296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616869E-B9CD-66CE-892F-4C95B1989C6E}"/>
                </a:ext>
              </a:extLst>
            </p:cNvPr>
            <p:cNvCxnSpPr/>
            <p:nvPr/>
          </p:nvCxnSpPr>
          <p:spPr>
            <a:xfrm>
              <a:off x="3284699" y="3512778"/>
              <a:ext cx="0" cy="96468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C344A0-F0CA-DFA9-39B5-B6DECBA686E6}"/>
                </a:ext>
              </a:extLst>
            </p:cNvPr>
            <p:cNvSpPr txBox="1"/>
            <p:nvPr/>
          </p:nvSpPr>
          <p:spPr>
            <a:xfrm>
              <a:off x="3235712" y="374383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C135FD-164D-3E12-FC48-152E7EC7702A}"/>
                </a:ext>
              </a:extLst>
            </p:cNvPr>
            <p:cNvSpPr txBox="1"/>
            <p:nvPr/>
          </p:nvSpPr>
          <p:spPr>
            <a:xfrm>
              <a:off x="2409844" y="4629864"/>
              <a:ext cx="17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Ground Distance</a:t>
              </a: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DE489B0F-DB4C-669C-D276-F3BA99433FF0}"/>
                </a:ext>
              </a:extLst>
            </p:cNvPr>
            <p:cNvCxnSpPr/>
            <p:nvPr/>
          </p:nvCxnSpPr>
          <p:spPr>
            <a:xfrm>
              <a:off x="4104714" y="4552115"/>
              <a:ext cx="1290790" cy="20713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6594D15-0FA6-ABB8-C4DF-5107A775FE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9010" y="4551379"/>
              <a:ext cx="1492874" cy="22449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C5450FFF-A478-B2AC-33C5-BDAB4A034174}"/>
                </a:ext>
              </a:extLst>
            </p:cNvPr>
            <p:cNvCxnSpPr/>
            <p:nvPr/>
          </p:nvCxnSpPr>
          <p:spPr>
            <a:xfrm>
              <a:off x="2611884" y="4551379"/>
              <a:ext cx="149283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F87260C-1579-40BD-0D37-FCC312EAA6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4756" y="2699215"/>
              <a:ext cx="873373" cy="69668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51E7F07-B6BD-2F7C-124D-A989BD3E10B7}"/>
                </a:ext>
              </a:extLst>
            </p:cNvPr>
            <p:cNvCxnSpPr>
              <a:cxnSpLocks/>
            </p:cNvCxnSpPr>
            <p:nvPr/>
          </p:nvCxnSpPr>
          <p:spPr>
            <a:xfrm>
              <a:off x="6084788" y="4259610"/>
              <a:ext cx="595553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A01A384-F6FE-D5A4-11A1-3FFB9A70FF8D}"/>
                </a:ext>
              </a:extLst>
            </p:cNvPr>
            <p:cNvSpPr txBox="1"/>
            <p:nvPr/>
          </p:nvSpPr>
          <p:spPr>
            <a:xfrm>
              <a:off x="1758418" y="442046"/>
              <a:ext cx="4427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(a)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706F547-D139-0519-BE27-01D4719DA2C3}"/>
                </a:ext>
              </a:extLst>
            </p:cNvPr>
            <p:cNvSpPr txBox="1"/>
            <p:nvPr/>
          </p:nvSpPr>
          <p:spPr>
            <a:xfrm>
              <a:off x="389988" y="2810783"/>
              <a:ext cx="4523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(b)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F8276B6-3E9A-8DFE-9E1E-160C240BEE4B}"/>
                </a:ext>
              </a:extLst>
            </p:cNvPr>
            <p:cNvSpPr txBox="1"/>
            <p:nvPr/>
          </p:nvSpPr>
          <p:spPr>
            <a:xfrm>
              <a:off x="6477278" y="2810783"/>
              <a:ext cx="425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9405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E8B4F23F-D42E-766A-36C6-6BF0B524F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168" y="429886"/>
            <a:ext cx="7772400" cy="2156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5639EA-9805-4A4B-BE1E-FD8E4E23F1C6}"/>
              </a:ext>
            </a:extLst>
          </p:cNvPr>
          <p:cNvSpPr txBox="1"/>
          <p:nvPr/>
        </p:nvSpPr>
        <p:spPr>
          <a:xfrm>
            <a:off x="435326" y="5123292"/>
            <a:ext cx="57024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 1b. Virtual Height model Used to Calculate Relationship between Virtual Height h and Path Length.</a:t>
            </a:r>
          </a:p>
          <a:p>
            <a:pPr algn="ctr"/>
            <a:r>
              <a:rPr lang="en-US" dirty="0"/>
              <a:t>                Time of Flight = Path Length / c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5547C719-87A0-4A40-A707-3512F07AC9F1}"/>
              </a:ext>
            </a:extLst>
          </p:cNvPr>
          <p:cNvGraphicFramePr>
            <a:graphicFrameLocks/>
          </p:cNvGraphicFramePr>
          <p:nvPr/>
        </p:nvGraphicFramePr>
        <p:xfrm>
          <a:off x="6553511" y="3020179"/>
          <a:ext cx="4787409" cy="2428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5190D4-1EB9-2849-B79E-7BA696109D08}"/>
              </a:ext>
            </a:extLst>
          </p:cNvPr>
          <p:cNvSpPr txBox="1"/>
          <p:nvPr/>
        </p:nvSpPr>
        <p:spPr>
          <a:xfrm>
            <a:off x="7251279" y="2739842"/>
            <a:ext cx="339187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Path Lengths and Times of Flight</a:t>
            </a:r>
          </a:p>
          <a:p>
            <a:r>
              <a:rPr lang="en-US" sz="1400" dirty="0"/>
              <a:t>1350 km Ground Distance</a:t>
            </a:r>
            <a:r>
              <a:rPr lang="en-US" sz="2800" dirty="0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D66F4D-72AA-D64E-B4E0-52B56E5CC05D}"/>
              </a:ext>
            </a:extLst>
          </p:cNvPr>
          <p:cNvSpPr/>
          <p:nvPr/>
        </p:nvSpPr>
        <p:spPr>
          <a:xfrm>
            <a:off x="7792667" y="3970259"/>
            <a:ext cx="357187" cy="8286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871792-9CF5-6B47-BEB1-8679C5288E5F}"/>
              </a:ext>
            </a:extLst>
          </p:cNvPr>
          <p:cNvSpPr txBox="1"/>
          <p:nvPr/>
        </p:nvSpPr>
        <p:spPr>
          <a:xfrm>
            <a:off x="7475387" y="3623628"/>
            <a:ext cx="991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 Region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1AA622-6A00-C349-8F3B-346A647500D8}"/>
              </a:ext>
            </a:extLst>
          </p:cNvPr>
          <p:cNvSpPr txBox="1"/>
          <p:nvPr/>
        </p:nvSpPr>
        <p:spPr>
          <a:xfrm>
            <a:off x="9254792" y="3137955"/>
            <a:ext cx="1102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F2 Region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FDDAD-3278-764E-B72C-D74029FB3DA5}"/>
              </a:ext>
            </a:extLst>
          </p:cNvPr>
          <p:cNvSpPr txBox="1"/>
          <p:nvPr/>
        </p:nvSpPr>
        <p:spPr>
          <a:xfrm>
            <a:off x="10407420" y="3132535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3-hop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DCBD41-0BAF-EEB2-5D9F-74450176A674}"/>
              </a:ext>
            </a:extLst>
          </p:cNvPr>
          <p:cNvSpPr txBox="1"/>
          <p:nvPr/>
        </p:nvSpPr>
        <p:spPr>
          <a:xfrm>
            <a:off x="11088105" y="4226993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5.00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B38695-4C42-5055-C355-EB286E65DA59}"/>
              </a:ext>
            </a:extLst>
          </p:cNvPr>
          <p:cNvSpPr txBox="1"/>
          <p:nvPr/>
        </p:nvSpPr>
        <p:spPr>
          <a:xfrm>
            <a:off x="11093617" y="3440448"/>
            <a:ext cx="49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8.33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073ABA-2776-21A2-721B-373B13BC444C}"/>
              </a:ext>
            </a:extLst>
          </p:cNvPr>
          <p:cNvSpPr txBox="1"/>
          <p:nvPr/>
        </p:nvSpPr>
        <p:spPr>
          <a:xfrm>
            <a:off x="11088105" y="3831759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6.67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DC5566-2C48-10FD-05F3-63257C9A7DC1}"/>
              </a:ext>
            </a:extLst>
          </p:cNvPr>
          <p:cNvSpPr txBox="1"/>
          <p:nvPr/>
        </p:nvSpPr>
        <p:spPr>
          <a:xfrm>
            <a:off x="11096717" y="3005573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10.0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82596C-0B86-CE53-9F00-E9C536D97334}"/>
              </a:ext>
            </a:extLst>
          </p:cNvPr>
          <p:cNvSpPr txBox="1"/>
          <p:nvPr/>
        </p:nvSpPr>
        <p:spPr>
          <a:xfrm>
            <a:off x="11088105" y="4660434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EE032-0D19-D0A1-0D2F-EDD1DF38FC84}"/>
              </a:ext>
            </a:extLst>
          </p:cNvPr>
          <p:cNvSpPr txBox="1"/>
          <p:nvPr/>
        </p:nvSpPr>
        <p:spPr>
          <a:xfrm>
            <a:off x="10902669" y="2685956"/>
            <a:ext cx="8296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TOF-mS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2BB14C2-6E0A-0C27-982E-E5E60FFB123C}"/>
              </a:ext>
            </a:extLst>
          </p:cNvPr>
          <p:cNvCxnSpPr>
            <a:cxnSpLocks/>
          </p:cNvCxnSpPr>
          <p:nvPr/>
        </p:nvCxnSpPr>
        <p:spPr>
          <a:xfrm>
            <a:off x="10050086" y="3831759"/>
            <a:ext cx="0" cy="276999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0516FE4-1838-25D5-335A-F3F38D093A40}"/>
              </a:ext>
            </a:extLst>
          </p:cNvPr>
          <p:cNvCxnSpPr>
            <a:cxnSpLocks/>
          </p:cNvCxnSpPr>
          <p:nvPr/>
        </p:nvCxnSpPr>
        <p:spPr>
          <a:xfrm flipH="1" flipV="1">
            <a:off x="10045107" y="4394561"/>
            <a:ext cx="4979" cy="265873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69B9E9D-BAA1-9825-78A5-D9548D4CB61B}"/>
              </a:ext>
            </a:extLst>
          </p:cNvPr>
          <p:cNvSpPr txBox="1"/>
          <p:nvPr/>
        </p:nvSpPr>
        <p:spPr>
          <a:xfrm>
            <a:off x="9808388" y="4099393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9C8FD3-1F86-1A22-88D5-4A6D1D469C83}"/>
              </a:ext>
            </a:extLst>
          </p:cNvPr>
          <p:cNvSpPr txBox="1"/>
          <p:nvPr/>
        </p:nvSpPr>
        <p:spPr>
          <a:xfrm>
            <a:off x="6553512" y="5382346"/>
            <a:ext cx="5470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 1c. TDOA Example: At 1350 km ground distance the Time Difference of Arrival between 1 and 2 hop modes is 0.67 ms at 225 km layer height and 1.10 ms at 300 km.  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8FFF975-4A9D-6430-FDCD-E10CB91FDAF2}"/>
              </a:ext>
            </a:extLst>
          </p:cNvPr>
          <p:cNvCxnSpPr>
            <a:cxnSpLocks/>
          </p:cNvCxnSpPr>
          <p:nvPr/>
        </p:nvCxnSpPr>
        <p:spPr>
          <a:xfrm>
            <a:off x="9236324" y="3984159"/>
            <a:ext cx="0" cy="276999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66E569-EAC1-2E09-560D-714A0AC47898}"/>
              </a:ext>
            </a:extLst>
          </p:cNvPr>
          <p:cNvCxnSpPr>
            <a:cxnSpLocks/>
          </p:cNvCxnSpPr>
          <p:nvPr/>
        </p:nvCxnSpPr>
        <p:spPr>
          <a:xfrm flipH="1" flipV="1">
            <a:off x="9248598" y="4460696"/>
            <a:ext cx="4979" cy="265873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23C5BA5-8E93-F53C-54E6-114A79015F36}"/>
              </a:ext>
            </a:extLst>
          </p:cNvPr>
          <p:cNvSpPr txBox="1"/>
          <p:nvPr/>
        </p:nvSpPr>
        <p:spPr>
          <a:xfrm>
            <a:off x="8994626" y="4200034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0.67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971CB-CC15-9AD6-7556-5389F6ADFF3D}"/>
              </a:ext>
            </a:extLst>
          </p:cNvPr>
          <p:cNvSpPr txBox="1"/>
          <p:nvPr/>
        </p:nvSpPr>
        <p:spPr>
          <a:xfrm>
            <a:off x="4107190" y="2107271"/>
            <a:ext cx="4762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1a. 1- and 2-hop Refraction from the F2 Layer.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3300D4-926D-D21E-043F-D43C6A70FA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797" y="3124386"/>
            <a:ext cx="5670124" cy="19220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B64056-9E10-A3BF-6024-6B697312E02D}"/>
              </a:ext>
            </a:extLst>
          </p:cNvPr>
          <p:cNvSpPr txBox="1"/>
          <p:nvPr/>
        </p:nvSpPr>
        <p:spPr>
          <a:xfrm>
            <a:off x="5677304" y="3487988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D59322-6AA5-F9CF-4197-C2646007FF61}"/>
              </a:ext>
            </a:extLst>
          </p:cNvPr>
          <p:cNvSpPr txBox="1"/>
          <p:nvPr/>
        </p:nvSpPr>
        <p:spPr>
          <a:xfrm>
            <a:off x="5721621" y="418204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062A041-80D5-0413-1BE0-11341DBCDC05}"/>
              </a:ext>
            </a:extLst>
          </p:cNvPr>
          <p:cNvCxnSpPr/>
          <p:nvPr/>
        </p:nvCxnSpPr>
        <p:spPr>
          <a:xfrm>
            <a:off x="3284699" y="3512778"/>
            <a:ext cx="0" cy="96468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55F2751-BECB-A199-6D4A-8DF23BA302CF}"/>
              </a:ext>
            </a:extLst>
          </p:cNvPr>
          <p:cNvSpPr txBox="1"/>
          <p:nvPr/>
        </p:nvSpPr>
        <p:spPr>
          <a:xfrm>
            <a:off x="3235712" y="37438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52AF9A-DCA4-65F2-95C5-34B909F1D4E5}"/>
              </a:ext>
            </a:extLst>
          </p:cNvPr>
          <p:cNvSpPr txBox="1"/>
          <p:nvPr/>
        </p:nvSpPr>
        <p:spPr>
          <a:xfrm>
            <a:off x="2409844" y="4629864"/>
            <a:ext cx="1749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Ground Distance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31B24DF-4D84-A748-424C-68D616CE50FC}"/>
              </a:ext>
            </a:extLst>
          </p:cNvPr>
          <p:cNvCxnSpPr/>
          <p:nvPr/>
        </p:nvCxnSpPr>
        <p:spPr>
          <a:xfrm>
            <a:off x="4104714" y="4552115"/>
            <a:ext cx="1290790" cy="2071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3CF3819-4CFE-46FE-A870-CE536B95094F}"/>
              </a:ext>
            </a:extLst>
          </p:cNvPr>
          <p:cNvCxnSpPr>
            <a:cxnSpLocks/>
          </p:cNvCxnSpPr>
          <p:nvPr/>
        </p:nvCxnSpPr>
        <p:spPr>
          <a:xfrm flipH="1">
            <a:off x="1119010" y="4551379"/>
            <a:ext cx="1492874" cy="22449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294DDCC-41DF-BED3-DDED-1440DC230C99}"/>
              </a:ext>
            </a:extLst>
          </p:cNvPr>
          <p:cNvCxnSpPr/>
          <p:nvPr/>
        </p:nvCxnSpPr>
        <p:spPr>
          <a:xfrm>
            <a:off x="2611884" y="4551379"/>
            <a:ext cx="149283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7F8266D-977F-15DA-BA4D-445C7F479203}"/>
              </a:ext>
            </a:extLst>
          </p:cNvPr>
          <p:cNvCxnSpPr>
            <a:cxnSpLocks/>
          </p:cNvCxnSpPr>
          <p:nvPr/>
        </p:nvCxnSpPr>
        <p:spPr>
          <a:xfrm flipH="1">
            <a:off x="4804756" y="2699215"/>
            <a:ext cx="873373" cy="69668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108EAD-0DB4-AC23-94C9-05C07C0C195D}"/>
              </a:ext>
            </a:extLst>
          </p:cNvPr>
          <p:cNvCxnSpPr>
            <a:cxnSpLocks/>
          </p:cNvCxnSpPr>
          <p:nvPr/>
        </p:nvCxnSpPr>
        <p:spPr>
          <a:xfrm>
            <a:off x="6137756" y="4726569"/>
            <a:ext cx="595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756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308599-691F-04CE-A5CE-BB778BE2AD3E}"/>
              </a:ext>
            </a:extLst>
          </p:cNvPr>
          <p:cNvSpPr/>
          <p:nvPr/>
        </p:nvSpPr>
        <p:spPr>
          <a:xfrm>
            <a:off x="1905000" y="1066800"/>
            <a:ext cx="9905991" cy="1048174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55000"/>
                  <a:lumOff val="45000"/>
                </a:schemeClr>
              </a:gs>
              <a:gs pos="60000">
                <a:schemeClr val="accent6">
                  <a:alpha val="70000"/>
                  <a:lumMod val="55000"/>
                  <a:lumOff val="4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Day ~ 300 km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Night ~ 220 km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48B07D-2A34-1221-5BC4-53E1ED86DFC5}"/>
              </a:ext>
            </a:extLst>
          </p:cNvPr>
          <p:cNvSpPr/>
          <p:nvPr/>
        </p:nvSpPr>
        <p:spPr>
          <a:xfrm>
            <a:off x="1905001" y="2953174"/>
            <a:ext cx="9905990" cy="4000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38000">
                <a:schemeClr val="accent6">
                  <a:alpha val="70000"/>
                  <a:lumMod val="90000"/>
                  <a:lumOff val="10000"/>
                </a:schemeClr>
              </a:gs>
              <a:gs pos="70000">
                <a:schemeClr val="accent6">
                  <a:alpha val="70000"/>
                  <a:lumMod val="90000"/>
                  <a:lumOff val="10000"/>
                </a:schemeClr>
              </a:gs>
              <a:gs pos="100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7C750407-D8F7-E829-99ED-A7C06918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8845"/>
            <a:ext cx="11201391" cy="11481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Simplified 1 and 2 Hop Refraction from The F2 Region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45675A-4513-2095-EA42-2CF975CF0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4458124"/>
            <a:ext cx="11658600" cy="226335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UV and X radiation from the sun photoionize the upper atmosphere into free electrons and positively charged ions.</a:t>
            </a:r>
          </a:p>
          <a:p>
            <a:r>
              <a:rPr lang="en-US" dirty="0"/>
              <a:t>Complex photochemical reactions with oxygen, ozone, nitrogen, and nitrous oxide arrange the ionization into layers labeled D, E, and F (F1 and F2).</a:t>
            </a:r>
          </a:p>
          <a:p>
            <a:r>
              <a:rPr lang="en-US" dirty="0"/>
              <a:t>Velocity gradients in the ionized layers refract upward directed radio waves back to earth. Multiple hops involving reflection from the earth and other layers are possible, enabling global radio propagation.</a:t>
            </a:r>
          </a:p>
          <a:p>
            <a:r>
              <a:rPr lang="en-US" dirty="0"/>
              <a:t>Most HF radio propagation comes from the E and F layers. The D layer primarily acts as an attenuator with attenuation increasing with wavelength.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233D06-8B3D-8444-1139-D7AA71062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02E099-75C6-4785-BA6C-247B514205D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EE0A3A-1EC2-D9B8-FAF4-5562227820FC}"/>
              </a:ext>
            </a:extLst>
          </p:cNvPr>
          <p:cNvSpPr/>
          <p:nvPr/>
        </p:nvSpPr>
        <p:spPr>
          <a:xfrm>
            <a:off x="1904999" y="2642023"/>
            <a:ext cx="9925041" cy="387351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75000"/>
                  <a:lumOff val="25000"/>
                </a:schemeClr>
              </a:gs>
              <a:gs pos="60000">
                <a:schemeClr val="accent6">
                  <a:alpha val="70000"/>
                  <a:lumMod val="75000"/>
                  <a:lumOff val="2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F07A9-0994-5249-0248-D92EF3FE271E}"/>
              </a:ext>
            </a:extLst>
          </p:cNvPr>
          <p:cNvSpPr/>
          <p:nvPr/>
        </p:nvSpPr>
        <p:spPr>
          <a:xfrm>
            <a:off x="1905000" y="3638974"/>
            <a:ext cx="9906000" cy="685800"/>
          </a:xfrm>
          <a:prstGeom prst="rect">
            <a:avLst/>
          </a:prstGeom>
          <a:solidFill>
            <a:srgbClr val="0BFF0B">
              <a:alpha val="5948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Great Circle Ground Distance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9E2B7-1BBF-CE30-67D3-A898579DE581}"/>
              </a:ext>
            </a:extLst>
          </p:cNvPr>
          <p:cNvCxnSpPr>
            <a:cxnSpLocks/>
          </p:cNvCxnSpPr>
          <p:nvPr/>
        </p:nvCxnSpPr>
        <p:spPr>
          <a:xfrm>
            <a:off x="23622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FA0267-5860-453B-767D-7F785CAE7161}"/>
              </a:ext>
            </a:extLst>
          </p:cNvPr>
          <p:cNvCxnSpPr>
            <a:cxnSpLocks/>
          </p:cNvCxnSpPr>
          <p:nvPr/>
        </p:nvCxnSpPr>
        <p:spPr>
          <a:xfrm>
            <a:off x="113538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BA8C3A4A-829A-A135-BE71-23C083E5245C}"/>
              </a:ext>
            </a:extLst>
          </p:cNvPr>
          <p:cNvSpPr/>
          <p:nvPr/>
        </p:nvSpPr>
        <p:spPr>
          <a:xfrm>
            <a:off x="2419350" y="1708575"/>
            <a:ext cx="8953481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F20FD3C-3CC1-F35A-7632-0601E8FAF9DC}"/>
              </a:ext>
            </a:extLst>
          </p:cNvPr>
          <p:cNvSpPr/>
          <p:nvPr/>
        </p:nvSpPr>
        <p:spPr>
          <a:xfrm>
            <a:off x="2381237" y="1708574"/>
            <a:ext cx="4476789" cy="193040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BB471CC-75F5-27EA-5752-EB1A90E5CF42}"/>
              </a:ext>
            </a:extLst>
          </p:cNvPr>
          <p:cNvSpPr/>
          <p:nvPr/>
        </p:nvSpPr>
        <p:spPr>
          <a:xfrm flipH="1">
            <a:off x="6858024" y="1651424"/>
            <a:ext cx="4476739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6F71B9D-4FB3-A1A2-C100-AA4D03C41F6D}"/>
              </a:ext>
            </a:extLst>
          </p:cNvPr>
          <p:cNvCxnSpPr/>
          <p:nvPr/>
        </p:nvCxnSpPr>
        <p:spPr>
          <a:xfrm>
            <a:off x="11372832" y="3772325"/>
            <a:ext cx="0" cy="40004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DFD335-EC17-5895-B25E-C76B41DE1BBE}"/>
              </a:ext>
            </a:extLst>
          </p:cNvPr>
          <p:cNvCxnSpPr/>
          <p:nvPr/>
        </p:nvCxnSpPr>
        <p:spPr>
          <a:xfrm>
            <a:off x="2362200" y="3543725"/>
            <a:ext cx="0" cy="40004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57440DC-1815-27EC-5707-63934B551347}"/>
              </a:ext>
            </a:extLst>
          </p:cNvPr>
          <p:cNvCxnSpPr/>
          <p:nvPr/>
        </p:nvCxnSpPr>
        <p:spPr>
          <a:xfrm>
            <a:off x="8966200" y="4019974"/>
            <a:ext cx="240663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1362CF-ADAB-EE86-144D-7B9A4DC81E2E}"/>
              </a:ext>
            </a:extLst>
          </p:cNvPr>
          <p:cNvCxnSpPr/>
          <p:nvPr/>
        </p:nvCxnSpPr>
        <p:spPr>
          <a:xfrm flipH="1">
            <a:off x="2362200" y="4019974"/>
            <a:ext cx="24384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71D2E9D-B218-50E0-7BB2-1C47CABAC31B}"/>
              </a:ext>
            </a:extLst>
          </p:cNvPr>
          <p:cNvSpPr txBox="1"/>
          <p:nvPr/>
        </p:nvSpPr>
        <p:spPr>
          <a:xfrm>
            <a:off x="220102" y="1197030"/>
            <a:ext cx="16658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F2 Region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200-330 km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13C780-0A3A-4695-2C7C-23D3153DD7A2}"/>
              </a:ext>
            </a:extLst>
          </p:cNvPr>
          <p:cNvSpPr txBox="1"/>
          <p:nvPr/>
        </p:nvSpPr>
        <p:spPr>
          <a:xfrm>
            <a:off x="366197" y="2655455"/>
            <a:ext cx="1431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 100-115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B6A88E-80DD-ECE3-4D92-44D05F48E559}"/>
              </a:ext>
            </a:extLst>
          </p:cNvPr>
          <p:cNvSpPr txBox="1"/>
          <p:nvPr/>
        </p:nvSpPr>
        <p:spPr>
          <a:xfrm>
            <a:off x="366197" y="2986384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 60-90</a:t>
            </a:r>
          </a:p>
        </p:txBody>
      </p:sp>
    </p:spTree>
    <p:extLst>
      <p:ext uri="{BB962C8B-B14F-4D97-AF65-F5344CB8AC3E}">
        <p14:creationId xmlns:p14="http://schemas.microsoft.com/office/powerpoint/2010/main" val="2480815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308599-691F-04CE-A5CE-BB778BE2AD3E}"/>
              </a:ext>
            </a:extLst>
          </p:cNvPr>
          <p:cNvSpPr/>
          <p:nvPr/>
        </p:nvSpPr>
        <p:spPr>
          <a:xfrm>
            <a:off x="1905000" y="1066800"/>
            <a:ext cx="9905991" cy="1048174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55000"/>
                  <a:lumOff val="45000"/>
                </a:schemeClr>
              </a:gs>
              <a:gs pos="60000">
                <a:schemeClr val="accent6">
                  <a:alpha val="70000"/>
                  <a:lumMod val="55000"/>
                  <a:lumOff val="4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Day ~ 300 km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Night ~ 220 km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48B07D-2A34-1221-5BC4-53E1ED86DFC5}"/>
              </a:ext>
            </a:extLst>
          </p:cNvPr>
          <p:cNvSpPr/>
          <p:nvPr/>
        </p:nvSpPr>
        <p:spPr>
          <a:xfrm>
            <a:off x="1905001" y="2953174"/>
            <a:ext cx="9905990" cy="4000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38000">
                <a:schemeClr val="accent6">
                  <a:alpha val="70000"/>
                  <a:lumMod val="90000"/>
                  <a:lumOff val="10000"/>
                </a:schemeClr>
              </a:gs>
              <a:gs pos="70000">
                <a:schemeClr val="accent6">
                  <a:alpha val="70000"/>
                  <a:lumMod val="90000"/>
                  <a:lumOff val="10000"/>
                </a:schemeClr>
              </a:gs>
              <a:gs pos="100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7C750407-D8F7-E829-99ED-A7C06918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09" y="59604"/>
            <a:ext cx="12095181" cy="1071984"/>
          </a:xfrm>
        </p:spPr>
        <p:txBody>
          <a:bodyPr>
            <a:normAutofit fontScale="90000"/>
          </a:bodyPr>
          <a:lstStyle/>
          <a:p>
            <a:r>
              <a:rPr lang="en-US" dirty="0"/>
              <a:t>Simultaneous 1 Hop Refraction from the E and F2 Regions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45675A-4513-2095-EA42-2CF975CF0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4458124"/>
            <a:ext cx="11658600" cy="226335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UV and X radiation from the sun photoionize the upper atmosphere into free electrons and positively charged ions.</a:t>
            </a:r>
          </a:p>
          <a:p>
            <a:r>
              <a:rPr lang="en-US" dirty="0"/>
              <a:t>Complex photochemical reactions with oxygen, ozone, nitrogen, and nitrous oxide arrange the ionization into layers labeled D, E, and F (F1 and F2).</a:t>
            </a:r>
          </a:p>
          <a:p>
            <a:r>
              <a:rPr lang="en-US" dirty="0"/>
              <a:t>Velocity gradients in the ionized layers refract upward directed radio waves back to earth. Multiple hops involving reflection from the earth and other layers are possible, enabling global radio propagation.</a:t>
            </a:r>
          </a:p>
          <a:p>
            <a:r>
              <a:rPr lang="en-US" dirty="0"/>
              <a:t>Most HF radio propagation comes from the E and F layers. The D layer primarily acts as an attenuator with attenuation increasing with wavelength.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233D06-8B3D-8444-1139-D7AA71062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02E099-75C6-4785-BA6C-247B514205D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EE0A3A-1EC2-D9B8-FAF4-5562227820FC}"/>
              </a:ext>
            </a:extLst>
          </p:cNvPr>
          <p:cNvSpPr/>
          <p:nvPr/>
        </p:nvSpPr>
        <p:spPr>
          <a:xfrm>
            <a:off x="1904999" y="2642023"/>
            <a:ext cx="9925041" cy="387351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75000"/>
                  <a:lumOff val="25000"/>
                </a:schemeClr>
              </a:gs>
              <a:gs pos="60000">
                <a:schemeClr val="accent6">
                  <a:alpha val="70000"/>
                  <a:lumMod val="75000"/>
                  <a:lumOff val="2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F07A9-0994-5249-0248-D92EF3FE271E}"/>
              </a:ext>
            </a:extLst>
          </p:cNvPr>
          <p:cNvSpPr/>
          <p:nvPr/>
        </p:nvSpPr>
        <p:spPr>
          <a:xfrm>
            <a:off x="1905000" y="3638974"/>
            <a:ext cx="9906000" cy="685800"/>
          </a:xfrm>
          <a:prstGeom prst="rect">
            <a:avLst/>
          </a:prstGeom>
          <a:solidFill>
            <a:srgbClr val="0BFF0B">
              <a:alpha val="5948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Great Circle Ground Distance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9E2B7-1BBF-CE30-67D3-A898579DE581}"/>
              </a:ext>
            </a:extLst>
          </p:cNvPr>
          <p:cNvCxnSpPr>
            <a:cxnSpLocks/>
          </p:cNvCxnSpPr>
          <p:nvPr/>
        </p:nvCxnSpPr>
        <p:spPr>
          <a:xfrm>
            <a:off x="23622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FA0267-5860-453B-767D-7F785CAE7161}"/>
              </a:ext>
            </a:extLst>
          </p:cNvPr>
          <p:cNvCxnSpPr>
            <a:cxnSpLocks/>
          </p:cNvCxnSpPr>
          <p:nvPr/>
        </p:nvCxnSpPr>
        <p:spPr>
          <a:xfrm>
            <a:off x="113538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BA8C3A4A-829A-A135-BE71-23C083E5245C}"/>
              </a:ext>
            </a:extLst>
          </p:cNvPr>
          <p:cNvSpPr/>
          <p:nvPr/>
        </p:nvSpPr>
        <p:spPr>
          <a:xfrm>
            <a:off x="2419351" y="1535000"/>
            <a:ext cx="8915400" cy="2128851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F20FD3C-3CC1-F35A-7632-0601E8FAF9DC}"/>
              </a:ext>
            </a:extLst>
          </p:cNvPr>
          <p:cNvSpPr/>
          <p:nvPr/>
        </p:nvSpPr>
        <p:spPr>
          <a:xfrm>
            <a:off x="2381237" y="2848784"/>
            <a:ext cx="8915407" cy="800948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6F71B9D-4FB3-A1A2-C100-AA4D03C41F6D}"/>
              </a:ext>
            </a:extLst>
          </p:cNvPr>
          <p:cNvCxnSpPr/>
          <p:nvPr/>
        </p:nvCxnSpPr>
        <p:spPr>
          <a:xfrm>
            <a:off x="11372832" y="3772325"/>
            <a:ext cx="0" cy="40004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DFD335-EC17-5895-B25E-C76B41DE1BBE}"/>
              </a:ext>
            </a:extLst>
          </p:cNvPr>
          <p:cNvCxnSpPr/>
          <p:nvPr/>
        </p:nvCxnSpPr>
        <p:spPr>
          <a:xfrm>
            <a:off x="2362200" y="3543725"/>
            <a:ext cx="0" cy="40004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57440DC-1815-27EC-5707-63934B551347}"/>
              </a:ext>
            </a:extLst>
          </p:cNvPr>
          <p:cNvCxnSpPr/>
          <p:nvPr/>
        </p:nvCxnSpPr>
        <p:spPr>
          <a:xfrm>
            <a:off x="8966200" y="4019974"/>
            <a:ext cx="240663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1362CF-ADAB-EE86-144D-7B9A4DC81E2E}"/>
              </a:ext>
            </a:extLst>
          </p:cNvPr>
          <p:cNvCxnSpPr/>
          <p:nvPr/>
        </p:nvCxnSpPr>
        <p:spPr>
          <a:xfrm flipH="1">
            <a:off x="2362200" y="4019974"/>
            <a:ext cx="24384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71D2E9D-B218-50E0-7BB2-1C47CABAC31B}"/>
              </a:ext>
            </a:extLst>
          </p:cNvPr>
          <p:cNvSpPr txBox="1"/>
          <p:nvPr/>
        </p:nvSpPr>
        <p:spPr>
          <a:xfrm>
            <a:off x="220102" y="1197030"/>
            <a:ext cx="16658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F2 Region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200-330 km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13C780-0A3A-4695-2C7C-23D3153DD7A2}"/>
              </a:ext>
            </a:extLst>
          </p:cNvPr>
          <p:cNvSpPr txBox="1"/>
          <p:nvPr/>
        </p:nvSpPr>
        <p:spPr>
          <a:xfrm>
            <a:off x="366197" y="2655455"/>
            <a:ext cx="1431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 100-115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B6A88E-80DD-ECE3-4D92-44D05F48E559}"/>
              </a:ext>
            </a:extLst>
          </p:cNvPr>
          <p:cNvSpPr txBox="1"/>
          <p:nvPr/>
        </p:nvSpPr>
        <p:spPr>
          <a:xfrm>
            <a:off x="366197" y="2986384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 60-90</a:t>
            </a:r>
          </a:p>
        </p:txBody>
      </p:sp>
    </p:spTree>
    <p:extLst>
      <p:ext uri="{BB962C8B-B14F-4D97-AF65-F5344CB8AC3E}">
        <p14:creationId xmlns:p14="http://schemas.microsoft.com/office/powerpoint/2010/main" val="4216973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A7DBA5-68D2-980D-13B0-91AE32C5A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49C0BF-85BD-B192-FF29-0BFB1438DC98}"/>
              </a:ext>
            </a:extLst>
          </p:cNvPr>
          <p:cNvSpPr/>
          <p:nvPr/>
        </p:nvSpPr>
        <p:spPr>
          <a:xfrm>
            <a:off x="435077" y="12241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90006B-C3EC-62BB-5CBA-B511C761F2CF}"/>
              </a:ext>
            </a:extLst>
          </p:cNvPr>
          <p:cNvSpPr txBox="1"/>
          <p:nvPr/>
        </p:nvSpPr>
        <p:spPr>
          <a:xfrm>
            <a:off x="435077" y="1367135"/>
            <a:ext cx="1790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Computer with .wav Chirp Waveform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1AC8F0-4F8B-D3BA-1896-C87E3D20A259}"/>
              </a:ext>
            </a:extLst>
          </p:cNvPr>
          <p:cNvSpPr txBox="1"/>
          <p:nvPr/>
        </p:nvSpPr>
        <p:spPr>
          <a:xfrm>
            <a:off x="1972789" y="1505634"/>
            <a:ext cx="630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Sound</a:t>
            </a:r>
          </a:p>
          <a:p>
            <a:r>
              <a:rPr lang="en-US" sz="1200" dirty="0"/>
              <a:t>Card</a:t>
            </a:r>
          </a:p>
          <a:p>
            <a:r>
              <a:rPr lang="en-US" sz="1200" dirty="0"/>
              <a:t>Output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A5B00-8647-C9D1-0315-83C5DD7C9412}"/>
              </a:ext>
            </a:extLst>
          </p:cNvPr>
          <p:cNvSpPr/>
          <p:nvPr/>
        </p:nvSpPr>
        <p:spPr>
          <a:xfrm>
            <a:off x="2854427" y="12241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F2BD3-FF09-821B-21F3-9D26EB34FE2C}"/>
              </a:ext>
            </a:extLst>
          </p:cNvPr>
          <p:cNvSpPr txBox="1"/>
          <p:nvPr/>
        </p:nvSpPr>
        <p:spPr>
          <a:xfrm>
            <a:off x="3657142" y="1505633"/>
            <a:ext cx="1279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HF</a:t>
            </a:r>
          </a:p>
          <a:p>
            <a:pPr algn="ctr"/>
            <a:r>
              <a:rPr lang="en-US" dirty="0"/>
              <a:t>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694ED3-33A4-028F-67E3-F820054D6CA7}"/>
              </a:ext>
            </a:extLst>
          </p:cNvPr>
          <p:cNvSpPr txBox="1"/>
          <p:nvPr/>
        </p:nvSpPr>
        <p:spPr>
          <a:xfrm>
            <a:off x="2830039" y="1524684"/>
            <a:ext cx="741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Mic</a:t>
            </a:r>
          </a:p>
          <a:p>
            <a:r>
              <a:rPr lang="en-US" sz="1200" dirty="0"/>
              <a:t>Input</a:t>
            </a:r>
          </a:p>
          <a:p>
            <a:r>
              <a:rPr lang="en-US" sz="1200" dirty="0"/>
              <a:t>Interface</a:t>
            </a:r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D81948C7-2D5D-6979-1181-BA9FE14724A7}"/>
              </a:ext>
            </a:extLst>
          </p:cNvPr>
          <p:cNvSpPr/>
          <p:nvPr/>
        </p:nvSpPr>
        <p:spPr>
          <a:xfrm rot="10800000">
            <a:off x="5162550" y="1224116"/>
            <a:ext cx="647700" cy="452284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BF94B2E-45CF-F163-BC19-54CD8A57EF64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2603090" y="1847850"/>
            <a:ext cx="22694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290ED2-1F6A-74CB-7CD5-FF01D2873EAA}"/>
              </a:ext>
            </a:extLst>
          </p:cNvPr>
          <p:cNvCxnSpPr>
            <a:stCxn id="13" idx="0"/>
          </p:cNvCxnSpPr>
          <p:nvPr/>
        </p:nvCxnSpPr>
        <p:spPr>
          <a:xfrm>
            <a:off x="5486400" y="1676400"/>
            <a:ext cx="0" cy="15239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626060-9708-62A5-F860-8DFB8A70266B}"/>
              </a:ext>
            </a:extLst>
          </p:cNvPr>
          <p:cNvCxnSpPr>
            <a:cxnSpLocks/>
          </p:cNvCxnSpPr>
          <p:nvPr/>
        </p:nvCxnSpPr>
        <p:spPr>
          <a:xfrm flipH="1">
            <a:off x="5022440" y="1828800"/>
            <a:ext cx="4639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66394AE-2461-A493-EED8-35EBFCA5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0" y="1181099"/>
            <a:ext cx="3189542" cy="120936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97FA63F-8A35-9F00-F8C8-1D9EA5A737E6}"/>
              </a:ext>
            </a:extLst>
          </p:cNvPr>
          <p:cNvSpPr/>
          <p:nvPr/>
        </p:nvSpPr>
        <p:spPr>
          <a:xfrm>
            <a:off x="1905000" y="3140530"/>
            <a:ext cx="9905991" cy="1048174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55000"/>
                  <a:lumOff val="45000"/>
                </a:schemeClr>
              </a:gs>
              <a:gs pos="60000">
                <a:schemeClr val="accent6">
                  <a:alpha val="70000"/>
                  <a:lumMod val="55000"/>
                  <a:lumOff val="4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Night ~ 300 km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Day ~ 220 km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4DD8F7-51A0-8869-4FE1-E182DE67205B}"/>
              </a:ext>
            </a:extLst>
          </p:cNvPr>
          <p:cNvSpPr/>
          <p:nvPr/>
        </p:nvSpPr>
        <p:spPr>
          <a:xfrm>
            <a:off x="1905001" y="5026904"/>
            <a:ext cx="9905990" cy="4000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38000">
                <a:schemeClr val="accent6">
                  <a:alpha val="70000"/>
                  <a:lumMod val="90000"/>
                  <a:lumOff val="10000"/>
                </a:schemeClr>
              </a:gs>
              <a:gs pos="70000">
                <a:schemeClr val="accent6">
                  <a:alpha val="70000"/>
                  <a:lumMod val="90000"/>
                  <a:lumOff val="10000"/>
                </a:schemeClr>
              </a:gs>
              <a:gs pos="100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CE5726-83F2-24C1-6679-236F377F4279}"/>
              </a:ext>
            </a:extLst>
          </p:cNvPr>
          <p:cNvSpPr/>
          <p:nvPr/>
        </p:nvSpPr>
        <p:spPr>
          <a:xfrm>
            <a:off x="1904999" y="4715753"/>
            <a:ext cx="9925041" cy="387351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75000"/>
                  <a:lumOff val="25000"/>
                </a:schemeClr>
              </a:gs>
              <a:gs pos="60000">
                <a:schemeClr val="accent6">
                  <a:alpha val="70000"/>
                  <a:lumMod val="75000"/>
                  <a:lumOff val="2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59871B-107C-2E4F-B60A-CADF1F6788A3}"/>
              </a:ext>
            </a:extLst>
          </p:cNvPr>
          <p:cNvSpPr/>
          <p:nvPr/>
        </p:nvSpPr>
        <p:spPr>
          <a:xfrm>
            <a:off x="1905000" y="5712704"/>
            <a:ext cx="9906000" cy="685800"/>
          </a:xfrm>
          <a:prstGeom prst="rect">
            <a:avLst/>
          </a:prstGeom>
          <a:solidFill>
            <a:srgbClr val="0BFF0B">
              <a:alpha val="5948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31A735-D2F5-5624-59C3-CD126508E661}"/>
              </a:ext>
            </a:extLst>
          </p:cNvPr>
          <p:cNvCxnSpPr>
            <a:cxnSpLocks/>
          </p:cNvCxnSpPr>
          <p:nvPr/>
        </p:nvCxnSpPr>
        <p:spPr>
          <a:xfrm>
            <a:off x="2362200" y="548410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8452694-CC18-261B-45CE-B6DCF29C58CE}"/>
              </a:ext>
            </a:extLst>
          </p:cNvPr>
          <p:cNvCxnSpPr>
            <a:cxnSpLocks/>
          </p:cNvCxnSpPr>
          <p:nvPr/>
        </p:nvCxnSpPr>
        <p:spPr>
          <a:xfrm>
            <a:off x="11353800" y="548410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BE453093-8264-0FEA-A97C-11E43175EA59}"/>
              </a:ext>
            </a:extLst>
          </p:cNvPr>
          <p:cNvSpPr/>
          <p:nvPr/>
        </p:nvSpPr>
        <p:spPr>
          <a:xfrm>
            <a:off x="2419350" y="3782305"/>
            <a:ext cx="8953481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6022402-41E7-179A-3473-FC37EB599AEC}"/>
              </a:ext>
            </a:extLst>
          </p:cNvPr>
          <p:cNvSpPr/>
          <p:nvPr/>
        </p:nvSpPr>
        <p:spPr>
          <a:xfrm>
            <a:off x="2381237" y="3782304"/>
            <a:ext cx="4476789" cy="193040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4386DADC-1F53-81EA-9A7F-C8231E9789EF}"/>
              </a:ext>
            </a:extLst>
          </p:cNvPr>
          <p:cNvSpPr/>
          <p:nvPr/>
        </p:nvSpPr>
        <p:spPr>
          <a:xfrm flipH="1">
            <a:off x="6858024" y="3725154"/>
            <a:ext cx="4476739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FA03A1-B18F-85CF-094E-86069F29DCB4}"/>
              </a:ext>
            </a:extLst>
          </p:cNvPr>
          <p:cNvSpPr txBox="1"/>
          <p:nvPr/>
        </p:nvSpPr>
        <p:spPr>
          <a:xfrm>
            <a:off x="220102" y="3270760"/>
            <a:ext cx="16658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F2 Region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200-350 km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6FBED5-E64A-B5F3-2509-646A0B8CE51B}"/>
              </a:ext>
            </a:extLst>
          </p:cNvPr>
          <p:cNvSpPr txBox="1"/>
          <p:nvPr/>
        </p:nvSpPr>
        <p:spPr>
          <a:xfrm>
            <a:off x="366197" y="4729185"/>
            <a:ext cx="1276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 90-120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1D414C-4ABF-98F9-8FC1-C71BEAFBD325}"/>
              </a:ext>
            </a:extLst>
          </p:cNvPr>
          <p:cNvSpPr txBox="1"/>
          <p:nvPr/>
        </p:nvSpPr>
        <p:spPr>
          <a:xfrm>
            <a:off x="366197" y="5060114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 60-90</a:t>
            </a:r>
          </a:p>
        </p:txBody>
      </p:sp>
    </p:spTree>
    <p:extLst>
      <p:ext uri="{BB962C8B-B14F-4D97-AF65-F5344CB8AC3E}">
        <p14:creationId xmlns:p14="http://schemas.microsoft.com/office/powerpoint/2010/main" val="1013035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308599-691F-04CE-A5CE-BB778BE2AD3E}"/>
              </a:ext>
            </a:extLst>
          </p:cNvPr>
          <p:cNvSpPr/>
          <p:nvPr/>
        </p:nvSpPr>
        <p:spPr>
          <a:xfrm>
            <a:off x="1905000" y="1066800"/>
            <a:ext cx="9905991" cy="1048174"/>
          </a:xfrm>
          <a:prstGeom prst="rect">
            <a:avLst/>
          </a:prstGeom>
          <a:gradFill>
            <a:gsLst>
              <a:gs pos="15000">
                <a:schemeClr val="accent6">
                  <a:lumMod val="5000"/>
                  <a:lumOff val="95000"/>
                </a:schemeClr>
              </a:gs>
              <a:gs pos="40000">
                <a:schemeClr val="accent6">
                  <a:alpha val="70000"/>
                  <a:lumMod val="55000"/>
                  <a:lumOff val="45000"/>
                </a:schemeClr>
              </a:gs>
              <a:gs pos="60000">
                <a:schemeClr val="accent6">
                  <a:alpha val="70000"/>
                  <a:lumMod val="55000"/>
                  <a:lumOff val="45000"/>
                </a:schemeClr>
              </a:gs>
              <a:gs pos="85000">
                <a:schemeClr val="accent6">
                  <a:lumMod val="5167"/>
                  <a:lumOff val="94833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F07A9-0994-5249-0248-D92EF3FE271E}"/>
              </a:ext>
            </a:extLst>
          </p:cNvPr>
          <p:cNvSpPr/>
          <p:nvPr/>
        </p:nvSpPr>
        <p:spPr>
          <a:xfrm>
            <a:off x="1905000" y="3638974"/>
            <a:ext cx="9906000" cy="685800"/>
          </a:xfrm>
          <a:prstGeom prst="rect">
            <a:avLst/>
          </a:prstGeom>
          <a:solidFill>
            <a:srgbClr val="0BFF0B">
              <a:alpha val="5948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rgbClr val="00206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9E2B7-1BBF-CE30-67D3-A898579DE581}"/>
              </a:ext>
            </a:extLst>
          </p:cNvPr>
          <p:cNvCxnSpPr>
            <a:cxnSpLocks/>
          </p:cNvCxnSpPr>
          <p:nvPr/>
        </p:nvCxnSpPr>
        <p:spPr>
          <a:xfrm>
            <a:off x="23622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FA0267-5860-453B-767D-7F785CAE7161}"/>
              </a:ext>
            </a:extLst>
          </p:cNvPr>
          <p:cNvCxnSpPr>
            <a:cxnSpLocks/>
          </p:cNvCxnSpPr>
          <p:nvPr/>
        </p:nvCxnSpPr>
        <p:spPr>
          <a:xfrm>
            <a:off x="11353800" y="3410374"/>
            <a:ext cx="0" cy="22860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BA8C3A4A-829A-A135-BE71-23C083E5245C}"/>
              </a:ext>
            </a:extLst>
          </p:cNvPr>
          <p:cNvSpPr/>
          <p:nvPr/>
        </p:nvSpPr>
        <p:spPr>
          <a:xfrm>
            <a:off x="2419350" y="1708575"/>
            <a:ext cx="8953481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F20FD3C-3CC1-F35A-7632-0601E8FAF9DC}"/>
              </a:ext>
            </a:extLst>
          </p:cNvPr>
          <p:cNvSpPr/>
          <p:nvPr/>
        </p:nvSpPr>
        <p:spPr>
          <a:xfrm>
            <a:off x="2381237" y="1708574"/>
            <a:ext cx="4476789" cy="193040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BB471CC-75F5-27EA-5752-EB1A90E5CF42}"/>
              </a:ext>
            </a:extLst>
          </p:cNvPr>
          <p:cNvSpPr/>
          <p:nvPr/>
        </p:nvSpPr>
        <p:spPr>
          <a:xfrm flipH="1">
            <a:off x="6858024" y="1651424"/>
            <a:ext cx="4476739" cy="1987550"/>
          </a:xfrm>
          <a:custGeom>
            <a:avLst/>
            <a:gdLst>
              <a:gd name="connsiteX0" fmla="*/ 0 w 8953500"/>
              <a:gd name="connsiteY0" fmla="*/ 3029073 h 3124323"/>
              <a:gd name="connsiteX1" fmla="*/ 4324350 w 8953500"/>
              <a:gd name="connsiteY1" fmla="*/ 123 h 3124323"/>
              <a:gd name="connsiteX2" fmla="*/ 8953500 w 8953500"/>
              <a:gd name="connsiteY2" fmla="*/ 3124323 h 312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53500" h="3124323">
                <a:moveTo>
                  <a:pt x="0" y="3029073"/>
                </a:moveTo>
                <a:cubicBezTo>
                  <a:pt x="1416050" y="1506660"/>
                  <a:pt x="2832100" y="-15752"/>
                  <a:pt x="4324350" y="123"/>
                </a:cubicBezTo>
                <a:cubicBezTo>
                  <a:pt x="5816600" y="15998"/>
                  <a:pt x="7385050" y="1570160"/>
                  <a:pt x="8953500" y="3124323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680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A7DBA5-68D2-980D-13B0-91AE32C5A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7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49C0BF-85BD-B192-FF29-0BFB1438DC98}"/>
              </a:ext>
            </a:extLst>
          </p:cNvPr>
          <p:cNvSpPr/>
          <p:nvPr/>
        </p:nvSpPr>
        <p:spPr>
          <a:xfrm>
            <a:off x="720827" y="14146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90006B-C3EC-62BB-5CBA-B511C761F2CF}"/>
              </a:ext>
            </a:extLst>
          </p:cNvPr>
          <p:cNvSpPr txBox="1"/>
          <p:nvPr/>
        </p:nvSpPr>
        <p:spPr>
          <a:xfrm>
            <a:off x="720827" y="1557635"/>
            <a:ext cx="2082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with .wav Chirp Waveform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1AC8F0-4F8B-D3BA-1896-C87E3D20A259}"/>
              </a:ext>
            </a:extLst>
          </p:cNvPr>
          <p:cNvSpPr txBox="1"/>
          <p:nvPr/>
        </p:nvSpPr>
        <p:spPr>
          <a:xfrm>
            <a:off x="1048767" y="2294084"/>
            <a:ext cx="1674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Sound Card Output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A5B00-8647-C9D1-0315-83C5DD7C9412}"/>
              </a:ext>
            </a:extLst>
          </p:cNvPr>
          <p:cNvSpPr/>
          <p:nvPr/>
        </p:nvSpPr>
        <p:spPr>
          <a:xfrm>
            <a:off x="720827" y="29005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F2BD3-FF09-821B-21F3-9D26EB34FE2C}"/>
              </a:ext>
            </a:extLst>
          </p:cNvPr>
          <p:cNvSpPr txBox="1"/>
          <p:nvPr/>
        </p:nvSpPr>
        <p:spPr>
          <a:xfrm>
            <a:off x="977823" y="3227343"/>
            <a:ext cx="15769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 or SSB</a:t>
            </a:r>
          </a:p>
          <a:p>
            <a:pPr algn="ctr"/>
            <a:r>
              <a:rPr lang="en-US" dirty="0"/>
              <a:t>HF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694ED3-33A4-028F-67E3-F820054D6CA7}"/>
              </a:ext>
            </a:extLst>
          </p:cNvPr>
          <p:cNvSpPr txBox="1"/>
          <p:nvPr/>
        </p:nvSpPr>
        <p:spPr>
          <a:xfrm>
            <a:off x="1048767" y="2900513"/>
            <a:ext cx="1576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Mic Input Interface</a:t>
            </a:r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D81948C7-2D5D-6979-1181-BA9FE14724A7}"/>
              </a:ext>
            </a:extLst>
          </p:cNvPr>
          <p:cNvSpPr/>
          <p:nvPr/>
        </p:nvSpPr>
        <p:spPr>
          <a:xfrm rot="10800000">
            <a:off x="3028950" y="2900516"/>
            <a:ext cx="647700" cy="452284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BF94B2E-45CF-F163-BC19-54CD8A57EF64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837252" y="2618996"/>
            <a:ext cx="0" cy="28151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290ED2-1F6A-74CB-7CD5-FF01D2873EAA}"/>
              </a:ext>
            </a:extLst>
          </p:cNvPr>
          <p:cNvCxnSpPr>
            <a:stCxn id="13" idx="0"/>
          </p:cNvCxnSpPr>
          <p:nvPr/>
        </p:nvCxnSpPr>
        <p:spPr>
          <a:xfrm>
            <a:off x="3352800" y="3352800"/>
            <a:ext cx="0" cy="15239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626060-9708-62A5-F860-8DFB8A70266B}"/>
              </a:ext>
            </a:extLst>
          </p:cNvPr>
          <p:cNvCxnSpPr>
            <a:cxnSpLocks/>
          </p:cNvCxnSpPr>
          <p:nvPr/>
        </p:nvCxnSpPr>
        <p:spPr>
          <a:xfrm flipH="1">
            <a:off x="2888840" y="3505200"/>
            <a:ext cx="4639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66394AE-2461-A493-EED8-35EBFCA5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413" y="1602946"/>
            <a:ext cx="4284124" cy="162439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4E4F9F5-58B4-3E7B-D138-365FCED9968B}"/>
              </a:ext>
            </a:extLst>
          </p:cNvPr>
          <p:cNvSpPr/>
          <p:nvPr/>
        </p:nvSpPr>
        <p:spPr>
          <a:xfrm>
            <a:off x="9293327" y="14146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000A67-1A02-39B2-693C-CF393594F812}"/>
              </a:ext>
            </a:extLst>
          </p:cNvPr>
          <p:cNvSpPr txBox="1"/>
          <p:nvPr/>
        </p:nvSpPr>
        <p:spPr>
          <a:xfrm>
            <a:off x="9293327" y="1557635"/>
            <a:ext cx="2082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with .wav  Capture Program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6F9962-B895-DCB0-05FD-4E680AEC446B}"/>
              </a:ext>
            </a:extLst>
          </p:cNvPr>
          <p:cNvSpPr txBox="1"/>
          <p:nvPr/>
        </p:nvSpPr>
        <p:spPr>
          <a:xfrm>
            <a:off x="9621267" y="2294084"/>
            <a:ext cx="1674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Sound Card Input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519ECB-4179-1359-3DCE-D4C1A6153BC8}"/>
              </a:ext>
            </a:extLst>
          </p:cNvPr>
          <p:cNvSpPr/>
          <p:nvPr/>
        </p:nvSpPr>
        <p:spPr>
          <a:xfrm>
            <a:off x="9293327" y="29005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14F753-02B1-7975-70A8-AA5D7C7DC8E1}"/>
              </a:ext>
            </a:extLst>
          </p:cNvPr>
          <p:cNvSpPr txBox="1"/>
          <p:nvPr/>
        </p:nvSpPr>
        <p:spPr>
          <a:xfrm>
            <a:off x="9737621" y="3227342"/>
            <a:ext cx="1279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 or SSB</a:t>
            </a:r>
          </a:p>
          <a:p>
            <a:pPr algn="ctr"/>
            <a:r>
              <a:rPr lang="en-US" dirty="0"/>
              <a:t>HF Receiver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E8B9DA-518C-67C2-1C8B-375C52A293DF}"/>
              </a:ext>
            </a:extLst>
          </p:cNvPr>
          <p:cNvSpPr txBox="1"/>
          <p:nvPr/>
        </p:nvSpPr>
        <p:spPr>
          <a:xfrm>
            <a:off x="9859936" y="2919566"/>
            <a:ext cx="1178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Audio Output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EFD882D-0AC0-3B33-217B-1D9A44C94E7C}"/>
              </a:ext>
            </a:extLst>
          </p:cNvPr>
          <p:cNvCxnSpPr>
            <a:cxnSpLocks/>
          </p:cNvCxnSpPr>
          <p:nvPr/>
        </p:nvCxnSpPr>
        <p:spPr>
          <a:xfrm flipV="1">
            <a:off x="10401366" y="2590800"/>
            <a:ext cx="0" cy="3158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iangle 30">
            <a:extLst>
              <a:ext uri="{FF2B5EF4-FFF2-40B4-BE49-F238E27FC236}">
                <a16:creationId xmlns:a16="http://schemas.microsoft.com/office/drawing/2014/main" id="{1048BD9B-9153-B125-9871-3711BC2C16D7}"/>
              </a:ext>
            </a:extLst>
          </p:cNvPr>
          <p:cNvSpPr/>
          <p:nvPr/>
        </p:nvSpPr>
        <p:spPr>
          <a:xfrm rot="10800000">
            <a:off x="8496300" y="2919566"/>
            <a:ext cx="647700" cy="452284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CC14E8-F8C4-C24F-0C40-1C8DFF8419E9}"/>
              </a:ext>
            </a:extLst>
          </p:cNvPr>
          <p:cNvCxnSpPr>
            <a:stCxn id="31" idx="0"/>
          </p:cNvCxnSpPr>
          <p:nvPr/>
        </p:nvCxnSpPr>
        <p:spPr>
          <a:xfrm>
            <a:off x="8820150" y="3371850"/>
            <a:ext cx="0" cy="15239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9E40C10-DDE1-40E3-68A2-9BA221E668C9}"/>
              </a:ext>
            </a:extLst>
          </p:cNvPr>
          <p:cNvCxnSpPr>
            <a:cxnSpLocks/>
          </p:cNvCxnSpPr>
          <p:nvPr/>
        </p:nvCxnSpPr>
        <p:spPr>
          <a:xfrm flipH="1">
            <a:off x="8813390" y="3524250"/>
            <a:ext cx="4639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E0B01D9-706F-5522-F563-56471CCA9ADE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430270" y="2415145"/>
            <a:ext cx="514143" cy="344609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7CDB84-DAB1-44E7-4DF5-A4114D14EA5B}"/>
              </a:ext>
            </a:extLst>
          </p:cNvPr>
          <p:cNvCxnSpPr>
            <a:cxnSpLocks/>
          </p:cNvCxnSpPr>
          <p:nvPr/>
        </p:nvCxnSpPr>
        <p:spPr>
          <a:xfrm>
            <a:off x="8277781" y="2487561"/>
            <a:ext cx="542369" cy="31770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014924B-9ABC-585E-9DEE-7623C65BD3DA}"/>
              </a:ext>
            </a:extLst>
          </p:cNvPr>
          <p:cNvSpPr txBox="1"/>
          <p:nvPr/>
        </p:nvSpPr>
        <p:spPr>
          <a:xfrm>
            <a:off x="3657607" y="3341643"/>
            <a:ext cx="4838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Skywave path with ground distance and operating frequency suitable for multi-hop propagation.</a:t>
            </a:r>
          </a:p>
        </p:txBody>
      </p:sp>
    </p:spTree>
    <p:extLst>
      <p:ext uri="{BB962C8B-B14F-4D97-AF65-F5344CB8AC3E}">
        <p14:creationId xmlns:p14="http://schemas.microsoft.com/office/powerpoint/2010/main" val="1064105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A7DBA5-68D2-980D-13B0-91AE32C5A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2E099-75C6-4785-BA6C-247B514205D8}" type="slidenum">
              <a:rPr lang="en-US" smtClean="0"/>
              <a:t>8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49C0BF-85BD-B192-FF29-0BFB1438DC98}"/>
              </a:ext>
            </a:extLst>
          </p:cNvPr>
          <p:cNvSpPr/>
          <p:nvPr/>
        </p:nvSpPr>
        <p:spPr>
          <a:xfrm>
            <a:off x="720827" y="14146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90006B-C3EC-62BB-5CBA-B511C761F2CF}"/>
              </a:ext>
            </a:extLst>
          </p:cNvPr>
          <p:cNvSpPr txBox="1"/>
          <p:nvPr/>
        </p:nvSpPr>
        <p:spPr>
          <a:xfrm>
            <a:off x="720827" y="1557635"/>
            <a:ext cx="2082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with .wav Chirp Waveform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1AC8F0-4F8B-D3BA-1896-C87E3D20A259}"/>
              </a:ext>
            </a:extLst>
          </p:cNvPr>
          <p:cNvSpPr txBox="1"/>
          <p:nvPr/>
        </p:nvSpPr>
        <p:spPr>
          <a:xfrm>
            <a:off x="1048767" y="2294084"/>
            <a:ext cx="1674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Sound Card Output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A5B00-8647-C9D1-0315-83C5DD7C9412}"/>
              </a:ext>
            </a:extLst>
          </p:cNvPr>
          <p:cNvSpPr/>
          <p:nvPr/>
        </p:nvSpPr>
        <p:spPr>
          <a:xfrm>
            <a:off x="720827" y="29005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F2BD3-FF09-821B-21F3-9D26EB34FE2C}"/>
              </a:ext>
            </a:extLst>
          </p:cNvPr>
          <p:cNvSpPr txBox="1"/>
          <p:nvPr/>
        </p:nvSpPr>
        <p:spPr>
          <a:xfrm>
            <a:off x="735392" y="3177042"/>
            <a:ext cx="21631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WA5FRF SSB</a:t>
            </a:r>
          </a:p>
          <a:p>
            <a:pPr algn="ctr"/>
            <a:r>
              <a:rPr lang="en-US" dirty="0"/>
              <a:t>HF Transmitter Near San Antonio, TX</a:t>
            </a:r>
          </a:p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694ED3-33A4-028F-67E3-F820054D6CA7}"/>
              </a:ext>
            </a:extLst>
          </p:cNvPr>
          <p:cNvSpPr txBox="1"/>
          <p:nvPr/>
        </p:nvSpPr>
        <p:spPr>
          <a:xfrm>
            <a:off x="1048767" y="2900513"/>
            <a:ext cx="1576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Mic Input Interface</a:t>
            </a:r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D81948C7-2D5D-6979-1181-BA9FE14724A7}"/>
              </a:ext>
            </a:extLst>
          </p:cNvPr>
          <p:cNvSpPr/>
          <p:nvPr/>
        </p:nvSpPr>
        <p:spPr>
          <a:xfrm rot="10800000">
            <a:off x="3028950" y="2900516"/>
            <a:ext cx="647700" cy="452284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BF94B2E-45CF-F163-BC19-54CD8A57EF64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837252" y="2618996"/>
            <a:ext cx="0" cy="28151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290ED2-1F6A-74CB-7CD5-FF01D2873EAA}"/>
              </a:ext>
            </a:extLst>
          </p:cNvPr>
          <p:cNvCxnSpPr>
            <a:stCxn id="13" idx="0"/>
          </p:cNvCxnSpPr>
          <p:nvPr/>
        </p:nvCxnSpPr>
        <p:spPr>
          <a:xfrm>
            <a:off x="3352800" y="3352800"/>
            <a:ext cx="0" cy="15239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626060-9708-62A5-F860-8DFB8A70266B}"/>
              </a:ext>
            </a:extLst>
          </p:cNvPr>
          <p:cNvCxnSpPr>
            <a:cxnSpLocks/>
          </p:cNvCxnSpPr>
          <p:nvPr/>
        </p:nvCxnSpPr>
        <p:spPr>
          <a:xfrm flipH="1">
            <a:off x="2888840" y="3505200"/>
            <a:ext cx="4639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66394AE-2461-A493-EED8-35EBFCA5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413" y="1602946"/>
            <a:ext cx="4284124" cy="162439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4E4F9F5-58B4-3E7B-D138-365FCED9968B}"/>
              </a:ext>
            </a:extLst>
          </p:cNvPr>
          <p:cNvSpPr/>
          <p:nvPr/>
        </p:nvSpPr>
        <p:spPr>
          <a:xfrm>
            <a:off x="9293327" y="14146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000A67-1A02-39B2-693C-CF393594F812}"/>
              </a:ext>
            </a:extLst>
          </p:cNvPr>
          <p:cNvSpPr txBox="1"/>
          <p:nvPr/>
        </p:nvSpPr>
        <p:spPr>
          <a:xfrm>
            <a:off x="9293327" y="1557635"/>
            <a:ext cx="2082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with .wav  Capture Program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6F9962-B895-DCB0-05FD-4E680AEC446B}"/>
              </a:ext>
            </a:extLst>
          </p:cNvPr>
          <p:cNvSpPr txBox="1"/>
          <p:nvPr/>
        </p:nvSpPr>
        <p:spPr>
          <a:xfrm>
            <a:off x="9621267" y="2294084"/>
            <a:ext cx="1674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Sound Card Input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519ECB-4179-1359-3DCE-D4C1A6153BC8}"/>
              </a:ext>
            </a:extLst>
          </p:cNvPr>
          <p:cNvSpPr/>
          <p:nvPr/>
        </p:nvSpPr>
        <p:spPr>
          <a:xfrm>
            <a:off x="9293327" y="2900516"/>
            <a:ext cx="2168013" cy="1209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14F753-02B1-7975-70A8-AA5D7C7DC8E1}"/>
              </a:ext>
            </a:extLst>
          </p:cNvPr>
          <p:cNvSpPr txBox="1"/>
          <p:nvPr/>
        </p:nvSpPr>
        <p:spPr>
          <a:xfrm>
            <a:off x="9480142" y="3168993"/>
            <a:ext cx="18447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N5DUP SSB</a:t>
            </a:r>
          </a:p>
          <a:p>
            <a:pPr algn="ctr"/>
            <a:r>
              <a:rPr lang="en-US" dirty="0"/>
              <a:t>HF Receiver Near Abilene, TX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E8B9DA-518C-67C2-1C8B-375C52A293DF}"/>
              </a:ext>
            </a:extLst>
          </p:cNvPr>
          <p:cNvSpPr txBox="1"/>
          <p:nvPr/>
        </p:nvSpPr>
        <p:spPr>
          <a:xfrm>
            <a:off x="9859936" y="2919566"/>
            <a:ext cx="1178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Audio Output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EFD882D-0AC0-3B33-217B-1D9A44C94E7C}"/>
              </a:ext>
            </a:extLst>
          </p:cNvPr>
          <p:cNvCxnSpPr>
            <a:cxnSpLocks/>
          </p:cNvCxnSpPr>
          <p:nvPr/>
        </p:nvCxnSpPr>
        <p:spPr>
          <a:xfrm flipV="1">
            <a:off x="10401366" y="2590800"/>
            <a:ext cx="0" cy="3158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iangle 30">
            <a:extLst>
              <a:ext uri="{FF2B5EF4-FFF2-40B4-BE49-F238E27FC236}">
                <a16:creationId xmlns:a16="http://schemas.microsoft.com/office/drawing/2014/main" id="{1048BD9B-9153-B125-9871-3711BC2C16D7}"/>
              </a:ext>
            </a:extLst>
          </p:cNvPr>
          <p:cNvSpPr/>
          <p:nvPr/>
        </p:nvSpPr>
        <p:spPr>
          <a:xfrm rot="10800000">
            <a:off x="8496300" y="2919566"/>
            <a:ext cx="647700" cy="452284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CC14E8-F8C4-C24F-0C40-1C8DFF8419E9}"/>
              </a:ext>
            </a:extLst>
          </p:cNvPr>
          <p:cNvCxnSpPr>
            <a:stCxn id="31" idx="0"/>
          </p:cNvCxnSpPr>
          <p:nvPr/>
        </p:nvCxnSpPr>
        <p:spPr>
          <a:xfrm>
            <a:off x="8820150" y="3371850"/>
            <a:ext cx="0" cy="15239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9E40C10-DDE1-40E3-68A2-9BA221E668C9}"/>
              </a:ext>
            </a:extLst>
          </p:cNvPr>
          <p:cNvCxnSpPr>
            <a:cxnSpLocks/>
          </p:cNvCxnSpPr>
          <p:nvPr/>
        </p:nvCxnSpPr>
        <p:spPr>
          <a:xfrm flipH="1">
            <a:off x="8813390" y="3524250"/>
            <a:ext cx="4639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E0B01D9-706F-5522-F563-56471CCA9ADE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430270" y="2415145"/>
            <a:ext cx="514143" cy="344609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7CDB84-DAB1-44E7-4DF5-A4114D14EA5B}"/>
              </a:ext>
            </a:extLst>
          </p:cNvPr>
          <p:cNvCxnSpPr>
            <a:cxnSpLocks/>
          </p:cNvCxnSpPr>
          <p:nvPr/>
        </p:nvCxnSpPr>
        <p:spPr>
          <a:xfrm>
            <a:off x="8277781" y="2487561"/>
            <a:ext cx="542369" cy="31770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014924B-9ABC-585E-9DEE-7623C65BD3DA}"/>
              </a:ext>
            </a:extLst>
          </p:cNvPr>
          <p:cNvSpPr txBox="1"/>
          <p:nvPr/>
        </p:nvSpPr>
        <p:spPr>
          <a:xfrm>
            <a:off x="3570350" y="3324658"/>
            <a:ext cx="50064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Skywave path with ground distance and operating frequency suitable for multi-hop propagation.</a:t>
            </a:r>
          </a:p>
          <a:p>
            <a:pPr algn="ctr"/>
            <a:r>
              <a:rPr lang="en-US" dirty="0"/>
              <a:t>Frequencies for initial tests: 3.780 and 5.3715 MHz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ADD36D-FB39-624B-DF28-5D200E547B9F}"/>
              </a:ext>
            </a:extLst>
          </p:cNvPr>
          <p:cNvSpPr txBox="1"/>
          <p:nvPr/>
        </p:nvSpPr>
        <p:spPr>
          <a:xfrm>
            <a:off x="4732223" y="2848787"/>
            <a:ext cx="273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Ground Distance = 317 km</a:t>
            </a:r>
          </a:p>
        </p:txBody>
      </p:sp>
    </p:spTree>
    <p:extLst>
      <p:ext uri="{BB962C8B-B14F-4D97-AF65-F5344CB8AC3E}">
        <p14:creationId xmlns:p14="http://schemas.microsoft.com/office/powerpoint/2010/main" val="200207168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5198</TotalTime>
  <Words>1369</Words>
  <Application>Microsoft Office PowerPoint</Application>
  <PresentationFormat>Widescreen</PresentationFormat>
  <Paragraphs>146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1_Office Theme</vt:lpstr>
      <vt:lpstr>PowerPoint Presentation</vt:lpstr>
      <vt:lpstr>PowerPoint Presentation</vt:lpstr>
      <vt:lpstr>Simplified 1 and 2 Hop Refraction from The F2 Region</vt:lpstr>
      <vt:lpstr>Simultaneous 1 Hop Refraction from the E and F2 Regions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Simplified Virtual Height Model Used to Relate Path Length to Reflection Height  </dc:title>
  <dc:creator>Steve Cerwin</dc:creator>
  <cp:lastModifiedBy>Dr. Nathaniel A. Frissell Ph.D.</cp:lastModifiedBy>
  <cp:revision>41</cp:revision>
  <dcterms:created xsi:type="dcterms:W3CDTF">2023-02-20T18:55:33Z</dcterms:created>
  <dcterms:modified xsi:type="dcterms:W3CDTF">2025-08-13T12:42:47Z</dcterms:modified>
</cp:coreProperties>
</file>