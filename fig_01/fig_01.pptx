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446" r:id="rId2"/>
    <p:sldId id="459" r:id="rId3"/>
    <p:sldId id="447" r:id="rId4"/>
    <p:sldId id="448" r:id="rId5"/>
    <p:sldId id="449" r:id="rId6"/>
    <p:sldId id="45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37"/>
    <p:restoredTop sz="95009"/>
  </p:normalViewPr>
  <p:slideViewPr>
    <p:cSldViewPr snapToGrid="0">
      <p:cViewPr varScale="1">
        <p:scale>
          <a:sx n="106" d="100"/>
          <a:sy n="106" d="100"/>
        </p:scale>
        <p:origin x="6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61DD7-A158-9E42-9894-752AFA41BA82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80607-6FDE-B148-B62F-B4E0E5D91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25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UV and X radiation from the sun photoionize the upper atmosphere into free electrons and positively charged ions.</a:t>
            </a:r>
          </a:p>
          <a:p>
            <a:r>
              <a:rPr lang="en-US" dirty="0"/>
              <a:t>Complex photochemical reactions with oxygen, ozone, nitrogen, and nitrous oxide arrange the ionization into layers labeled D, E, and F.</a:t>
            </a:r>
          </a:p>
          <a:p>
            <a:r>
              <a:rPr lang="en-US" dirty="0"/>
              <a:t>Velocity gradients in the ionized layers refract upward directed radio waves back to earth in the HF frequency range from 3-30 MHz. </a:t>
            </a:r>
          </a:p>
          <a:p>
            <a:r>
              <a:rPr lang="en-US" dirty="0"/>
              <a:t>Multiple hops involving reflection from the earth and other layers are possible, enabling global radio propagation.</a:t>
            </a:r>
          </a:p>
          <a:p>
            <a:r>
              <a:rPr lang="en-US" dirty="0"/>
              <a:t>Most HF radio propagation comes from the E and F layers. The D layer primarily acts as an attenuator with attenuation increasing with wavelength.</a:t>
            </a:r>
          </a:p>
          <a:p>
            <a:r>
              <a:rPr lang="en-US" dirty="0"/>
              <a:t>The F layer changes height significantly with diurnal changes in solar radiation. The E layer does so as well, but to a much smaller degree. The rate of height change imparts velocity on path length which results in Doppler shifts in frequency. </a:t>
            </a:r>
          </a:p>
          <a:p>
            <a:r>
              <a:rPr lang="en-US" dirty="0"/>
              <a:t>This paper postulates a phenomenology to explain observed complex Doppler behavior, specifically mode splitting, as a function of differential path velocity imparted on single and multiple hop modes by changing layer height.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F3820A-B226-C247-9C5B-9524F3BFEE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607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UV and X radiation from the sun photoionize the upper atmosphere into free electrons and positively charged ions.</a:t>
            </a:r>
          </a:p>
          <a:p>
            <a:r>
              <a:rPr lang="en-US" dirty="0"/>
              <a:t>Complex photochemical reactions with oxygen, ozone, nitrogen, and nitrous oxide arrange the ionization into layers labeled D, E, and F.</a:t>
            </a:r>
          </a:p>
          <a:p>
            <a:r>
              <a:rPr lang="en-US" dirty="0"/>
              <a:t>Velocity gradients in the ionized layers refract upward directed radio waves back to earth in the HF frequency range from 3-30 MHz. </a:t>
            </a:r>
          </a:p>
          <a:p>
            <a:r>
              <a:rPr lang="en-US" dirty="0"/>
              <a:t>Multiple hops involving reflection from the earth and other layers are possible, enabling global radio propagation.</a:t>
            </a:r>
          </a:p>
          <a:p>
            <a:r>
              <a:rPr lang="en-US" dirty="0"/>
              <a:t>Most HF radio propagation comes from the E and F layers. The D layer primarily acts as an attenuator with attenuation increasing with wavelength.</a:t>
            </a:r>
          </a:p>
          <a:p>
            <a:r>
              <a:rPr lang="en-US" dirty="0"/>
              <a:t>The F layer changes height significantly with diurnal changes in solar radiation. The E layer does so as well, but to a much smaller degree. The rate of height change imparts velocity on path length which results in Doppler shifts in frequency. </a:t>
            </a:r>
          </a:p>
          <a:p>
            <a:r>
              <a:rPr lang="en-US" dirty="0"/>
              <a:t>This paper postulates a phenomenology to explain observed complex Doppler behavior, specifically mode splitting, as a function of differential path velocity imparted on single and multiple hop modes by changing layer height.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F3820A-B226-C247-9C5B-9524F3BFEE9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607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UV and X radiation from the sun photoionize the upper atmosphere into free electrons and positively charged ions.</a:t>
            </a:r>
          </a:p>
          <a:p>
            <a:r>
              <a:rPr lang="en-US" dirty="0"/>
              <a:t>Complex photochemical reactions with oxygen, ozone, nitrogen, and nitrous oxide arrange the ionization into layers labeled D, E, and F.</a:t>
            </a:r>
          </a:p>
          <a:p>
            <a:r>
              <a:rPr lang="en-US" dirty="0"/>
              <a:t>Velocity gradients in the ionized layers refract upward directed radio waves back to earth in the HF frequency range from 3-30 MHz. </a:t>
            </a:r>
          </a:p>
          <a:p>
            <a:r>
              <a:rPr lang="en-US" dirty="0"/>
              <a:t>Multiple hops involving reflection from the earth and other layers are possible, enabling global radio propagation.</a:t>
            </a:r>
          </a:p>
          <a:p>
            <a:r>
              <a:rPr lang="en-US" dirty="0"/>
              <a:t>Most HF radio propagation comes from the E and F layers. The D layer primarily acts as an attenuator with attenuation increasing with wavelength.</a:t>
            </a:r>
          </a:p>
          <a:p>
            <a:r>
              <a:rPr lang="en-US" dirty="0"/>
              <a:t>The F layer changes height significantly with diurnal changes in solar radiation. The E layer does so as well, but to a much smaller degree. The rate of height change imparts velocity on path length which results in Doppler shifts in frequency. </a:t>
            </a:r>
          </a:p>
          <a:p>
            <a:r>
              <a:rPr lang="en-US" dirty="0"/>
              <a:t>This paper postulates a phenomenology to explain observed complex Doppler behavior, specifically mode splitting, as a function of differential path velocity imparted on single and multiple hop modes by changing layer height.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3820A-B226-C247-9C5B-9524F3BFEE9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607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15FC-4595-3948-8E59-97F251488020}" type="datetime1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056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E2E01-673F-5740-AFBA-FB5349853319}" type="datetime1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045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8515C-3B47-BE4A-BCEC-183DD0EEACCC}" type="datetime1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113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C89CD-2A4D-EC4A-A417-CE94091D072D}" type="datetime1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66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03824-FD21-0F4D-B97D-AF4150A2A8CD}" type="datetime1">
              <a:rPr lang="en-US" smtClean="0"/>
              <a:t>7/19/2025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95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50781-2467-F64C-B288-FAD312D017EE}" type="datetime1">
              <a:rPr lang="en-US" smtClean="0"/>
              <a:t>7/19/2025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488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EDA03-B54D-5141-90B2-AF20FC4EA56F}" type="datetime1">
              <a:rPr lang="en-US" smtClean="0"/>
              <a:t>7/19/2025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7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5B48-7893-CB46-BC09-B9D5C25AEA39}" type="datetime1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647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897A9-4B7A-A740-BEEA-3A1BC0AC7562}" type="datetime1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767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555B-F120-6242-BEF5-FAA855445114}" type="datetime1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3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45D82-FA4E-424F-8B90-546BCD7C68B7}" type="datetime1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876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55080-72D3-2645-BF25-2CC613CD18CC}" type="datetime1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2E099-75C6-4785-BA6C-247B51420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8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308599-691F-04CE-A5CE-BB778BE2AD3E}"/>
              </a:ext>
            </a:extLst>
          </p:cNvPr>
          <p:cNvSpPr/>
          <p:nvPr/>
        </p:nvSpPr>
        <p:spPr>
          <a:xfrm>
            <a:off x="1905000" y="1066800"/>
            <a:ext cx="9905991" cy="1048174"/>
          </a:xfrm>
          <a:prstGeom prst="rect">
            <a:avLst/>
          </a:prstGeom>
          <a:gradFill>
            <a:gsLst>
              <a:gs pos="15000">
                <a:schemeClr val="accent6">
                  <a:lumMod val="5000"/>
                  <a:lumOff val="95000"/>
                </a:schemeClr>
              </a:gs>
              <a:gs pos="40000">
                <a:schemeClr val="accent6">
                  <a:alpha val="70000"/>
                  <a:lumMod val="55000"/>
                  <a:lumOff val="45000"/>
                </a:schemeClr>
              </a:gs>
              <a:gs pos="60000">
                <a:schemeClr val="accent6">
                  <a:alpha val="70000"/>
                  <a:lumMod val="55000"/>
                  <a:lumOff val="45000"/>
                </a:schemeClr>
              </a:gs>
              <a:gs pos="85000">
                <a:schemeClr val="accent6">
                  <a:lumMod val="5167"/>
                  <a:lumOff val="94833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Day ~ 300 km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Night ~ 220 km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48B07D-2A34-1221-5BC4-53E1ED86DFC5}"/>
              </a:ext>
            </a:extLst>
          </p:cNvPr>
          <p:cNvSpPr/>
          <p:nvPr/>
        </p:nvSpPr>
        <p:spPr>
          <a:xfrm>
            <a:off x="1905001" y="2953174"/>
            <a:ext cx="9905990" cy="400049"/>
          </a:xfrm>
          <a:prstGeom prst="rect">
            <a:avLst/>
          </a:prstGeom>
          <a:gradFill>
            <a:gsLst>
              <a:gs pos="0">
                <a:schemeClr val="accent6">
                  <a:lumMod val="5000"/>
                  <a:lumOff val="95000"/>
                </a:schemeClr>
              </a:gs>
              <a:gs pos="38000">
                <a:schemeClr val="accent6">
                  <a:alpha val="70000"/>
                  <a:lumMod val="90000"/>
                  <a:lumOff val="10000"/>
                </a:schemeClr>
              </a:gs>
              <a:gs pos="70000">
                <a:schemeClr val="accent6">
                  <a:alpha val="70000"/>
                  <a:lumMod val="90000"/>
                  <a:lumOff val="10000"/>
                </a:schemeClr>
              </a:gs>
              <a:gs pos="100000">
                <a:schemeClr val="accent6">
                  <a:lumMod val="5167"/>
                  <a:lumOff val="94833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7C750407-D8F7-E829-99ED-A7C06918E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8845"/>
            <a:ext cx="11201391" cy="1148185"/>
          </a:xfrm>
        </p:spPr>
        <p:txBody>
          <a:bodyPr>
            <a:normAutofit fontScale="90000"/>
          </a:bodyPr>
          <a:lstStyle/>
          <a:p>
            <a:r>
              <a:rPr lang="en-US" dirty="0"/>
              <a:t>Simplified 1 and 2 Hop Refraction from The F2 Region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45675A-4513-2095-EA42-2CF975CF0C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4458124"/>
            <a:ext cx="11658600" cy="226335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UV and X radiation from the sun photoionize the upper atmosphere into free electrons and positively charged ions.</a:t>
            </a:r>
          </a:p>
          <a:p>
            <a:r>
              <a:rPr lang="en-US" dirty="0"/>
              <a:t>Complex photochemical reactions with oxygen, ozone, nitrogen, and nitrous oxide arrange the ionization into layers labeled D, E, and F (F1 and F2).</a:t>
            </a:r>
          </a:p>
          <a:p>
            <a:r>
              <a:rPr lang="en-US" dirty="0"/>
              <a:t>Velocity gradients in the ionized layers refract upward directed radio waves back to earth. Multiple hops involving reflection from the earth and other layers are possible, enabling global radio propagation.</a:t>
            </a:r>
          </a:p>
          <a:p>
            <a:r>
              <a:rPr lang="en-US" dirty="0"/>
              <a:t>Most HF radio propagation comes from the E and F layers. The D layer primarily acts as an attenuator with attenuation increasing with wavelength.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233D06-8B3D-8444-1139-D7AA71062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02E099-75C6-4785-BA6C-247B514205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EE0A3A-1EC2-D9B8-FAF4-5562227820FC}"/>
              </a:ext>
            </a:extLst>
          </p:cNvPr>
          <p:cNvSpPr/>
          <p:nvPr/>
        </p:nvSpPr>
        <p:spPr>
          <a:xfrm>
            <a:off x="1904999" y="2642023"/>
            <a:ext cx="9925041" cy="387351"/>
          </a:xfrm>
          <a:prstGeom prst="rect">
            <a:avLst/>
          </a:prstGeom>
          <a:gradFill>
            <a:gsLst>
              <a:gs pos="15000">
                <a:schemeClr val="accent6">
                  <a:lumMod val="5000"/>
                  <a:lumOff val="95000"/>
                </a:schemeClr>
              </a:gs>
              <a:gs pos="40000">
                <a:schemeClr val="accent6">
                  <a:alpha val="70000"/>
                  <a:lumMod val="75000"/>
                  <a:lumOff val="25000"/>
                </a:schemeClr>
              </a:gs>
              <a:gs pos="60000">
                <a:schemeClr val="accent6">
                  <a:alpha val="70000"/>
                  <a:lumMod val="75000"/>
                  <a:lumOff val="25000"/>
                </a:schemeClr>
              </a:gs>
              <a:gs pos="85000">
                <a:schemeClr val="accent6">
                  <a:lumMod val="5167"/>
                  <a:lumOff val="94833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F07A9-0994-5249-0248-D92EF3FE271E}"/>
              </a:ext>
            </a:extLst>
          </p:cNvPr>
          <p:cNvSpPr/>
          <p:nvPr/>
        </p:nvSpPr>
        <p:spPr>
          <a:xfrm>
            <a:off x="1905000" y="3638974"/>
            <a:ext cx="9906000" cy="685800"/>
          </a:xfrm>
          <a:prstGeom prst="rect">
            <a:avLst/>
          </a:prstGeom>
          <a:solidFill>
            <a:srgbClr val="0BFF0B">
              <a:alpha val="5948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Great Circle Ground Distance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B9E2B7-1BBF-CE30-67D3-A898579DE581}"/>
              </a:ext>
            </a:extLst>
          </p:cNvPr>
          <p:cNvCxnSpPr>
            <a:cxnSpLocks/>
          </p:cNvCxnSpPr>
          <p:nvPr/>
        </p:nvCxnSpPr>
        <p:spPr>
          <a:xfrm>
            <a:off x="2362200" y="3410374"/>
            <a:ext cx="0" cy="22860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FA0267-5860-453B-767D-7F785CAE7161}"/>
              </a:ext>
            </a:extLst>
          </p:cNvPr>
          <p:cNvCxnSpPr>
            <a:cxnSpLocks/>
          </p:cNvCxnSpPr>
          <p:nvPr/>
        </p:nvCxnSpPr>
        <p:spPr>
          <a:xfrm>
            <a:off x="11353800" y="3410374"/>
            <a:ext cx="0" cy="22860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15">
            <a:extLst>
              <a:ext uri="{FF2B5EF4-FFF2-40B4-BE49-F238E27FC236}">
                <a16:creationId xmlns:a16="http://schemas.microsoft.com/office/drawing/2014/main" id="{BA8C3A4A-829A-A135-BE71-23C083E5245C}"/>
              </a:ext>
            </a:extLst>
          </p:cNvPr>
          <p:cNvSpPr/>
          <p:nvPr/>
        </p:nvSpPr>
        <p:spPr>
          <a:xfrm>
            <a:off x="2419350" y="1708575"/>
            <a:ext cx="8953481" cy="1987550"/>
          </a:xfrm>
          <a:custGeom>
            <a:avLst/>
            <a:gdLst>
              <a:gd name="connsiteX0" fmla="*/ 0 w 8953500"/>
              <a:gd name="connsiteY0" fmla="*/ 3029073 h 3124323"/>
              <a:gd name="connsiteX1" fmla="*/ 4324350 w 8953500"/>
              <a:gd name="connsiteY1" fmla="*/ 123 h 3124323"/>
              <a:gd name="connsiteX2" fmla="*/ 8953500 w 8953500"/>
              <a:gd name="connsiteY2" fmla="*/ 3124323 h 312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53500" h="3124323">
                <a:moveTo>
                  <a:pt x="0" y="3029073"/>
                </a:moveTo>
                <a:cubicBezTo>
                  <a:pt x="1416050" y="1506660"/>
                  <a:pt x="2832100" y="-15752"/>
                  <a:pt x="4324350" y="123"/>
                </a:cubicBezTo>
                <a:cubicBezTo>
                  <a:pt x="5816600" y="15998"/>
                  <a:pt x="7385050" y="1570160"/>
                  <a:pt x="8953500" y="312432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EF20FD3C-3CC1-F35A-7632-0601E8FAF9DC}"/>
              </a:ext>
            </a:extLst>
          </p:cNvPr>
          <p:cNvSpPr/>
          <p:nvPr/>
        </p:nvSpPr>
        <p:spPr>
          <a:xfrm>
            <a:off x="2381237" y="1708574"/>
            <a:ext cx="4476789" cy="1930400"/>
          </a:xfrm>
          <a:custGeom>
            <a:avLst/>
            <a:gdLst>
              <a:gd name="connsiteX0" fmla="*/ 0 w 8953500"/>
              <a:gd name="connsiteY0" fmla="*/ 3029073 h 3124323"/>
              <a:gd name="connsiteX1" fmla="*/ 4324350 w 8953500"/>
              <a:gd name="connsiteY1" fmla="*/ 123 h 3124323"/>
              <a:gd name="connsiteX2" fmla="*/ 8953500 w 8953500"/>
              <a:gd name="connsiteY2" fmla="*/ 3124323 h 312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53500" h="3124323">
                <a:moveTo>
                  <a:pt x="0" y="3029073"/>
                </a:moveTo>
                <a:cubicBezTo>
                  <a:pt x="1416050" y="1506660"/>
                  <a:pt x="2832100" y="-15752"/>
                  <a:pt x="4324350" y="123"/>
                </a:cubicBezTo>
                <a:cubicBezTo>
                  <a:pt x="5816600" y="15998"/>
                  <a:pt x="7385050" y="1570160"/>
                  <a:pt x="8953500" y="312432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BBB471CC-75F5-27EA-5752-EB1A90E5CF42}"/>
              </a:ext>
            </a:extLst>
          </p:cNvPr>
          <p:cNvSpPr/>
          <p:nvPr/>
        </p:nvSpPr>
        <p:spPr>
          <a:xfrm flipH="1">
            <a:off x="6858024" y="1651424"/>
            <a:ext cx="4476739" cy="1987550"/>
          </a:xfrm>
          <a:custGeom>
            <a:avLst/>
            <a:gdLst>
              <a:gd name="connsiteX0" fmla="*/ 0 w 8953500"/>
              <a:gd name="connsiteY0" fmla="*/ 3029073 h 3124323"/>
              <a:gd name="connsiteX1" fmla="*/ 4324350 w 8953500"/>
              <a:gd name="connsiteY1" fmla="*/ 123 h 3124323"/>
              <a:gd name="connsiteX2" fmla="*/ 8953500 w 8953500"/>
              <a:gd name="connsiteY2" fmla="*/ 3124323 h 312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53500" h="3124323">
                <a:moveTo>
                  <a:pt x="0" y="3029073"/>
                </a:moveTo>
                <a:cubicBezTo>
                  <a:pt x="1416050" y="1506660"/>
                  <a:pt x="2832100" y="-15752"/>
                  <a:pt x="4324350" y="123"/>
                </a:cubicBezTo>
                <a:cubicBezTo>
                  <a:pt x="5816600" y="15998"/>
                  <a:pt x="7385050" y="1570160"/>
                  <a:pt x="8953500" y="312432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F71B9D-4FB3-A1A2-C100-AA4D03C41F6D}"/>
              </a:ext>
            </a:extLst>
          </p:cNvPr>
          <p:cNvCxnSpPr/>
          <p:nvPr/>
        </p:nvCxnSpPr>
        <p:spPr>
          <a:xfrm>
            <a:off x="11372832" y="3772325"/>
            <a:ext cx="0" cy="40004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DFD335-EC17-5895-B25E-C76B41DE1BBE}"/>
              </a:ext>
            </a:extLst>
          </p:cNvPr>
          <p:cNvCxnSpPr/>
          <p:nvPr/>
        </p:nvCxnSpPr>
        <p:spPr>
          <a:xfrm>
            <a:off x="2362200" y="3543725"/>
            <a:ext cx="0" cy="40004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57440DC-1815-27EC-5707-63934B551347}"/>
              </a:ext>
            </a:extLst>
          </p:cNvPr>
          <p:cNvCxnSpPr/>
          <p:nvPr/>
        </p:nvCxnSpPr>
        <p:spPr>
          <a:xfrm>
            <a:off x="8966200" y="4019974"/>
            <a:ext cx="240663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71362CF-ADAB-EE86-144D-7B9A4DC81E2E}"/>
              </a:ext>
            </a:extLst>
          </p:cNvPr>
          <p:cNvCxnSpPr/>
          <p:nvPr/>
        </p:nvCxnSpPr>
        <p:spPr>
          <a:xfrm flipH="1">
            <a:off x="2362200" y="4019974"/>
            <a:ext cx="24384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71D2E9D-B218-50E0-7BB2-1C47CABAC31B}"/>
              </a:ext>
            </a:extLst>
          </p:cNvPr>
          <p:cNvSpPr txBox="1"/>
          <p:nvPr/>
        </p:nvSpPr>
        <p:spPr>
          <a:xfrm>
            <a:off x="220102" y="1197030"/>
            <a:ext cx="16658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F2 Region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200-330 km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13C780-0A3A-4695-2C7C-23D3153DD7A2}"/>
              </a:ext>
            </a:extLst>
          </p:cNvPr>
          <p:cNvSpPr txBox="1"/>
          <p:nvPr/>
        </p:nvSpPr>
        <p:spPr>
          <a:xfrm>
            <a:off x="366197" y="2655455"/>
            <a:ext cx="14318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 100-115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B6A88E-80DD-ECE3-4D92-44D05F48E559}"/>
              </a:ext>
            </a:extLst>
          </p:cNvPr>
          <p:cNvSpPr txBox="1"/>
          <p:nvPr/>
        </p:nvSpPr>
        <p:spPr>
          <a:xfrm>
            <a:off x="366197" y="2986384"/>
            <a:ext cx="1159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 60-90</a:t>
            </a:r>
          </a:p>
        </p:txBody>
      </p:sp>
    </p:spTree>
    <p:extLst>
      <p:ext uri="{BB962C8B-B14F-4D97-AF65-F5344CB8AC3E}">
        <p14:creationId xmlns:p14="http://schemas.microsoft.com/office/powerpoint/2010/main" val="2480815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308599-691F-04CE-A5CE-BB778BE2AD3E}"/>
              </a:ext>
            </a:extLst>
          </p:cNvPr>
          <p:cNvSpPr/>
          <p:nvPr/>
        </p:nvSpPr>
        <p:spPr>
          <a:xfrm>
            <a:off x="1905000" y="1066800"/>
            <a:ext cx="9905991" cy="1048174"/>
          </a:xfrm>
          <a:prstGeom prst="rect">
            <a:avLst/>
          </a:prstGeom>
          <a:gradFill>
            <a:gsLst>
              <a:gs pos="15000">
                <a:schemeClr val="accent6">
                  <a:lumMod val="5000"/>
                  <a:lumOff val="95000"/>
                </a:schemeClr>
              </a:gs>
              <a:gs pos="40000">
                <a:schemeClr val="accent6">
                  <a:alpha val="70000"/>
                  <a:lumMod val="55000"/>
                  <a:lumOff val="45000"/>
                </a:schemeClr>
              </a:gs>
              <a:gs pos="60000">
                <a:schemeClr val="accent6">
                  <a:alpha val="70000"/>
                  <a:lumMod val="55000"/>
                  <a:lumOff val="45000"/>
                </a:schemeClr>
              </a:gs>
              <a:gs pos="85000">
                <a:schemeClr val="accent6">
                  <a:lumMod val="5167"/>
                  <a:lumOff val="94833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Day ~ 300 km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Night ~ 220 km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48B07D-2A34-1221-5BC4-53E1ED86DFC5}"/>
              </a:ext>
            </a:extLst>
          </p:cNvPr>
          <p:cNvSpPr/>
          <p:nvPr/>
        </p:nvSpPr>
        <p:spPr>
          <a:xfrm>
            <a:off x="1905001" y="2953174"/>
            <a:ext cx="9905990" cy="400049"/>
          </a:xfrm>
          <a:prstGeom prst="rect">
            <a:avLst/>
          </a:prstGeom>
          <a:gradFill>
            <a:gsLst>
              <a:gs pos="0">
                <a:schemeClr val="accent6">
                  <a:lumMod val="5000"/>
                  <a:lumOff val="95000"/>
                </a:schemeClr>
              </a:gs>
              <a:gs pos="38000">
                <a:schemeClr val="accent6">
                  <a:alpha val="70000"/>
                  <a:lumMod val="90000"/>
                  <a:lumOff val="10000"/>
                </a:schemeClr>
              </a:gs>
              <a:gs pos="70000">
                <a:schemeClr val="accent6">
                  <a:alpha val="70000"/>
                  <a:lumMod val="90000"/>
                  <a:lumOff val="10000"/>
                </a:schemeClr>
              </a:gs>
              <a:gs pos="100000">
                <a:schemeClr val="accent6">
                  <a:lumMod val="5167"/>
                  <a:lumOff val="94833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7C750407-D8F7-E829-99ED-A7C06918E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09" y="59604"/>
            <a:ext cx="12095181" cy="1071984"/>
          </a:xfrm>
        </p:spPr>
        <p:txBody>
          <a:bodyPr>
            <a:normAutofit fontScale="90000"/>
          </a:bodyPr>
          <a:lstStyle/>
          <a:p>
            <a:r>
              <a:rPr lang="en-US" dirty="0"/>
              <a:t>Simultaneous 1 Hop Refraction from the E and F2 Regions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45675A-4513-2095-EA42-2CF975CF0C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4458124"/>
            <a:ext cx="11658600" cy="226335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UV and X radiation from the sun photoionize the upper atmosphere into free electrons and positively charged ions.</a:t>
            </a:r>
          </a:p>
          <a:p>
            <a:r>
              <a:rPr lang="en-US" dirty="0"/>
              <a:t>Complex photochemical reactions with oxygen, ozone, nitrogen, and nitrous oxide arrange the ionization into layers labeled D, E, and F (F1 and F2).</a:t>
            </a:r>
          </a:p>
          <a:p>
            <a:r>
              <a:rPr lang="en-US" dirty="0"/>
              <a:t>Velocity gradients in the ionized layers refract upward directed radio waves back to earth. Multiple hops involving reflection from the earth and other layers are possible, enabling global radio propagation.</a:t>
            </a:r>
          </a:p>
          <a:p>
            <a:r>
              <a:rPr lang="en-US" dirty="0"/>
              <a:t>Most HF radio propagation comes from the E and F layers. The D layer primarily acts as an attenuator with attenuation increasing with wavelength.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233D06-8B3D-8444-1139-D7AA71062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02E099-75C6-4785-BA6C-247B514205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EE0A3A-1EC2-D9B8-FAF4-5562227820FC}"/>
              </a:ext>
            </a:extLst>
          </p:cNvPr>
          <p:cNvSpPr/>
          <p:nvPr/>
        </p:nvSpPr>
        <p:spPr>
          <a:xfrm>
            <a:off x="1904999" y="2642023"/>
            <a:ext cx="9925041" cy="387351"/>
          </a:xfrm>
          <a:prstGeom prst="rect">
            <a:avLst/>
          </a:prstGeom>
          <a:gradFill>
            <a:gsLst>
              <a:gs pos="15000">
                <a:schemeClr val="accent6">
                  <a:lumMod val="5000"/>
                  <a:lumOff val="95000"/>
                </a:schemeClr>
              </a:gs>
              <a:gs pos="40000">
                <a:schemeClr val="accent6">
                  <a:alpha val="70000"/>
                  <a:lumMod val="75000"/>
                  <a:lumOff val="25000"/>
                </a:schemeClr>
              </a:gs>
              <a:gs pos="60000">
                <a:schemeClr val="accent6">
                  <a:alpha val="70000"/>
                  <a:lumMod val="75000"/>
                  <a:lumOff val="25000"/>
                </a:schemeClr>
              </a:gs>
              <a:gs pos="85000">
                <a:schemeClr val="accent6">
                  <a:lumMod val="5167"/>
                  <a:lumOff val="94833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F07A9-0994-5249-0248-D92EF3FE271E}"/>
              </a:ext>
            </a:extLst>
          </p:cNvPr>
          <p:cNvSpPr/>
          <p:nvPr/>
        </p:nvSpPr>
        <p:spPr>
          <a:xfrm>
            <a:off x="1905000" y="3638974"/>
            <a:ext cx="9906000" cy="685800"/>
          </a:xfrm>
          <a:prstGeom prst="rect">
            <a:avLst/>
          </a:prstGeom>
          <a:solidFill>
            <a:srgbClr val="0BFF0B">
              <a:alpha val="5948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Great Circle Ground Distance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B9E2B7-1BBF-CE30-67D3-A898579DE581}"/>
              </a:ext>
            </a:extLst>
          </p:cNvPr>
          <p:cNvCxnSpPr>
            <a:cxnSpLocks/>
          </p:cNvCxnSpPr>
          <p:nvPr/>
        </p:nvCxnSpPr>
        <p:spPr>
          <a:xfrm>
            <a:off x="2362200" y="3410374"/>
            <a:ext cx="0" cy="22860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FA0267-5860-453B-767D-7F785CAE7161}"/>
              </a:ext>
            </a:extLst>
          </p:cNvPr>
          <p:cNvCxnSpPr>
            <a:cxnSpLocks/>
          </p:cNvCxnSpPr>
          <p:nvPr/>
        </p:nvCxnSpPr>
        <p:spPr>
          <a:xfrm>
            <a:off x="11353800" y="3410374"/>
            <a:ext cx="0" cy="22860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15">
            <a:extLst>
              <a:ext uri="{FF2B5EF4-FFF2-40B4-BE49-F238E27FC236}">
                <a16:creationId xmlns:a16="http://schemas.microsoft.com/office/drawing/2014/main" id="{BA8C3A4A-829A-A135-BE71-23C083E5245C}"/>
              </a:ext>
            </a:extLst>
          </p:cNvPr>
          <p:cNvSpPr/>
          <p:nvPr/>
        </p:nvSpPr>
        <p:spPr>
          <a:xfrm>
            <a:off x="2419351" y="1535000"/>
            <a:ext cx="8915400" cy="2128851"/>
          </a:xfrm>
          <a:custGeom>
            <a:avLst/>
            <a:gdLst>
              <a:gd name="connsiteX0" fmla="*/ 0 w 8953500"/>
              <a:gd name="connsiteY0" fmla="*/ 3029073 h 3124323"/>
              <a:gd name="connsiteX1" fmla="*/ 4324350 w 8953500"/>
              <a:gd name="connsiteY1" fmla="*/ 123 h 3124323"/>
              <a:gd name="connsiteX2" fmla="*/ 8953500 w 8953500"/>
              <a:gd name="connsiteY2" fmla="*/ 3124323 h 312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53500" h="3124323">
                <a:moveTo>
                  <a:pt x="0" y="3029073"/>
                </a:moveTo>
                <a:cubicBezTo>
                  <a:pt x="1416050" y="1506660"/>
                  <a:pt x="2832100" y="-15752"/>
                  <a:pt x="4324350" y="123"/>
                </a:cubicBezTo>
                <a:cubicBezTo>
                  <a:pt x="5816600" y="15998"/>
                  <a:pt x="7385050" y="1570160"/>
                  <a:pt x="8953500" y="312432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EF20FD3C-3CC1-F35A-7632-0601E8FAF9DC}"/>
              </a:ext>
            </a:extLst>
          </p:cNvPr>
          <p:cNvSpPr/>
          <p:nvPr/>
        </p:nvSpPr>
        <p:spPr>
          <a:xfrm>
            <a:off x="2381237" y="2848784"/>
            <a:ext cx="8915407" cy="800948"/>
          </a:xfrm>
          <a:custGeom>
            <a:avLst/>
            <a:gdLst>
              <a:gd name="connsiteX0" fmla="*/ 0 w 8953500"/>
              <a:gd name="connsiteY0" fmla="*/ 3029073 h 3124323"/>
              <a:gd name="connsiteX1" fmla="*/ 4324350 w 8953500"/>
              <a:gd name="connsiteY1" fmla="*/ 123 h 3124323"/>
              <a:gd name="connsiteX2" fmla="*/ 8953500 w 8953500"/>
              <a:gd name="connsiteY2" fmla="*/ 3124323 h 312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53500" h="3124323">
                <a:moveTo>
                  <a:pt x="0" y="3029073"/>
                </a:moveTo>
                <a:cubicBezTo>
                  <a:pt x="1416050" y="1506660"/>
                  <a:pt x="2832100" y="-15752"/>
                  <a:pt x="4324350" y="123"/>
                </a:cubicBezTo>
                <a:cubicBezTo>
                  <a:pt x="5816600" y="15998"/>
                  <a:pt x="7385050" y="1570160"/>
                  <a:pt x="8953500" y="312432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F71B9D-4FB3-A1A2-C100-AA4D03C41F6D}"/>
              </a:ext>
            </a:extLst>
          </p:cNvPr>
          <p:cNvCxnSpPr/>
          <p:nvPr/>
        </p:nvCxnSpPr>
        <p:spPr>
          <a:xfrm>
            <a:off x="11372832" y="3772325"/>
            <a:ext cx="0" cy="40004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DFD335-EC17-5895-B25E-C76B41DE1BBE}"/>
              </a:ext>
            </a:extLst>
          </p:cNvPr>
          <p:cNvCxnSpPr/>
          <p:nvPr/>
        </p:nvCxnSpPr>
        <p:spPr>
          <a:xfrm>
            <a:off x="2362200" y="3543725"/>
            <a:ext cx="0" cy="40004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57440DC-1815-27EC-5707-63934B551347}"/>
              </a:ext>
            </a:extLst>
          </p:cNvPr>
          <p:cNvCxnSpPr/>
          <p:nvPr/>
        </p:nvCxnSpPr>
        <p:spPr>
          <a:xfrm>
            <a:off x="8966200" y="4019974"/>
            <a:ext cx="240663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71362CF-ADAB-EE86-144D-7B9A4DC81E2E}"/>
              </a:ext>
            </a:extLst>
          </p:cNvPr>
          <p:cNvCxnSpPr/>
          <p:nvPr/>
        </p:nvCxnSpPr>
        <p:spPr>
          <a:xfrm flipH="1">
            <a:off x="2362200" y="4019974"/>
            <a:ext cx="2438400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71D2E9D-B218-50E0-7BB2-1C47CABAC31B}"/>
              </a:ext>
            </a:extLst>
          </p:cNvPr>
          <p:cNvSpPr txBox="1"/>
          <p:nvPr/>
        </p:nvSpPr>
        <p:spPr>
          <a:xfrm>
            <a:off x="220102" y="1197030"/>
            <a:ext cx="16658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F2 Region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200-330 km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13C780-0A3A-4695-2C7C-23D3153DD7A2}"/>
              </a:ext>
            </a:extLst>
          </p:cNvPr>
          <p:cNvSpPr txBox="1"/>
          <p:nvPr/>
        </p:nvSpPr>
        <p:spPr>
          <a:xfrm>
            <a:off x="366197" y="2655455"/>
            <a:ext cx="14318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 100-115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B6A88E-80DD-ECE3-4D92-44D05F48E559}"/>
              </a:ext>
            </a:extLst>
          </p:cNvPr>
          <p:cNvSpPr txBox="1"/>
          <p:nvPr/>
        </p:nvSpPr>
        <p:spPr>
          <a:xfrm>
            <a:off x="366197" y="2986384"/>
            <a:ext cx="1159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 60-90</a:t>
            </a:r>
          </a:p>
        </p:txBody>
      </p:sp>
    </p:spTree>
    <p:extLst>
      <p:ext uri="{BB962C8B-B14F-4D97-AF65-F5344CB8AC3E}">
        <p14:creationId xmlns:p14="http://schemas.microsoft.com/office/powerpoint/2010/main" val="4216973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A7DBA5-68D2-980D-13B0-91AE32C5A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49C0BF-85BD-B192-FF29-0BFB1438DC98}"/>
              </a:ext>
            </a:extLst>
          </p:cNvPr>
          <p:cNvSpPr/>
          <p:nvPr/>
        </p:nvSpPr>
        <p:spPr>
          <a:xfrm>
            <a:off x="435077" y="1224116"/>
            <a:ext cx="2168013" cy="12093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90006B-C3EC-62BB-5CBA-B511C761F2CF}"/>
              </a:ext>
            </a:extLst>
          </p:cNvPr>
          <p:cNvSpPr txBox="1"/>
          <p:nvPr/>
        </p:nvSpPr>
        <p:spPr>
          <a:xfrm>
            <a:off x="435077" y="1367135"/>
            <a:ext cx="1790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Computer with .wav Chirp Waveform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1AC8F0-4F8B-D3BA-1896-C87E3D20A259}"/>
              </a:ext>
            </a:extLst>
          </p:cNvPr>
          <p:cNvSpPr txBox="1"/>
          <p:nvPr/>
        </p:nvSpPr>
        <p:spPr>
          <a:xfrm>
            <a:off x="1972789" y="1505634"/>
            <a:ext cx="6303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Sound</a:t>
            </a:r>
          </a:p>
          <a:p>
            <a:r>
              <a:rPr lang="en-US" sz="1200" dirty="0"/>
              <a:t>Card</a:t>
            </a:r>
          </a:p>
          <a:p>
            <a:r>
              <a:rPr lang="en-US" sz="1200" dirty="0"/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A5B00-8647-C9D1-0315-83C5DD7C9412}"/>
              </a:ext>
            </a:extLst>
          </p:cNvPr>
          <p:cNvSpPr/>
          <p:nvPr/>
        </p:nvSpPr>
        <p:spPr>
          <a:xfrm>
            <a:off x="2854427" y="1224116"/>
            <a:ext cx="2168013" cy="12093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CF2BD3-FF09-821B-21F3-9D26EB34FE2C}"/>
              </a:ext>
            </a:extLst>
          </p:cNvPr>
          <p:cNvSpPr txBox="1"/>
          <p:nvPr/>
        </p:nvSpPr>
        <p:spPr>
          <a:xfrm>
            <a:off x="3657142" y="1505633"/>
            <a:ext cx="127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HF</a:t>
            </a:r>
          </a:p>
          <a:p>
            <a:pPr algn="ctr"/>
            <a:r>
              <a:rPr lang="en-US" dirty="0"/>
              <a:t>Transmitter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694ED3-33A4-028F-67E3-F820054D6CA7}"/>
              </a:ext>
            </a:extLst>
          </p:cNvPr>
          <p:cNvSpPr txBox="1"/>
          <p:nvPr/>
        </p:nvSpPr>
        <p:spPr>
          <a:xfrm>
            <a:off x="2830039" y="1524684"/>
            <a:ext cx="741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Mic</a:t>
            </a:r>
          </a:p>
          <a:p>
            <a:r>
              <a:rPr lang="en-US" sz="1200" dirty="0"/>
              <a:t>Input</a:t>
            </a:r>
          </a:p>
          <a:p>
            <a:r>
              <a:rPr lang="en-US" sz="1200" dirty="0"/>
              <a:t>Interface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D81948C7-2D5D-6979-1181-BA9FE14724A7}"/>
              </a:ext>
            </a:extLst>
          </p:cNvPr>
          <p:cNvSpPr/>
          <p:nvPr/>
        </p:nvSpPr>
        <p:spPr>
          <a:xfrm rot="10800000">
            <a:off x="5162550" y="1224116"/>
            <a:ext cx="647700" cy="45228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BF94B2E-45CF-F163-BC19-54CD8A57EF64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603090" y="1847850"/>
            <a:ext cx="22694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290ED2-1F6A-74CB-7CD5-FF01D2873EAA}"/>
              </a:ext>
            </a:extLst>
          </p:cNvPr>
          <p:cNvCxnSpPr>
            <a:stCxn id="13" idx="0"/>
          </p:cNvCxnSpPr>
          <p:nvPr/>
        </p:nvCxnSpPr>
        <p:spPr>
          <a:xfrm>
            <a:off x="5486400" y="1676400"/>
            <a:ext cx="0" cy="15239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1626060-9708-62A5-F860-8DFB8A70266B}"/>
              </a:ext>
            </a:extLst>
          </p:cNvPr>
          <p:cNvCxnSpPr>
            <a:cxnSpLocks/>
          </p:cNvCxnSpPr>
          <p:nvPr/>
        </p:nvCxnSpPr>
        <p:spPr>
          <a:xfrm flipH="1">
            <a:off x="5022440" y="1828800"/>
            <a:ext cx="4639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366394AE-2461-A493-EED8-35EBFCA5C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0" y="1181099"/>
            <a:ext cx="3189542" cy="120936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97FA63F-8A35-9F00-F8C8-1D9EA5A737E6}"/>
              </a:ext>
            </a:extLst>
          </p:cNvPr>
          <p:cNvSpPr/>
          <p:nvPr/>
        </p:nvSpPr>
        <p:spPr>
          <a:xfrm>
            <a:off x="1905000" y="3140530"/>
            <a:ext cx="9905991" cy="1048174"/>
          </a:xfrm>
          <a:prstGeom prst="rect">
            <a:avLst/>
          </a:prstGeom>
          <a:gradFill>
            <a:gsLst>
              <a:gs pos="15000">
                <a:schemeClr val="accent6">
                  <a:lumMod val="5000"/>
                  <a:lumOff val="95000"/>
                </a:schemeClr>
              </a:gs>
              <a:gs pos="40000">
                <a:schemeClr val="accent6">
                  <a:alpha val="70000"/>
                  <a:lumMod val="55000"/>
                  <a:lumOff val="45000"/>
                </a:schemeClr>
              </a:gs>
              <a:gs pos="60000">
                <a:schemeClr val="accent6">
                  <a:alpha val="70000"/>
                  <a:lumMod val="55000"/>
                  <a:lumOff val="45000"/>
                </a:schemeClr>
              </a:gs>
              <a:gs pos="85000">
                <a:schemeClr val="accent6">
                  <a:lumMod val="5167"/>
                  <a:lumOff val="94833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Night ~ 300 km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Day ~ 220 km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4DD8F7-51A0-8869-4FE1-E182DE67205B}"/>
              </a:ext>
            </a:extLst>
          </p:cNvPr>
          <p:cNvSpPr/>
          <p:nvPr/>
        </p:nvSpPr>
        <p:spPr>
          <a:xfrm>
            <a:off x="1905001" y="5026904"/>
            <a:ext cx="9905990" cy="400049"/>
          </a:xfrm>
          <a:prstGeom prst="rect">
            <a:avLst/>
          </a:prstGeom>
          <a:gradFill>
            <a:gsLst>
              <a:gs pos="0">
                <a:schemeClr val="accent6">
                  <a:lumMod val="5000"/>
                  <a:lumOff val="95000"/>
                </a:schemeClr>
              </a:gs>
              <a:gs pos="38000">
                <a:schemeClr val="accent6">
                  <a:alpha val="70000"/>
                  <a:lumMod val="90000"/>
                  <a:lumOff val="10000"/>
                </a:schemeClr>
              </a:gs>
              <a:gs pos="70000">
                <a:schemeClr val="accent6">
                  <a:alpha val="70000"/>
                  <a:lumMod val="90000"/>
                  <a:lumOff val="10000"/>
                </a:schemeClr>
              </a:gs>
              <a:gs pos="100000">
                <a:schemeClr val="accent6">
                  <a:lumMod val="5167"/>
                  <a:lumOff val="94833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CE5726-83F2-24C1-6679-236F377F4279}"/>
              </a:ext>
            </a:extLst>
          </p:cNvPr>
          <p:cNvSpPr/>
          <p:nvPr/>
        </p:nvSpPr>
        <p:spPr>
          <a:xfrm>
            <a:off x="1904999" y="4715753"/>
            <a:ext cx="9925041" cy="387351"/>
          </a:xfrm>
          <a:prstGeom prst="rect">
            <a:avLst/>
          </a:prstGeom>
          <a:gradFill>
            <a:gsLst>
              <a:gs pos="15000">
                <a:schemeClr val="accent6">
                  <a:lumMod val="5000"/>
                  <a:lumOff val="95000"/>
                </a:schemeClr>
              </a:gs>
              <a:gs pos="40000">
                <a:schemeClr val="accent6">
                  <a:alpha val="70000"/>
                  <a:lumMod val="75000"/>
                  <a:lumOff val="25000"/>
                </a:schemeClr>
              </a:gs>
              <a:gs pos="60000">
                <a:schemeClr val="accent6">
                  <a:alpha val="70000"/>
                  <a:lumMod val="75000"/>
                  <a:lumOff val="25000"/>
                </a:schemeClr>
              </a:gs>
              <a:gs pos="85000">
                <a:schemeClr val="accent6">
                  <a:lumMod val="5167"/>
                  <a:lumOff val="94833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59871B-107C-2E4F-B60A-CADF1F6788A3}"/>
              </a:ext>
            </a:extLst>
          </p:cNvPr>
          <p:cNvSpPr/>
          <p:nvPr/>
        </p:nvSpPr>
        <p:spPr>
          <a:xfrm>
            <a:off x="1905000" y="5712704"/>
            <a:ext cx="9906000" cy="685800"/>
          </a:xfrm>
          <a:prstGeom prst="rect">
            <a:avLst/>
          </a:prstGeom>
          <a:solidFill>
            <a:srgbClr val="0BFF0B">
              <a:alpha val="5948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31A735-D2F5-5624-59C3-CD126508E661}"/>
              </a:ext>
            </a:extLst>
          </p:cNvPr>
          <p:cNvCxnSpPr>
            <a:cxnSpLocks/>
          </p:cNvCxnSpPr>
          <p:nvPr/>
        </p:nvCxnSpPr>
        <p:spPr>
          <a:xfrm>
            <a:off x="2362200" y="5484104"/>
            <a:ext cx="0" cy="22860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8452694-CC18-261B-45CE-B6DCF29C58CE}"/>
              </a:ext>
            </a:extLst>
          </p:cNvPr>
          <p:cNvCxnSpPr>
            <a:cxnSpLocks/>
          </p:cNvCxnSpPr>
          <p:nvPr/>
        </p:nvCxnSpPr>
        <p:spPr>
          <a:xfrm>
            <a:off x="11353800" y="5484104"/>
            <a:ext cx="0" cy="22860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16">
            <a:extLst>
              <a:ext uri="{FF2B5EF4-FFF2-40B4-BE49-F238E27FC236}">
                <a16:creationId xmlns:a16="http://schemas.microsoft.com/office/drawing/2014/main" id="{BE453093-8264-0FEA-A97C-11E43175EA59}"/>
              </a:ext>
            </a:extLst>
          </p:cNvPr>
          <p:cNvSpPr/>
          <p:nvPr/>
        </p:nvSpPr>
        <p:spPr>
          <a:xfrm>
            <a:off x="2419350" y="3782305"/>
            <a:ext cx="8953481" cy="1987550"/>
          </a:xfrm>
          <a:custGeom>
            <a:avLst/>
            <a:gdLst>
              <a:gd name="connsiteX0" fmla="*/ 0 w 8953500"/>
              <a:gd name="connsiteY0" fmla="*/ 3029073 h 3124323"/>
              <a:gd name="connsiteX1" fmla="*/ 4324350 w 8953500"/>
              <a:gd name="connsiteY1" fmla="*/ 123 h 3124323"/>
              <a:gd name="connsiteX2" fmla="*/ 8953500 w 8953500"/>
              <a:gd name="connsiteY2" fmla="*/ 3124323 h 312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53500" h="3124323">
                <a:moveTo>
                  <a:pt x="0" y="3029073"/>
                </a:moveTo>
                <a:cubicBezTo>
                  <a:pt x="1416050" y="1506660"/>
                  <a:pt x="2832100" y="-15752"/>
                  <a:pt x="4324350" y="123"/>
                </a:cubicBezTo>
                <a:cubicBezTo>
                  <a:pt x="5816600" y="15998"/>
                  <a:pt x="7385050" y="1570160"/>
                  <a:pt x="8953500" y="312432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6022402-41E7-179A-3473-FC37EB599AEC}"/>
              </a:ext>
            </a:extLst>
          </p:cNvPr>
          <p:cNvSpPr/>
          <p:nvPr/>
        </p:nvSpPr>
        <p:spPr>
          <a:xfrm>
            <a:off x="2381237" y="3782304"/>
            <a:ext cx="4476789" cy="1930400"/>
          </a:xfrm>
          <a:custGeom>
            <a:avLst/>
            <a:gdLst>
              <a:gd name="connsiteX0" fmla="*/ 0 w 8953500"/>
              <a:gd name="connsiteY0" fmla="*/ 3029073 h 3124323"/>
              <a:gd name="connsiteX1" fmla="*/ 4324350 w 8953500"/>
              <a:gd name="connsiteY1" fmla="*/ 123 h 3124323"/>
              <a:gd name="connsiteX2" fmla="*/ 8953500 w 8953500"/>
              <a:gd name="connsiteY2" fmla="*/ 3124323 h 312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53500" h="3124323">
                <a:moveTo>
                  <a:pt x="0" y="3029073"/>
                </a:moveTo>
                <a:cubicBezTo>
                  <a:pt x="1416050" y="1506660"/>
                  <a:pt x="2832100" y="-15752"/>
                  <a:pt x="4324350" y="123"/>
                </a:cubicBezTo>
                <a:cubicBezTo>
                  <a:pt x="5816600" y="15998"/>
                  <a:pt x="7385050" y="1570160"/>
                  <a:pt x="8953500" y="312432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4386DADC-1F53-81EA-9A7F-C8231E9789EF}"/>
              </a:ext>
            </a:extLst>
          </p:cNvPr>
          <p:cNvSpPr/>
          <p:nvPr/>
        </p:nvSpPr>
        <p:spPr>
          <a:xfrm flipH="1">
            <a:off x="6858024" y="3725154"/>
            <a:ext cx="4476739" cy="1987550"/>
          </a:xfrm>
          <a:custGeom>
            <a:avLst/>
            <a:gdLst>
              <a:gd name="connsiteX0" fmla="*/ 0 w 8953500"/>
              <a:gd name="connsiteY0" fmla="*/ 3029073 h 3124323"/>
              <a:gd name="connsiteX1" fmla="*/ 4324350 w 8953500"/>
              <a:gd name="connsiteY1" fmla="*/ 123 h 3124323"/>
              <a:gd name="connsiteX2" fmla="*/ 8953500 w 8953500"/>
              <a:gd name="connsiteY2" fmla="*/ 3124323 h 312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53500" h="3124323">
                <a:moveTo>
                  <a:pt x="0" y="3029073"/>
                </a:moveTo>
                <a:cubicBezTo>
                  <a:pt x="1416050" y="1506660"/>
                  <a:pt x="2832100" y="-15752"/>
                  <a:pt x="4324350" y="123"/>
                </a:cubicBezTo>
                <a:cubicBezTo>
                  <a:pt x="5816600" y="15998"/>
                  <a:pt x="7385050" y="1570160"/>
                  <a:pt x="8953500" y="312432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FA03A1-B18F-85CF-094E-86069F29DCB4}"/>
              </a:ext>
            </a:extLst>
          </p:cNvPr>
          <p:cNvSpPr txBox="1"/>
          <p:nvPr/>
        </p:nvSpPr>
        <p:spPr>
          <a:xfrm>
            <a:off x="220102" y="3270760"/>
            <a:ext cx="16658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F2 Region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200-350 km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6FBED5-E64A-B5F3-2509-646A0B8CE51B}"/>
              </a:ext>
            </a:extLst>
          </p:cNvPr>
          <p:cNvSpPr txBox="1"/>
          <p:nvPr/>
        </p:nvSpPr>
        <p:spPr>
          <a:xfrm>
            <a:off x="366197" y="4729185"/>
            <a:ext cx="1276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 90-120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1D414C-4ABF-98F9-8FC1-C71BEAFBD325}"/>
              </a:ext>
            </a:extLst>
          </p:cNvPr>
          <p:cNvSpPr txBox="1"/>
          <p:nvPr/>
        </p:nvSpPr>
        <p:spPr>
          <a:xfrm>
            <a:off x="366197" y="5060114"/>
            <a:ext cx="1159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 60-90</a:t>
            </a:r>
          </a:p>
        </p:txBody>
      </p:sp>
    </p:spTree>
    <p:extLst>
      <p:ext uri="{BB962C8B-B14F-4D97-AF65-F5344CB8AC3E}">
        <p14:creationId xmlns:p14="http://schemas.microsoft.com/office/powerpoint/2010/main" val="1013035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308599-691F-04CE-A5CE-BB778BE2AD3E}"/>
              </a:ext>
            </a:extLst>
          </p:cNvPr>
          <p:cNvSpPr/>
          <p:nvPr/>
        </p:nvSpPr>
        <p:spPr>
          <a:xfrm>
            <a:off x="1905000" y="1066800"/>
            <a:ext cx="9905991" cy="1048174"/>
          </a:xfrm>
          <a:prstGeom prst="rect">
            <a:avLst/>
          </a:prstGeom>
          <a:gradFill>
            <a:gsLst>
              <a:gs pos="15000">
                <a:schemeClr val="accent6">
                  <a:lumMod val="5000"/>
                  <a:lumOff val="95000"/>
                </a:schemeClr>
              </a:gs>
              <a:gs pos="40000">
                <a:schemeClr val="accent6">
                  <a:alpha val="70000"/>
                  <a:lumMod val="55000"/>
                  <a:lumOff val="45000"/>
                </a:schemeClr>
              </a:gs>
              <a:gs pos="60000">
                <a:schemeClr val="accent6">
                  <a:alpha val="70000"/>
                  <a:lumMod val="55000"/>
                  <a:lumOff val="45000"/>
                </a:schemeClr>
              </a:gs>
              <a:gs pos="85000">
                <a:schemeClr val="accent6">
                  <a:lumMod val="5167"/>
                  <a:lumOff val="94833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F07A9-0994-5249-0248-D92EF3FE271E}"/>
              </a:ext>
            </a:extLst>
          </p:cNvPr>
          <p:cNvSpPr/>
          <p:nvPr/>
        </p:nvSpPr>
        <p:spPr>
          <a:xfrm>
            <a:off x="1905000" y="3638974"/>
            <a:ext cx="9906000" cy="685800"/>
          </a:xfrm>
          <a:prstGeom prst="rect">
            <a:avLst/>
          </a:prstGeom>
          <a:solidFill>
            <a:srgbClr val="0BFF0B">
              <a:alpha val="5948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002060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B9E2B7-1BBF-CE30-67D3-A898579DE581}"/>
              </a:ext>
            </a:extLst>
          </p:cNvPr>
          <p:cNvCxnSpPr>
            <a:cxnSpLocks/>
          </p:cNvCxnSpPr>
          <p:nvPr/>
        </p:nvCxnSpPr>
        <p:spPr>
          <a:xfrm>
            <a:off x="2362200" y="3410374"/>
            <a:ext cx="0" cy="22860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FA0267-5860-453B-767D-7F785CAE7161}"/>
              </a:ext>
            </a:extLst>
          </p:cNvPr>
          <p:cNvCxnSpPr>
            <a:cxnSpLocks/>
          </p:cNvCxnSpPr>
          <p:nvPr/>
        </p:nvCxnSpPr>
        <p:spPr>
          <a:xfrm>
            <a:off x="11353800" y="3410374"/>
            <a:ext cx="0" cy="22860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15">
            <a:extLst>
              <a:ext uri="{FF2B5EF4-FFF2-40B4-BE49-F238E27FC236}">
                <a16:creationId xmlns:a16="http://schemas.microsoft.com/office/drawing/2014/main" id="{BA8C3A4A-829A-A135-BE71-23C083E5245C}"/>
              </a:ext>
            </a:extLst>
          </p:cNvPr>
          <p:cNvSpPr/>
          <p:nvPr/>
        </p:nvSpPr>
        <p:spPr>
          <a:xfrm>
            <a:off x="2419350" y="1708575"/>
            <a:ext cx="8953481" cy="1987550"/>
          </a:xfrm>
          <a:custGeom>
            <a:avLst/>
            <a:gdLst>
              <a:gd name="connsiteX0" fmla="*/ 0 w 8953500"/>
              <a:gd name="connsiteY0" fmla="*/ 3029073 h 3124323"/>
              <a:gd name="connsiteX1" fmla="*/ 4324350 w 8953500"/>
              <a:gd name="connsiteY1" fmla="*/ 123 h 3124323"/>
              <a:gd name="connsiteX2" fmla="*/ 8953500 w 8953500"/>
              <a:gd name="connsiteY2" fmla="*/ 3124323 h 312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53500" h="3124323">
                <a:moveTo>
                  <a:pt x="0" y="3029073"/>
                </a:moveTo>
                <a:cubicBezTo>
                  <a:pt x="1416050" y="1506660"/>
                  <a:pt x="2832100" y="-15752"/>
                  <a:pt x="4324350" y="123"/>
                </a:cubicBezTo>
                <a:cubicBezTo>
                  <a:pt x="5816600" y="15998"/>
                  <a:pt x="7385050" y="1570160"/>
                  <a:pt x="8953500" y="312432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EF20FD3C-3CC1-F35A-7632-0601E8FAF9DC}"/>
              </a:ext>
            </a:extLst>
          </p:cNvPr>
          <p:cNvSpPr/>
          <p:nvPr/>
        </p:nvSpPr>
        <p:spPr>
          <a:xfrm>
            <a:off x="2381237" y="1708574"/>
            <a:ext cx="4476789" cy="1930400"/>
          </a:xfrm>
          <a:custGeom>
            <a:avLst/>
            <a:gdLst>
              <a:gd name="connsiteX0" fmla="*/ 0 w 8953500"/>
              <a:gd name="connsiteY0" fmla="*/ 3029073 h 3124323"/>
              <a:gd name="connsiteX1" fmla="*/ 4324350 w 8953500"/>
              <a:gd name="connsiteY1" fmla="*/ 123 h 3124323"/>
              <a:gd name="connsiteX2" fmla="*/ 8953500 w 8953500"/>
              <a:gd name="connsiteY2" fmla="*/ 3124323 h 312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53500" h="3124323">
                <a:moveTo>
                  <a:pt x="0" y="3029073"/>
                </a:moveTo>
                <a:cubicBezTo>
                  <a:pt x="1416050" y="1506660"/>
                  <a:pt x="2832100" y="-15752"/>
                  <a:pt x="4324350" y="123"/>
                </a:cubicBezTo>
                <a:cubicBezTo>
                  <a:pt x="5816600" y="15998"/>
                  <a:pt x="7385050" y="1570160"/>
                  <a:pt x="8953500" y="312432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BBB471CC-75F5-27EA-5752-EB1A90E5CF42}"/>
              </a:ext>
            </a:extLst>
          </p:cNvPr>
          <p:cNvSpPr/>
          <p:nvPr/>
        </p:nvSpPr>
        <p:spPr>
          <a:xfrm flipH="1">
            <a:off x="6858024" y="1651424"/>
            <a:ext cx="4476739" cy="1987550"/>
          </a:xfrm>
          <a:custGeom>
            <a:avLst/>
            <a:gdLst>
              <a:gd name="connsiteX0" fmla="*/ 0 w 8953500"/>
              <a:gd name="connsiteY0" fmla="*/ 3029073 h 3124323"/>
              <a:gd name="connsiteX1" fmla="*/ 4324350 w 8953500"/>
              <a:gd name="connsiteY1" fmla="*/ 123 h 3124323"/>
              <a:gd name="connsiteX2" fmla="*/ 8953500 w 8953500"/>
              <a:gd name="connsiteY2" fmla="*/ 3124323 h 312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53500" h="3124323">
                <a:moveTo>
                  <a:pt x="0" y="3029073"/>
                </a:moveTo>
                <a:cubicBezTo>
                  <a:pt x="1416050" y="1506660"/>
                  <a:pt x="2832100" y="-15752"/>
                  <a:pt x="4324350" y="123"/>
                </a:cubicBezTo>
                <a:cubicBezTo>
                  <a:pt x="5816600" y="15998"/>
                  <a:pt x="7385050" y="1570160"/>
                  <a:pt x="8953500" y="312432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680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A7DBA5-68D2-980D-13B0-91AE32C5A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49C0BF-85BD-B192-FF29-0BFB1438DC98}"/>
              </a:ext>
            </a:extLst>
          </p:cNvPr>
          <p:cNvSpPr/>
          <p:nvPr/>
        </p:nvSpPr>
        <p:spPr>
          <a:xfrm>
            <a:off x="720827" y="1414616"/>
            <a:ext cx="2168013" cy="12093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90006B-C3EC-62BB-5CBA-B511C761F2CF}"/>
              </a:ext>
            </a:extLst>
          </p:cNvPr>
          <p:cNvSpPr txBox="1"/>
          <p:nvPr/>
        </p:nvSpPr>
        <p:spPr>
          <a:xfrm>
            <a:off x="720827" y="1557635"/>
            <a:ext cx="2082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Computer with .wav Chirp Waveform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1AC8F0-4F8B-D3BA-1896-C87E3D20A259}"/>
              </a:ext>
            </a:extLst>
          </p:cNvPr>
          <p:cNvSpPr txBox="1"/>
          <p:nvPr/>
        </p:nvSpPr>
        <p:spPr>
          <a:xfrm>
            <a:off x="1048767" y="2294084"/>
            <a:ext cx="1674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Sound Card 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A5B00-8647-C9D1-0315-83C5DD7C9412}"/>
              </a:ext>
            </a:extLst>
          </p:cNvPr>
          <p:cNvSpPr/>
          <p:nvPr/>
        </p:nvSpPr>
        <p:spPr>
          <a:xfrm>
            <a:off x="720827" y="2900516"/>
            <a:ext cx="2168013" cy="12093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CF2BD3-FF09-821B-21F3-9D26EB34FE2C}"/>
              </a:ext>
            </a:extLst>
          </p:cNvPr>
          <p:cNvSpPr txBox="1"/>
          <p:nvPr/>
        </p:nvSpPr>
        <p:spPr>
          <a:xfrm>
            <a:off x="977823" y="3227343"/>
            <a:ext cx="1576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AM or SSB</a:t>
            </a:r>
          </a:p>
          <a:p>
            <a:pPr algn="ctr"/>
            <a:r>
              <a:rPr lang="en-US" dirty="0"/>
              <a:t>HF Transmitter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694ED3-33A4-028F-67E3-F820054D6CA7}"/>
              </a:ext>
            </a:extLst>
          </p:cNvPr>
          <p:cNvSpPr txBox="1"/>
          <p:nvPr/>
        </p:nvSpPr>
        <p:spPr>
          <a:xfrm>
            <a:off x="1048767" y="2900513"/>
            <a:ext cx="1576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Mic Input Interface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D81948C7-2D5D-6979-1181-BA9FE14724A7}"/>
              </a:ext>
            </a:extLst>
          </p:cNvPr>
          <p:cNvSpPr/>
          <p:nvPr/>
        </p:nvSpPr>
        <p:spPr>
          <a:xfrm rot="10800000">
            <a:off x="3028950" y="2900516"/>
            <a:ext cx="647700" cy="45228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BF94B2E-45CF-F163-BC19-54CD8A57EF64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1837252" y="2618996"/>
            <a:ext cx="0" cy="28151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290ED2-1F6A-74CB-7CD5-FF01D2873EAA}"/>
              </a:ext>
            </a:extLst>
          </p:cNvPr>
          <p:cNvCxnSpPr>
            <a:stCxn id="13" idx="0"/>
          </p:cNvCxnSpPr>
          <p:nvPr/>
        </p:nvCxnSpPr>
        <p:spPr>
          <a:xfrm>
            <a:off x="3352800" y="3352800"/>
            <a:ext cx="0" cy="15239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1626060-9708-62A5-F860-8DFB8A70266B}"/>
              </a:ext>
            </a:extLst>
          </p:cNvPr>
          <p:cNvCxnSpPr>
            <a:cxnSpLocks/>
          </p:cNvCxnSpPr>
          <p:nvPr/>
        </p:nvCxnSpPr>
        <p:spPr>
          <a:xfrm flipH="1">
            <a:off x="2888840" y="3505200"/>
            <a:ext cx="4639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366394AE-2461-A493-EED8-35EBFCA5C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413" y="1602946"/>
            <a:ext cx="4284124" cy="1624397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4E4F9F5-58B4-3E7B-D138-365FCED9968B}"/>
              </a:ext>
            </a:extLst>
          </p:cNvPr>
          <p:cNvSpPr/>
          <p:nvPr/>
        </p:nvSpPr>
        <p:spPr>
          <a:xfrm>
            <a:off x="9293327" y="1414616"/>
            <a:ext cx="2168013" cy="12093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000A67-1A02-39B2-693C-CF393594F812}"/>
              </a:ext>
            </a:extLst>
          </p:cNvPr>
          <p:cNvSpPr txBox="1"/>
          <p:nvPr/>
        </p:nvSpPr>
        <p:spPr>
          <a:xfrm>
            <a:off x="9293327" y="1557635"/>
            <a:ext cx="2082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Computer with .wav  Capture Program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6F9962-B895-DCB0-05FD-4E680AEC446B}"/>
              </a:ext>
            </a:extLst>
          </p:cNvPr>
          <p:cNvSpPr txBox="1"/>
          <p:nvPr/>
        </p:nvSpPr>
        <p:spPr>
          <a:xfrm>
            <a:off x="9621267" y="2294084"/>
            <a:ext cx="1674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Sound Card Input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2519ECB-4179-1359-3DCE-D4C1A6153BC8}"/>
              </a:ext>
            </a:extLst>
          </p:cNvPr>
          <p:cNvSpPr/>
          <p:nvPr/>
        </p:nvSpPr>
        <p:spPr>
          <a:xfrm>
            <a:off x="9293327" y="2900516"/>
            <a:ext cx="2168013" cy="12093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14F753-02B1-7975-70A8-AA5D7C7DC8E1}"/>
              </a:ext>
            </a:extLst>
          </p:cNvPr>
          <p:cNvSpPr txBox="1"/>
          <p:nvPr/>
        </p:nvSpPr>
        <p:spPr>
          <a:xfrm>
            <a:off x="9737621" y="3227342"/>
            <a:ext cx="127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AM or SSB</a:t>
            </a:r>
          </a:p>
          <a:p>
            <a:pPr algn="ctr"/>
            <a:r>
              <a:rPr lang="en-US" dirty="0"/>
              <a:t>HF Receiver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E8B9DA-518C-67C2-1C8B-375C52A293DF}"/>
              </a:ext>
            </a:extLst>
          </p:cNvPr>
          <p:cNvSpPr txBox="1"/>
          <p:nvPr/>
        </p:nvSpPr>
        <p:spPr>
          <a:xfrm>
            <a:off x="9859936" y="2919566"/>
            <a:ext cx="1178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Audio Output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EFD882D-0AC0-3B33-217B-1D9A44C94E7C}"/>
              </a:ext>
            </a:extLst>
          </p:cNvPr>
          <p:cNvCxnSpPr>
            <a:cxnSpLocks/>
          </p:cNvCxnSpPr>
          <p:nvPr/>
        </p:nvCxnSpPr>
        <p:spPr>
          <a:xfrm flipV="1">
            <a:off x="10401366" y="2590800"/>
            <a:ext cx="0" cy="3158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riangle 30">
            <a:extLst>
              <a:ext uri="{FF2B5EF4-FFF2-40B4-BE49-F238E27FC236}">
                <a16:creationId xmlns:a16="http://schemas.microsoft.com/office/drawing/2014/main" id="{1048BD9B-9153-B125-9871-3711BC2C16D7}"/>
              </a:ext>
            </a:extLst>
          </p:cNvPr>
          <p:cNvSpPr/>
          <p:nvPr/>
        </p:nvSpPr>
        <p:spPr>
          <a:xfrm rot="10800000">
            <a:off x="8496300" y="2919566"/>
            <a:ext cx="647700" cy="45228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4CC14E8-F8C4-C24F-0C40-1C8DFF8419E9}"/>
              </a:ext>
            </a:extLst>
          </p:cNvPr>
          <p:cNvCxnSpPr>
            <a:stCxn id="31" idx="0"/>
          </p:cNvCxnSpPr>
          <p:nvPr/>
        </p:nvCxnSpPr>
        <p:spPr>
          <a:xfrm>
            <a:off x="8820150" y="3371850"/>
            <a:ext cx="0" cy="15239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9E40C10-DDE1-40E3-68A2-9BA221E668C9}"/>
              </a:ext>
            </a:extLst>
          </p:cNvPr>
          <p:cNvCxnSpPr>
            <a:cxnSpLocks/>
          </p:cNvCxnSpPr>
          <p:nvPr/>
        </p:nvCxnSpPr>
        <p:spPr>
          <a:xfrm flipH="1">
            <a:off x="8813390" y="3524250"/>
            <a:ext cx="4639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E0B01D9-706F-5522-F563-56471CCA9ADE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3430270" y="2415145"/>
            <a:ext cx="514143" cy="344609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E7CDB84-DAB1-44E7-4DF5-A4114D14EA5B}"/>
              </a:ext>
            </a:extLst>
          </p:cNvPr>
          <p:cNvCxnSpPr>
            <a:cxnSpLocks/>
          </p:cNvCxnSpPr>
          <p:nvPr/>
        </p:nvCxnSpPr>
        <p:spPr>
          <a:xfrm>
            <a:off x="8277781" y="2487561"/>
            <a:ext cx="542369" cy="317705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014924B-9ABC-585E-9DEE-7623C65BD3DA}"/>
              </a:ext>
            </a:extLst>
          </p:cNvPr>
          <p:cNvSpPr txBox="1"/>
          <p:nvPr/>
        </p:nvSpPr>
        <p:spPr>
          <a:xfrm>
            <a:off x="3657607" y="3341643"/>
            <a:ext cx="4838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Skywave path with ground distance and operating frequency suitable for multi-hop propagation.</a:t>
            </a:r>
          </a:p>
        </p:txBody>
      </p:sp>
    </p:spTree>
    <p:extLst>
      <p:ext uri="{BB962C8B-B14F-4D97-AF65-F5344CB8AC3E}">
        <p14:creationId xmlns:p14="http://schemas.microsoft.com/office/powerpoint/2010/main" val="1064105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A7DBA5-68D2-980D-13B0-91AE32C5A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2E099-75C6-4785-BA6C-247B514205D8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49C0BF-85BD-B192-FF29-0BFB1438DC98}"/>
              </a:ext>
            </a:extLst>
          </p:cNvPr>
          <p:cNvSpPr/>
          <p:nvPr/>
        </p:nvSpPr>
        <p:spPr>
          <a:xfrm>
            <a:off x="720827" y="1414616"/>
            <a:ext cx="2168013" cy="12093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90006B-C3EC-62BB-5CBA-B511C761F2CF}"/>
              </a:ext>
            </a:extLst>
          </p:cNvPr>
          <p:cNvSpPr txBox="1"/>
          <p:nvPr/>
        </p:nvSpPr>
        <p:spPr>
          <a:xfrm>
            <a:off x="720827" y="1557635"/>
            <a:ext cx="2082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Computer with .wav Chirp Waveform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1AC8F0-4F8B-D3BA-1896-C87E3D20A259}"/>
              </a:ext>
            </a:extLst>
          </p:cNvPr>
          <p:cNvSpPr txBox="1"/>
          <p:nvPr/>
        </p:nvSpPr>
        <p:spPr>
          <a:xfrm>
            <a:off x="1048767" y="2294084"/>
            <a:ext cx="1674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Sound Card 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A5B00-8647-C9D1-0315-83C5DD7C9412}"/>
              </a:ext>
            </a:extLst>
          </p:cNvPr>
          <p:cNvSpPr/>
          <p:nvPr/>
        </p:nvSpPr>
        <p:spPr>
          <a:xfrm>
            <a:off x="720827" y="2900516"/>
            <a:ext cx="2168013" cy="12093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CF2BD3-FF09-821B-21F3-9D26EB34FE2C}"/>
              </a:ext>
            </a:extLst>
          </p:cNvPr>
          <p:cNvSpPr txBox="1"/>
          <p:nvPr/>
        </p:nvSpPr>
        <p:spPr>
          <a:xfrm>
            <a:off x="735392" y="3177042"/>
            <a:ext cx="21631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WA5FRF SSB</a:t>
            </a:r>
          </a:p>
          <a:p>
            <a:pPr algn="ctr"/>
            <a:r>
              <a:rPr lang="en-US" dirty="0"/>
              <a:t>HF Transmitter Near San Antonio, TX</a:t>
            </a:r>
          </a:p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694ED3-33A4-028F-67E3-F820054D6CA7}"/>
              </a:ext>
            </a:extLst>
          </p:cNvPr>
          <p:cNvSpPr txBox="1"/>
          <p:nvPr/>
        </p:nvSpPr>
        <p:spPr>
          <a:xfrm>
            <a:off x="1048767" y="2900513"/>
            <a:ext cx="1576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Mic Input Interface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D81948C7-2D5D-6979-1181-BA9FE14724A7}"/>
              </a:ext>
            </a:extLst>
          </p:cNvPr>
          <p:cNvSpPr/>
          <p:nvPr/>
        </p:nvSpPr>
        <p:spPr>
          <a:xfrm rot="10800000">
            <a:off x="3028950" y="2900516"/>
            <a:ext cx="647700" cy="45228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BF94B2E-45CF-F163-BC19-54CD8A57EF64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1837252" y="2618996"/>
            <a:ext cx="0" cy="28151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290ED2-1F6A-74CB-7CD5-FF01D2873EAA}"/>
              </a:ext>
            </a:extLst>
          </p:cNvPr>
          <p:cNvCxnSpPr>
            <a:stCxn id="13" idx="0"/>
          </p:cNvCxnSpPr>
          <p:nvPr/>
        </p:nvCxnSpPr>
        <p:spPr>
          <a:xfrm>
            <a:off x="3352800" y="3352800"/>
            <a:ext cx="0" cy="15239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1626060-9708-62A5-F860-8DFB8A70266B}"/>
              </a:ext>
            </a:extLst>
          </p:cNvPr>
          <p:cNvCxnSpPr>
            <a:cxnSpLocks/>
          </p:cNvCxnSpPr>
          <p:nvPr/>
        </p:nvCxnSpPr>
        <p:spPr>
          <a:xfrm flipH="1">
            <a:off x="2888840" y="3505200"/>
            <a:ext cx="4639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366394AE-2461-A493-EED8-35EBFCA5C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413" y="1602946"/>
            <a:ext cx="4284124" cy="1624397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4E4F9F5-58B4-3E7B-D138-365FCED9968B}"/>
              </a:ext>
            </a:extLst>
          </p:cNvPr>
          <p:cNvSpPr/>
          <p:nvPr/>
        </p:nvSpPr>
        <p:spPr>
          <a:xfrm>
            <a:off x="9293327" y="1414616"/>
            <a:ext cx="2168013" cy="12093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000A67-1A02-39B2-693C-CF393594F812}"/>
              </a:ext>
            </a:extLst>
          </p:cNvPr>
          <p:cNvSpPr txBox="1"/>
          <p:nvPr/>
        </p:nvSpPr>
        <p:spPr>
          <a:xfrm>
            <a:off x="9293327" y="1557635"/>
            <a:ext cx="2082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Computer with .wav  Capture Program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6F9962-B895-DCB0-05FD-4E680AEC446B}"/>
              </a:ext>
            </a:extLst>
          </p:cNvPr>
          <p:cNvSpPr txBox="1"/>
          <p:nvPr/>
        </p:nvSpPr>
        <p:spPr>
          <a:xfrm>
            <a:off x="9621267" y="2294084"/>
            <a:ext cx="1674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Sound Card Input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2519ECB-4179-1359-3DCE-D4C1A6153BC8}"/>
              </a:ext>
            </a:extLst>
          </p:cNvPr>
          <p:cNvSpPr/>
          <p:nvPr/>
        </p:nvSpPr>
        <p:spPr>
          <a:xfrm>
            <a:off x="9293327" y="2900516"/>
            <a:ext cx="2168013" cy="12093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14F753-02B1-7975-70A8-AA5D7C7DC8E1}"/>
              </a:ext>
            </a:extLst>
          </p:cNvPr>
          <p:cNvSpPr txBox="1"/>
          <p:nvPr/>
        </p:nvSpPr>
        <p:spPr>
          <a:xfrm>
            <a:off x="9480142" y="3168993"/>
            <a:ext cx="18447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N5DUP SSB</a:t>
            </a:r>
          </a:p>
          <a:p>
            <a:pPr algn="ctr"/>
            <a:r>
              <a:rPr lang="en-US" dirty="0"/>
              <a:t>HF Receiver Near Abilene, TX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E8B9DA-518C-67C2-1C8B-375C52A293DF}"/>
              </a:ext>
            </a:extLst>
          </p:cNvPr>
          <p:cNvSpPr txBox="1"/>
          <p:nvPr/>
        </p:nvSpPr>
        <p:spPr>
          <a:xfrm>
            <a:off x="9859936" y="2919566"/>
            <a:ext cx="1178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Audio Output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EFD882D-0AC0-3B33-217B-1D9A44C94E7C}"/>
              </a:ext>
            </a:extLst>
          </p:cNvPr>
          <p:cNvCxnSpPr>
            <a:cxnSpLocks/>
          </p:cNvCxnSpPr>
          <p:nvPr/>
        </p:nvCxnSpPr>
        <p:spPr>
          <a:xfrm flipV="1">
            <a:off x="10401366" y="2590800"/>
            <a:ext cx="0" cy="3158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riangle 30">
            <a:extLst>
              <a:ext uri="{FF2B5EF4-FFF2-40B4-BE49-F238E27FC236}">
                <a16:creationId xmlns:a16="http://schemas.microsoft.com/office/drawing/2014/main" id="{1048BD9B-9153-B125-9871-3711BC2C16D7}"/>
              </a:ext>
            </a:extLst>
          </p:cNvPr>
          <p:cNvSpPr/>
          <p:nvPr/>
        </p:nvSpPr>
        <p:spPr>
          <a:xfrm rot="10800000">
            <a:off x="8496300" y="2919566"/>
            <a:ext cx="647700" cy="45228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4CC14E8-F8C4-C24F-0C40-1C8DFF8419E9}"/>
              </a:ext>
            </a:extLst>
          </p:cNvPr>
          <p:cNvCxnSpPr>
            <a:stCxn id="31" idx="0"/>
          </p:cNvCxnSpPr>
          <p:nvPr/>
        </p:nvCxnSpPr>
        <p:spPr>
          <a:xfrm>
            <a:off x="8820150" y="3371850"/>
            <a:ext cx="0" cy="15239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9E40C10-DDE1-40E3-68A2-9BA221E668C9}"/>
              </a:ext>
            </a:extLst>
          </p:cNvPr>
          <p:cNvCxnSpPr>
            <a:cxnSpLocks/>
          </p:cNvCxnSpPr>
          <p:nvPr/>
        </p:nvCxnSpPr>
        <p:spPr>
          <a:xfrm flipH="1">
            <a:off x="8813390" y="3524250"/>
            <a:ext cx="46396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E0B01D9-706F-5522-F563-56471CCA9ADE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3430270" y="2415145"/>
            <a:ext cx="514143" cy="344609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E7CDB84-DAB1-44E7-4DF5-A4114D14EA5B}"/>
              </a:ext>
            </a:extLst>
          </p:cNvPr>
          <p:cNvCxnSpPr>
            <a:cxnSpLocks/>
          </p:cNvCxnSpPr>
          <p:nvPr/>
        </p:nvCxnSpPr>
        <p:spPr>
          <a:xfrm>
            <a:off x="8277781" y="2487561"/>
            <a:ext cx="542369" cy="317705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014924B-9ABC-585E-9DEE-7623C65BD3DA}"/>
              </a:ext>
            </a:extLst>
          </p:cNvPr>
          <p:cNvSpPr txBox="1"/>
          <p:nvPr/>
        </p:nvSpPr>
        <p:spPr>
          <a:xfrm>
            <a:off x="3570350" y="3324658"/>
            <a:ext cx="50064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Skywave path with ground distance and operating frequency suitable for multi-hop propagation.</a:t>
            </a:r>
          </a:p>
          <a:p>
            <a:pPr algn="ctr"/>
            <a:r>
              <a:rPr lang="en-US" dirty="0"/>
              <a:t>Frequencies for initial tests: 3.780 and 5.3715 MHz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ADD36D-FB39-624B-DF28-5D200E547B9F}"/>
              </a:ext>
            </a:extLst>
          </p:cNvPr>
          <p:cNvSpPr txBox="1"/>
          <p:nvPr/>
        </p:nvSpPr>
        <p:spPr>
          <a:xfrm>
            <a:off x="4732223" y="2848787"/>
            <a:ext cx="2733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Ground Distance = 317 km</a:t>
            </a:r>
          </a:p>
        </p:txBody>
      </p:sp>
    </p:spTree>
    <p:extLst>
      <p:ext uri="{BB962C8B-B14F-4D97-AF65-F5344CB8AC3E}">
        <p14:creationId xmlns:p14="http://schemas.microsoft.com/office/powerpoint/2010/main" val="200207168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5188</TotalTime>
  <Words>1006</Words>
  <Application>Microsoft Office PowerPoint</Application>
  <PresentationFormat>Widescreen</PresentationFormat>
  <Paragraphs>92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1_Office Theme</vt:lpstr>
      <vt:lpstr>Simplified 1 and 2 Hop Refraction from The F2 Region</vt:lpstr>
      <vt:lpstr>Simultaneous 1 Hop Refraction from the E and F2 Regions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Simplified Virtual Height Model Used to Relate Path Length to Reflection Height  </dc:title>
  <dc:creator>Steve Cerwin</dc:creator>
  <cp:lastModifiedBy>Dr. Nathaniel A. Frissell Ph.D.</cp:lastModifiedBy>
  <cp:revision>40</cp:revision>
  <dcterms:created xsi:type="dcterms:W3CDTF">2023-02-20T18:55:33Z</dcterms:created>
  <dcterms:modified xsi:type="dcterms:W3CDTF">2025-07-19T15:47:42Z</dcterms:modified>
</cp:coreProperties>
</file>