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465" r:id="rId2"/>
    <p:sldId id="507" r:id="rId3"/>
    <p:sldId id="50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45" autoAdjust="0"/>
    <p:restoredTop sz="92603" autoAdjust="0"/>
  </p:normalViewPr>
  <p:slideViewPr>
    <p:cSldViewPr snapToGrid="0">
      <p:cViewPr>
        <p:scale>
          <a:sx n="230" d="100"/>
          <a:sy n="230" d="100"/>
        </p:scale>
        <p:origin x="-2288" y="-2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606220-9AFA-4FA1-9079-EA85A4A02A9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AE693-752C-4720-B6D7-D348E1F4E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87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morning! My name is Steve Cerwin and I am going to talk about a way of probing the bottom side ionosphere using ordinary amateur radios transmitting and receiving audio waveforms that can reveal the Time Difference of Arrival, or TDOA between multipath propagation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AE693-752C-4720-B6D7-D348E1F4E4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93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4605-EF53-821B-529B-4E4CA251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C4EEE-77E8-DE5A-FD74-57F3F2C0B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F349C-F695-5DFA-AFEB-FCFDFE232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E681F-E16B-61EC-D75E-5708582E6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1AE693-752C-4720-B6D7-D348E1F4E4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0912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29F11-59D4-8B64-F7A8-A9494957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5CC2A-6E20-D15A-1885-D6A7DBD8D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3AE1F-367F-F8C9-6631-8DCB93AF4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BB07D-6C1C-5075-7CF8-55204D78C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1AE693-752C-4720-B6D7-D348E1F4E4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965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18D5-C364-681A-F336-254C47712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EC7F5-7BFE-5A34-D66B-D91F0C87B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BEC19-0A8D-C3AA-2A3F-4467BD45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21EBB-A9D2-0684-0B55-E4A3F0FD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1F745-533B-F306-2B5C-9C971304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3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27DF-7972-0E49-317C-37D6BC50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92EB8-7320-9577-A667-ED891D284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BFE0B-B19C-A2A1-762D-9C169654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E1DB9-E17D-DF24-70E4-1E041CBF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083F4-8D52-2C1E-96F2-F08E870F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9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2FE4-B0E0-4504-DCB9-66345B354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248A0-5A50-BAA8-AE36-24A9BA6A3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0D038-3E97-8F24-5C01-7AFF8291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A3934-C94E-34E7-7140-7043C4AE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5543F-7AEF-395F-4C86-026204D8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8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7314-97E3-1F82-652E-315F7662B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CEAE-06FE-8238-58D6-4960AB1CE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D1006-51BF-FF21-15A4-7CAF0F23E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C1338-4D8D-2075-E1F0-7F932E78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61E79-8D6F-B113-9A0C-27FCAF61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CD1FA-2360-1C81-02ED-1CC8AA1D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9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649D-56B0-9728-D1B7-AD4521D6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A6C79-4449-1C7A-A516-79CCC6F6D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A231A-D606-2EF7-61FD-2D043D726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31F68-4C14-C3A2-8851-A83A9251C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CE558-D50D-B0F3-2407-7BCAB0DD2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AF6E91-1845-0038-299A-E7D1F22A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0A02E-D1B3-93D8-C2D4-D4917913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30E3F5-C468-CD1A-8848-5354361D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9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3F6A-BF43-E98C-ACD3-9432E5CD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F50AF-91C3-61CA-B46A-DEA95A11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4558C-698F-35BD-4193-7BBF99FC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AB9BA-C606-76BB-FB59-CD5228708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7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D6E10-40FA-74F1-2547-E893FAF1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CC1C9-A010-42CA-C672-C7B93A24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69021-D371-FA64-8689-B9318DBC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2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FB8E4-3F17-6847-0FD6-23143306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3399A-A8F6-13DF-344D-E331C9210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14521-733E-6794-7638-9F0746F92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BA1B7-BD71-09C9-BB2B-525A885C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BC925-0590-D1B6-0BB1-F87671B1E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CA66E-2B96-69D2-25F6-626EE0EF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35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6614-BAA5-28FB-5606-F728094E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BD1BC2-0A3D-147C-A142-479B81A74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E830D-6BF2-F698-BCD9-C47420056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F800B-10F2-68BC-EDDD-9D37B498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013F8-E632-2F70-354D-AD014B48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766E7-BD61-4408-4AF5-B1D196BB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7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4547-C476-5E9F-00E7-56F22E327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35955-F25F-DC16-5A7F-02BF90A73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47494-4B36-5304-A297-381DA12E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CCC26-CE59-1D86-BA63-2646EC33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6E80-AEC2-8F5F-E7A6-2B309216D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3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7F85D-7190-1093-9FBD-E405A972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D832E-97C8-6830-C39E-D9F3EEAE9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783A0-745E-0934-1B8C-CE842FAD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B00ED-BEDD-FD5F-D3CC-8007E043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9ACDB-5C73-4509-1FEA-F54BC993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6ABC3-EAAC-B0B7-D3DC-71183A7D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33D00-F676-29D5-C369-7E64033DB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616E7-8C9B-63C8-4FE0-422C2C5F1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5E4D4-5F0F-4EDB-8383-53EA13D893D3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89E1-9C55-4435-878F-806B8DEBA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1B997-005D-01F7-C9F4-6D16FCAB1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1C0B9-E3A8-4662-BF5D-12372F198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6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C668-90E8-451C-C1A3-87C44D3A5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609" y="558837"/>
            <a:ext cx="10494333" cy="1854754"/>
          </a:xfrm>
        </p:spPr>
        <p:txBody>
          <a:bodyPr>
            <a:normAutofit/>
          </a:bodyPr>
          <a:lstStyle/>
          <a:p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HamSCI HF Multipath Propagation Mode Analysis Using Amateur Radios and Audio Waveforms Sensitive to Time Difference of Arrival (TDOA)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2A519-7BEC-5DBC-A6A4-EEF2BA81B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2640" y="2791047"/>
            <a:ext cx="6463711" cy="1477925"/>
          </a:xfrm>
        </p:spPr>
        <p:txBody>
          <a:bodyPr>
            <a:normAutofit/>
          </a:bodyPr>
          <a:lstStyle/>
          <a:p>
            <a:r>
              <a:rPr lang="en-US" sz="1800" dirty="0"/>
              <a:t>Steve Cerwin WA5FRF, Jesse T. McMahan K1FR,</a:t>
            </a:r>
          </a:p>
          <a:p>
            <a:r>
              <a:rPr lang="en-US" sz="1800" dirty="0"/>
              <a:t>Alexandros Papadopoulos KC3WUD, Gerard Piccini KD2ZHK,</a:t>
            </a:r>
          </a:p>
          <a:p>
            <a:r>
              <a:rPr lang="en-US" sz="1800" dirty="0"/>
              <a:t>Paul Bilberry N5DUP, Sam Blackshear AB5YO</a:t>
            </a:r>
          </a:p>
          <a:p>
            <a:r>
              <a:rPr lang="en-US" sz="1800" dirty="0"/>
              <a:t>Kristina V. Collins KD8OXT, Nathaniel  A. Frissell W2NAV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4D52B-A8FE-5FB1-A573-9385532A661A}"/>
              </a:ext>
            </a:extLst>
          </p:cNvPr>
          <p:cNvSpPr txBox="1"/>
          <p:nvPr/>
        </p:nvSpPr>
        <p:spPr>
          <a:xfrm>
            <a:off x="1725835" y="4646429"/>
            <a:ext cx="80173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avenir_nextdemi_bold"/>
              </a:rPr>
              <a:t>American Geophysical Union (AGU) Fall Meeting 2024</a:t>
            </a:r>
          </a:p>
          <a:p>
            <a:pPr algn="ctr"/>
            <a:r>
              <a:rPr lang="en-US" sz="2800" dirty="0">
                <a:latin typeface="avenir_nextdemi_bold"/>
              </a:rPr>
              <a:t>December 9-13, 2024</a:t>
            </a:r>
            <a:endParaRPr lang="en-US" sz="2800" dirty="0"/>
          </a:p>
        </p:txBody>
      </p:sp>
      <p:pic>
        <p:nvPicPr>
          <p:cNvPr id="5" name="Picture 4" descr="A person standing on a computer&#10;&#10;Description automatically generated">
            <a:extLst>
              <a:ext uri="{FF2B5EF4-FFF2-40B4-BE49-F238E27FC236}">
                <a16:creationId xmlns:a16="http://schemas.microsoft.com/office/drawing/2014/main" id="{4AA33C46-CB2B-2B4B-741F-A62FF67BD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05" y="6148571"/>
            <a:ext cx="2453853" cy="548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708A3E-DEE8-9805-492B-D51AEC7A6769}"/>
              </a:ext>
            </a:extLst>
          </p:cNvPr>
          <p:cNvSpPr txBox="1"/>
          <p:nvPr/>
        </p:nvSpPr>
        <p:spPr>
          <a:xfrm>
            <a:off x="2724728" y="6192082"/>
            <a:ext cx="4192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steve@cerwinconsulting.com</a:t>
            </a:r>
          </a:p>
        </p:txBody>
      </p:sp>
    </p:spTree>
    <p:extLst>
      <p:ext uri="{BB962C8B-B14F-4D97-AF65-F5344CB8AC3E}">
        <p14:creationId xmlns:p14="http://schemas.microsoft.com/office/powerpoint/2010/main" val="18292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B692-FEE1-9240-4422-57575A22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96A3-F69D-86AA-0E03-39C254BB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772" y="12737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TDOA Plots with a 2:1 Relationship Observed Over a Near Vertical Incidence Skywave (NVIS) Path</a:t>
            </a:r>
          </a:p>
        </p:txBody>
      </p:sp>
      <p:pic>
        <p:nvPicPr>
          <p:cNvPr id="6" name="Picture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82F57851-3B88-E12F-C7CC-EAC70148D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8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65" y="1806733"/>
            <a:ext cx="5192110" cy="28767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20FE5-4AB4-FC6C-24E4-444025BAB4F7}"/>
              </a:ext>
            </a:extLst>
          </p:cNvPr>
          <p:cNvCxnSpPr>
            <a:cxnSpLocks/>
          </p:cNvCxnSpPr>
          <p:nvPr/>
        </p:nvCxnSpPr>
        <p:spPr>
          <a:xfrm>
            <a:off x="7388772" y="4593030"/>
            <a:ext cx="3815255" cy="0"/>
          </a:xfrm>
          <a:prstGeom prst="line">
            <a:avLst/>
          </a:prstGeom>
          <a:ln w="1270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AB2A1-AC79-F46F-CF3A-FCCA7CE3654F}"/>
              </a:ext>
            </a:extLst>
          </p:cNvPr>
          <p:cNvCxnSpPr>
            <a:cxnSpLocks/>
          </p:cNvCxnSpPr>
          <p:nvPr/>
        </p:nvCxnSpPr>
        <p:spPr>
          <a:xfrm>
            <a:off x="7299134" y="2659126"/>
            <a:ext cx="3894382" cy="0"/>
          </a:xfrm>
          <a:prstGeom prst="line">
            <a:avLst/>
          </a:prstGeom>
          <a:ln w="603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80FEBA-AB45-7CAB-50B2-F2D649BA916F}"/>
              </a:ext>
            </a:extLst>
          </p:cNvPr>
          <p:cNvCxnSpPr>
            <a:cxnSpLocks/>
          </p:cNvCxnSpPr>
          <p:nvPr/>
        </p:nvCxnSpPr>
        <p:spPr>
          <a:xfrm flipV="1">
            <a:off x="8954814" y="2695913"/>
            <a:ext cx="168165" cy="1823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1A72A3-FA46-45BD-E741-DC960A116FD9}"/>
              </a:ext>
            </a:extLst>
          </p:cNvPr>
          <p:cNvCxnSpPr>
            <a:cxnSpLocks/>
          </p:cNvCxnSpPr>
          <p:nvPr/>
        </p:nvCxnSpPr>
        <p:spPr>
          <a:xfrm>
            <a:off x="9122979" y="2622337"/>
            <a:ext cx="252248" cy="1897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2AC25E-9850-0AC0-A6D1-20A82C490633}"/>
              </a:ext>
            </a:extLst>
          </p:cNvPr>
          <p:cNvCxnSpPr>
            <a:cxnSpLocks/>
          </p:cNvCxnSpPr>
          <p:nvPr/>
        </p:nvCxnSpPr>
        <p:spPr>
          <a:xfrm flipV="1">
            <a:off x="9401504" y="2695913"/>
            <a:ext cx="168165" cy="1823541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A2065F-40DF-4DAE-FA3F-F62D5E2C0BC3}"/>
              </a:ext>
            </a:extLst>
          </p:cNvPr>
          <p:cNvCxnSpPr>
            <a:cxnSpLocks/>
          </p:cNvCxnSpPr>
          <p:nvPr/>
        </p:nvCxnSpPr>
        <p:spPr>
          <a:xfrm>
            <a:off x="9569669" y="2622337"/>
            <a:ext cx="252248" cy="1897117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EDE4FA-067D-23B2-7D74-5E1E176016B7}"/>
              </a:ext>
            </a:extLst>
          </p:cNvPr>
          <p:cNvCxnSpPr>
            <a:cxnSpLocks/>
          </p:cNvCxnSpPr>
          <p:nvPr/>
        </p:nvCxnSpPr>
        <p:spPr>
          <a:xfrm flipV="1">
            <a:off x="9861330" y="2695913"/>
            <a:ext cx="168165" cy="1823541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7F4359-1FC5-3D9E-1A6A-F157934F00A5}"/>
              </a:ext>
            </a:extLst>
          </p:cNvPr>
          <p:cNvCxnSpPr>
            <a:cxnSpLocks/>
          </p:cNvCxnSpPr>
          <p:nvPr/>
        </p:nvCxnSpPr>
        <p:spPr>
          <a:xfrm>
            <a:off x="10029495" y="2622337"/>
            <a:ext cx="252248" cy="189711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775D633-214D-C258-7CD3-A41EA8F09CA6}"/>
              </a:ext>
            </a:extLst>
          </p:cNvPr>
          <p:cNvSpPr txBox="1"/>
          <p:nvPr/>
        </p:nvSpPr>
        <p:spPr>
          <a:xfrm>
            <a:off x="9088925" y="4556240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2F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3F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675E21-1336-6CEB-D069-26A6730B75AA}"/>
              </a:ext>
            </a:extLst>
          </p:cNvPr>
          <p:cNvSpPr txBox="1"/>
          <p:nvPr/>
        </p:nvSpPr>
        <p:spPr>
          <a:xfrm>
            <a:off x="8509366" y="2274026"/>
            <a:ext cx="2162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Layer at ~ 290 km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1186D2-6690-2E7F-4FFF-CAF4277C9BAC}"/>
              </a:ext>
            </a:extLst>
          </p:cNvPr>
          <p:cNvSpPr txBox="1"/>
          <p:nvPr/>
        </p:nvSpPr>
        <p:spPr>
          <a:xfrm>
            <a:off x="10878912" y="4261953"/>
            <a:ext cx="71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Earth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160AF0-8797-8FB9-168D-6D6F0BF9A931}"/>
              </a:ext>
            </a:extLst>
          </p:cNvPr>
          <p:cNvSpPr txBox="1"/>
          <p:nvPr/>
        </p:nvSpPr>
        <p:spPr>
          <a:xfrm>
            <a:off x="5604056" y="3768753"/>
            <a:ext cx="995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- 2F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TDOA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8D3AB3-781C-6112-71C9-1BC5B2BA0F55}"/>
              </a:ext>
            </a:extLst>
          </p:cNvPr>
          <p:cNvSpPr txBox="1"/>
          <p:nvPr/>
        </p:nvSpPr>
        <p:spPr>
          <a:xfrm>
            <a:off x="5598107" y="2296515"/>
            <a:ext cx="995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- 3F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TDOA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D0308A-572F-0C23-92C1-4EE5B916DA8A}"/>
              </a:ext>
            </a:extLst>
          </p:cNvPr>
          <p:cNvSpPr txBox="1"/>
          <p:nvPr/>
        </p:nvSpPr>
        <p:spPr>
          <a:xfrm>
            <a:off x="7299134" y="1583489"/>
            <a:ext cx="4541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NVIS Path Where Distance Between Stations is Small Compared to Layer Height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62E74D-1F40-9129-2A9E-4309E3B3E1DD}"/>
              </a:ext>
            </a:extLst>
          </p:cNvPr>
          <p:cNvSpPr txBox="1"/>
          <p:nvPr/>
        </p:nvSpPr>
        <p:spPr>
          <a:xfrm>
            <a:off x="8214590" y="5379824"/>
            <a:ext cx="3625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Path  1F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- 3F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: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 = 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 - 2h = 4h</a:t>
            </a:r>
            <a:endParaRPr kumimoji="0" lang="en-US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0D6D88-9A07-C6ED-EFCF-3D7FFE9AEAAC}"/>
              </a:ext>
            </a:extLst>
          </p:cNvPr>
          <p:cNvSpPr txBox="1"/>
          <p:nvPr/>
        </p:nvSpPr>
        <p:spPr>
          <a:xfrm>
            <a:off x="8225101" y="5007447"/>
            <a:ext cx="3380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Path 1F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- 2F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: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 = 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 = 2h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CD586E-CA55-51FB-DCD6-69DFDBFFF8E2}"/>
              </a:ext>
            </a:extLst>
          </p:cNvPr>
          <p:cNvSpPr txBox="1"/>
          <p:nvPr/>
        </p:nvSpPr>
        <p:spPr>
          <a:xfrm>
            <a:off x="7533443" y="5854784"/>
            <a:ext cx="4072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Path Length for 1F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- 3F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exactly twice 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1F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- 2F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NVIS Paths.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C3E926-304C-98DE-86F7-596852597CE2}"/>
              </a:ext>
            </a:extLst>
          </p:cNvPr>
          <p:cNvSpPr txBox="1"/>
          <p:nvPr/>
        </p:nvSpPr>
        <p:spPr>
          <a:xfrm>
            <a:off x="539154" y="4756782"/>
            <a:ext cx="5630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nearly exact doubling in TDOA is theorized to be a result of TDOA between 1-hop and 3-hops from F2.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Both the baseline values and the many of the inflection amplitudes along the plots are doubled. 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ED4A611-2074-A2DA-D202-C8A673781EF5}"/>
              </a:ext>
            </a:extLst>
          </p:cNvPr>
          <p:cNvCxnSpPr/>
          <p:nvPr/>
        </p:nvCxnSpPr>
        <p:spPr>
          <a:xfrm>
            <a:off x="7651535" y="2695913"/>
            <a:ext cx="0" cy="18235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D875284-0D6E-6A76-B487-6184CDBA9AE5}"/>
              </a:ext>
            </a:extLst>
          </p:cNvPr>
          <p:cNvSpPr txBox="1"/>
          <p:nvPr/>
        </p:nvSpPr>
        <p:spPr>
          <a:xfrm>
            <a:off x="7515655" y="3453810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A3EF55-F120-5473-5B13-322ED14A011B}"/>
              </a:ext>
            </a:extLst>
          </p:cNvPr>
          <p:cNvSpPr txBox="1"/>
          <p:nvPr/>
        </p:nvSpPr>
        <p:spPr>
          <a:xfrm>
            <a:off x="10711535" y="3401338"/>
            <a:ext cx="715837" cy="52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Not to scale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A83EBA-2FBB-230F-5404-88AB892DD138}"/>
              </a:ext>
            </a:extLst>
          </p:cNvPr>
          <p:cNvSpPr txBox="1"/>
          <p:nvPr/>
        </p:nvSpPr>
        <p:spPr>
          <a:xfrm>
            <a:off x="3983590" y="1746133"/>
            <a:ext cx="17604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Ground Distance = 8.7 km</a:t>
            </a:r>
          </a:p>
        </p:txBody>
      </p:sp>
    </p:spTree>
    <p:extLst>
      <p:ext uri="{BB962C8B-B14F-4D97-AF65-F5344CB8AC3E}">
        <p14:creationId xmlns:p14="http://schemas.microsoft.com/office/powerpoint/2010/main" val="1475465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10D0-A434-4668-FFBD-288125831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AAD2-BBCA-3A26-6AD0-1C27FFA7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772" y="12737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TDOA Plots with a 2:1 Relationship Observed Over a Near Vertical Incidence Skywave (NVIS) Path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42F84B-E453-D471-54D3-74243C24D75C}"/>
              </a:ext>
            </a:extLst>
          </p:cNvPr>
          <p:cNvGrpSpPr/>
          <p:nvPr/>
        </p:nvGrpSpPr>
        <p:grpSpPr>
          <a:xfrm>
            <a:off x="1666695" y="2513135"/>
            <a:ext cx="8195313" cy="2651546"/>
            <a:chOff x="1666695" y="2513135"/>
            <a:chExt cx="8195313" cy="26515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015A04E-E782-ADD2-136D-161527FAA3F0}"/>
                </a:ext>
              </a:extLst>
            </p:cNvPr>
            <p:cNvSpPr/>
            <p:nvPr/>
          </p:nvSpPr>
          <p:spPr>
            <a:xfrm>
              <a:off x="1666695" y="2513135"/>
              <a:ext cx="8098194" cy="26515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2C6C702-8F9D-1678-CD60-8FE9FF5D9625}"/>
                </a:ext>
              </a:extLst>
            </p:cNvPr>
            <p:cNvGrpSpPr/>
            <p:nvPr/>
          </p:nvGrpSpPr>
          <p:grpSpPr>
            <a:xfrm>
              <a:off x="1666695" y="2513135"/>
              <a:ext cx="8195313" cy="2651546"/>
              <a:chOff x="1776423" y="2540567"/>
              <a:chExt cx="8195313" cy="2651546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D0D655-BA6B-CD2A-BE1E-F7A472ACA3CA}"/>
                  </a:ext>
                </a:extLst>
              </p:cNvPr>
              <p:cNvSpPr txBox="1"/>
              <p:nvPr/>
            </p:nvSpPr>
            <p:spPr>
              <a:xfrm>
                <a:off x="5899284" y="2888878"/>
                <a:ext cx="407245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prstClr val="black"/>
                    </a:solidFill>
                  </a:rPr>
                  <a:t>Path 1F</a:t>
                </a:r>
                <a:r>
                  <a:rPr lang="en-US" baseline="-25000" dirty="0">
                    <a:solidFill>
                      <a:prstClr val="black"/>
                    </a:solidFill>
                  </a:rPr>
                  <a:t>2 </a:t>
                </a:r>
                <a:r>
                  <a:rPr lang="en-US" dirty="0">
                    <a:solidFill>
                      <a:prstClr val="black"/>
                    </a:solidFill>
                  </a:rPr>
                  <a:t>- 2F</a:t>
                </a:r>
                <a:r>
                  <a:rPr lang="en-US" baseline="-25000" dirty="0">
                    <a:solidFill>
                      <a:prstClr val="black"/>
                    </a:solidFill>
                  </a:rPr>
                  <a:t>2</a:t>
                </a:r>
                <a:r>
                  <a:rPr lang="en-US" dirty="0">
                    <a:solidFill>
                      <a:prstClr val="black"/>
                    </a:solidFill>
                  </a:rPr>
                  <a:t> :  </a:t>
                </a:r>
                <a:r>
                  <a:rPr lang="en-US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D</a:t>
                </a:r>
                <a:r>
                  <a:rPr lang="en-US" dirty="0">
                    <a:solidFill>
                      <a:prstClr val="black"/>
                    </a:solidFill>
                  </a:rPr>
                  <a:t>P = 4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</a:t>
                </a:r>
                <a:r>
                  <a:rPr lang="en-US" dirty="0">
                    <a:solidFill>
                      <a:prstClr val="black"/>
                    </a:solidFill>
                  </a:rPr>
                  <a:t>- 2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= 2h</a:t>
                </a:r>
              </a:p>
              <a:p>
                <a:pPr>
                  <a:defRPr/>
                </a:pPr>
                <a:r>
                  <a:rPr lang="en-US" dirty="0">
                    <a:solidFill>
                      <a:prstClr val="black"/>
                    </a:solidFill>
                  </a:rPr>
                  <a:t>Path  1F</a:t>
                </a:r>
                <a:r>
                  <a:rPr lang="en-US" baseline="-25000" dirty="0">
                    <a:solidFill>
                      <a:prstClr val="black"/>
                    </a:solidFill>
                  </a:rPr>
                  <a:t>2 </a:t>
                </a:r>
                <a:r>
                  <a:rPr lang="en-US" dirty="0">
                    <a:solidFill>
                      <a:prstClr val="black"/>
                    </a:solidFill>
                  </a:rPr>
                  <a:t>- 3F</a:t>
                </a:r>
                <a:r>
                  <a:rPr lang="en-US" baseline="-25000" dirty="0">
                    <a:solidFill>
                      <a:prstClr val="black"/>
                    </a:solidFill>
                  </a:rPr>
                  <a:t>2</a:t>
                </a:r>
                <a:r>
                  <a:rPr lang="en-US" dirty="0">
                    <a:solidFill>
                      <a:prstClr val="black"/>
                    </a:solidFill>
                  </a:rPr>
                  <a:t> :</a:t>
                </a:r>
                <a:r>
                  <a:rPr lang="en-US" baseline="-25000" dirty="0">
                    <a:solidFill>
                      <a:prstClr val="black"/>
                    </a:solidFill>
                  </a:rPr>
                  <a:t>    </a:t>
                </a:r>
                <a:r>
                  <a:rPr lang="en-US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D</a:t>
                </a:r>
                <a:r>
                  <a:rPr lang="en-US" dirty="0">
                    <a:solidFill>
                      <a:prstClr val="black"/>
                    </a:solidFill>
                  </a:rPr>
                  <a:t>P = 6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- 2h = 4h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Path Length for 1F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- 3F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is exactly twice 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1F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- 2F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for NVIS Paths</a:t>
                </a:r>
                <a:r>
                  <a:rPr lang="en-US" dirty="0">
                    <a:solidFill>
                      <a:prstClr val="black"/>
                    </a:solidFill>
                    <a:latin typeface="Aptos" panose="02110004020202020204"/>
                  </a:rPr>
                  <a:t> where distance between station is small compared to the layer height.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DBBBCB0A-B002-A5CE-42A6-5BE81C51743F}"/>
                  </a:ext>
                </a:extLst>
              </p:cNvPr>
              <p:cNvGrpSpPr/>
              <p:nvPr/>
            </p:nvGrpSpPr>
            <p:grpSpPr>
              <a:xfrm>
                <a:off x="1776423" y="2540567"/>
                <a:ext cx="3944306" cy="2651546"/>
                <a:chOff x="7299134" y="2274026"/>
                <a:chExt cx="3944306" cy="2651546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BE6AFAA-1FDF-CE9F-AB5A-CF0CED92C3F0}"/>
                    </a:ext>
                  </a:extLst>
                </p:cNvPr>
                <p:cNvSpPr txBox="1"/>
                <p:nvPr/>
              </p:nvSpPr>
              <p:spPr>
                <a:xfrm>
                  <a:off x="8509366" y="2274026"/>
                  <a:ext cx="21626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F</a:t>
                  </a:r>
                  <a:r>
                    <a:rPr kumimoji="0" 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2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Layer at ~ 290 km</a:t>
                  </a:r>
                </a:p>
              </p:txBody>
            </p:sp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4A199268-AF4F-EF22-3F96-7216D4E5A8D3}"/>
                    </a:ext>
                  </a:extLst>
                </p:cNvPr>
                <p:cNvGrpSpPr/>
                <p:nvPr/>
              </p:nvGrpSpPr>
              <p:grpSpPr>
                <a:xfrm>
                  <a:off x="7299134" y="2622337"/>
                  <a:ext cx="3944306" cy="2303235"/>
                  <a:chOff x="7299134" y="2622337"/>
                  <a:chExt cx="3944306" cy="2303235"/>
                </a:xfrm>
              </p:grpSpPr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0CBCC38F-F7F5-1727-6CBA-4DD4623A21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99134" y="4593030"/>
                    <a:ext cx="3886200" cy="0"/>
                  </a:xfrm>
                  <a:prstGeom prst="line">
                    <a:avLst/>
                  </a:prstGeom>
                  <a:ln w="1270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Connector 9">
                    <a:extLst>
                      <a:ext uri="{FF2B5EF4-FFF2-40B4-BE49-F238E27FC236}">
                        <a16:creationId xmlns:a16="http://schemas.microsoft.com/office/drawing/2014/main" id="{A2C69111-7505-E012-5E97-945071DB7E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99134" y="2659126"/>
                    <a:ext cx="3886200" cy="0"/>
                  </a:xfrm>
                  <a:prstGeom prst="line">
                    <a:avLst/>
                  </a:prstGeom>
                  <a:ln w="60325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AE6845A-80DA-5523-47C1-1D73BBD356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954814" y="2695913"/>
                    <a:ext cx="168165" cy="1823541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B346FC70-C523-0ED0-EA95-8184D98F75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22979" y="2622337"/>
                    <a:ext cx="252248" cy="1897117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>
                    <a:extLst>
                      <a:ext uri="{FF2B5EF4-FFF2-40B4-BE49-F238E27FC236}">
                        <a16:creationId xmlns:a16="http://schemas.microsoft.com/office/drawing/2014/main" id="{77FF9E4D-58A2-698E-B07A-7683CF32CC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401504" y="2695913"/>
                    <a:ext cx="168165" cy="1823541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prstDash val="lg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C80EB0DA-6E9B-211B-3D33-E1D35019C9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569669" y="2622337"/>
                    <a:ext cx="252248" cy="1897117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prstDash val="lg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EC33D655-41B7-5624-EB67-E334236B70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861330" y="2695913"/>
                    <a:ext cx="168165" cy="1823541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prstDash val="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D4652EAD-7BA9-48C5-DACF-EDC969E521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29495" y="2622337"/>
                    <a:ext cx="252248" cy="1897117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prstDash val="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B41306D-C64D-8230-326B-59C67AE48DFE}"/>
                      </a:ext>
                    </a:extLst>
                  </p:cNvPr>
                  <p:cNvSpPr txBox="1"/>
                  <p:nvPr/>
                </p:nvSpPr>
                <p:spPr>
                  <a:xfrm>
                    <a:off x="9088925" y="4556240"/>
                    <a:ext cx="15840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1F</a:t>
                    </a:r>
                    <a:r>
                      <a:rPr kumimoji="0" 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2</a:t>
                    </a: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    2F</a:t>
                    </a:r>
                    <a:r>
                      <a:rPr kumimoji="0" 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2</a:t>
                    </a: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    3F</a:t>
                    </a:r>
                    <a:r>
                      <a:rPr kumimoji="0" 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2</a:t>
                    </a: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124EE58-9D76-0B53-C79B-A7F20F14A5FE}"/>
                      </a:ext>
                    </a:extLst>
                  </p:cNvPr>
                  <p:cNvSpPr txBox="1"/>
                  <p:nvPr/>
                </p:nvSpPr>
                <p:spPr>
                  <a:xfrm>
                    <a:off x="10527603" y="4223698"/>
                    <a:ext cx="7158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Earth</a:t>
                    </a:r>
                  </a:p>
                </p:txBody>
              </p:sp>
              <p:cxnSp>
                <p:nvCxnSpPr>
                  <p:cNvPr id="51" name="Straight Arrow Connector 50">
                    <a:extLst>
                      <a:ext uri="{FF2B5EF4-FFF2-40B4-BE49-F238E27FC236}">
                        <a16:creationId xmlns:a16="http://schemas.microsoft.com/office/drawing/2014/main" id="{BC369999-60C6-C802-47BA-C164DEABF5CC}"/>
                      </a:ext>
                    </a:extLst>
                  </p:cNvPr>
                  <p:cNvCxnSpPr/>
                  <p:nvPr/>
                </p:nvCxnSpPr>
                <p:spPr>
                  <a:xfrm>
                    <a:off x="7651535" y="2695913"/>
                    <a:ext cx="0" cy="1823541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F9C089BC-7D89-FEE6-4CCA-A27DBAB09E08}"/>
                      </a:ext>
                    </a:extLst>
                  </p:cNvPr>
                  <p:cNvSpPr txBox="1"/>
                  <p:nvPr/>
                </p:nvSpPr>
                <p:spPr>
                  <a:xfrm>
                    <a:off x="7515655" y="3453810"/>
                    <a:ext cx="311304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h</a:t>
                    </a:r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D7233F0F-2EF3-62F0-F9C1-29C15C8FDB36}"/>
                      </a:ext>
                    </a:extLst>
                  </p:cNvPr>
                  <p:cNvSpPr txBox="1"/>
                  <p:nvPr/>
                </p:nvSpPr>
                <p:spPr>
                  <a:xfrm>
                    <a:off x="10460316" y="2687255"/>
                    <a:ext cx="715837" cy="52807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Not to scale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3919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34997</TotalTime>
  <Words>343</Words>
  <Application>Microsoft Macintosh PowerPoint</Application>
  <PresentationFormat>Widescreen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avenir_nextdemi_bold</vt:lpstr>
      <vt:lpstr>Calibri</vt:lpstr>
      <vt:lpstr>Symbol</vt:lpstr>
      <vt:lpstr>Office Theme</vt:lpstr>
      <vt:lpstr>HamSCI HF Multipath Propagation Mode Analysis Using Amateur Radios and Audio Waveforms Sensitive to Time Difference of Arrival (TDOA) </vt:lpstr>
      <vt:lpstr>TDOA Plots with a 2:1 Relationship Observed Over a Near Vertical Incidence Skywave (NVIS) Path</vt:lpstr>
      <vt:lpstr>TDOA Plots with a 2:1 Relationship Observed Over a Near Vertical Incidence Skywave (NVIS) Path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Cerwin</dc:creator>
  <cp:lastModifiedBy>Dr. Nathaniel A. Frissell Ph.D.</cp:lastModifiedBy>
  <cp:revision>178</cp:revision>
  <dcterms:created xsi:type="dcterms:W3CDTF">2024-10-19T11:54:09Z</dcterms:created>
  <dcterms:modified xsi:type="dcterms:W3CDTF">2025-12-22T15:00:57Z</dcterms:modified>
</cp:coreProperties>
</file>