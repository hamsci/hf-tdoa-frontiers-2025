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473"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106" autoAdjust="0"/>
  </p:normalViewPr>
  <p:slideViewPr>
    <p:cSldViewPr snapToGrid="0">
      <p:cViewPr varScale="1">
        <p:scale>
          <a:sx n="102" d="100"/>
          <a:sy n="102" d="100"/>
        </p:scale>
        <p:origin x="894" y="114"/>
      </p:cViewPr>
      <p:guideLst/>
    </p:cSldViewPr>
  </p:slideViewPr>
  <p:notesTextViewPr>
    <p:cViewPr>
      <p:scale>
        <a:sx n="1" d="1"/>
        <a:sy n="1" d="1"/>
      </p:scale>
      <p:origin x="0" y="0"/>
    </p:cViewPr>
  </p:notesTextViewPr>
  <p:sorterViewPr>
    <p:cViewPr>
      <p:scale>
        <a:sx n="140" d="100"/>
        <a:sy n="140"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606220-9AFA-4FA1-9079-EA85A4A02A94}" type="datetimeFigureOut">
              <a:rPr lang="en-US" smtClean="0"/>
              <a:t>7/19/2025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1AE693-752C-4720-B6D7-D348E1F4E496}" type="slidenum">
              <a:rPr lang="en-US" smtClean="0"/>
              <a:t>‹#›</a:t>
            </a:fld>
            <a:endParaRPr lang="en-US"/>
          </a:p>
        </p:txBody>
      </p:sp>
    </p:spTree>
    <p:extLst>
      <p:ext uri="{BB962C8B-B14F-4D97-AF65-F5344CB8AC3E}">
        <p14:creationId xmlns:p14="http://schemas.microsoft.com/office/powerpoint/2010/main" val="1716587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CC8B7-16B5-6C38-BD92-40CDFAB761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976EFC-BD21-D9EE-4F6F-E0CC8B0E99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3CA477-0383-D57E-D200-510A61618969}"/>
              </a:ext>
            </a:extLst>
          </p:cNvPr>
          <p:cNvSpPr>
            <a:spLocks noGrp="1"/>
          </p:cNvSpPr>
          <p:nvPr>
            <p:ph type="body" idx="1"/>
          </p:nvPr>
        </p:nvSpPr>
        <p:spPr/>
        <p:txBody>
          <a:bodyPr/>
          <a:lstStyle/>
          <a:p>
            <a:r>
              <a:rPr lang="en-US" dirty="0"/>
              <a:t>In multipath propagation over a fixed path, the shorter mode arrives first followed by the longer. Both naturally sum in the receiver. The Time Difference of Arrival between the two modes can be measured by using an audio waveform that is sensitive to summation with a delayed copy of itself. A linear frequency chirp is one such waveform. The center illustration is a simulation showing two 10 Hz/ms chirps summed with a 1 ms time delay to represent reception of two multipath modes. The chirps sweep from 0 to 5000 Hz in 500 ms. The 1 ms time delay means the delayed chirp will always be 10 Hz behind throughout the entire overlap period. When summed, this difference frequency manifests as a 10 Hz beat note that shows up as amplitude scalloping in the chirp envelope. In practice, TDOA can be calculated from the received waveform either in the frequency domain by measurement of beat note frequency or the time domain by measurement of beat note period. The audio clip gives the 10-chirp sequence that was used during the 2024 total eclipse. The right three illustrations show waveforms as received in on-air tests. The top waveform was recorded over a direct, non-ionospheric path to show how the chirp waveform envelope can be modified by bandwidth restriction and passband shape in actual radio equipment. Only about 3 kHz of the 5 kHz chirp makes it through a typical SSB TX passband, and overall shape shows the TX-RX low and high frequency skirt responses. The lower two waveforms show appearance of waveforms undergoing actual multipath interference. The center waveform shows a 1.6 ms TDOA over a 317 km path, which is consistent with 1 and 2 hops from the F2 layer at a height of 260 km. The bottom waveform similarly shows a TDOA of 1.9 ms over a 407 km path, which is consistent with 1 and 2 hops from the F2 layer at a height of 315 km.</a:t>
            </a:r>
          </a:p>
        </p:txBody>
      </p:sp>
      <p:sp>
        <p:nvSpPr>
          <p:cNvPr id="4" name="Slide Number Placeholder 3">
            <a:extLst>
              <a:ext uri="{FF2B5EF4-FFF2-40B4-BE49-F238E27FC236}">
                <a16:creationId xmlns:a16="http://schemas.microsoft.com/office/drawing/2014/main" id="{36F0707E-CF7F-2AFC-752F-8762F8445ABC}"/>
              </a:ext>
            </a:extLst>
          </p:cNvPr>
          <p:cNvSpPr>
            <a:spLocks noGrp="1"/>
          </p:cNvSpPr>
          <p:nvPr>
            <p:ph type="sldNum" sz="quarter" idx="5"/>
          </p:nvPr>
        </p:nvSpPr>
        <p:spPr/>
        <p:txBody>
          <a:bodyPr/>
          <a:lstStyle/>
          <a:p>
            <a:fld id="{FED5E9B0-4D2F-6940-960C-7170460E1BE8}" type="slidenum">
              <a:rPr lang="en-US" smtClean="0"/>
              <a:t>1</a:t>
            </a:fld>
            <a:endParaRPr lang="en-US"/>
          </a:p>
        </p:txBody>
      </p:sp>
    </p:spTree>
    <p:extLst>
      <p:ext uri="{BB962C8B-B14F-4D97-AF65-F5344CB8AC3E}">
        <p14:creationId xmlns:p14="http://schemas.microsoft.com/office/powerpoint/2010/main" val="1106030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918D5-C364-681A-F336-254C47712B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6EC7F5-7BFE-5A34-D66B-D91F0C87BB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1BEC19-0A8D-C3AA-2A3F-4467BD450E78}"/>
              </a:ext>
            </a:extLst>
          </p:cNvPr>
          <p:cNvSpPr>
            <a:spLocks noGrp="1"/>
          </p:cNvSpPr>
          <p:nvPr>
            <p:ph type="dt" sz="half" idx="10"/>
          </p:nvPr>
        </p:nvSpPr>
        <p:spPr/>
        <p:txBody>
          <a:bodyPr/>
          <a:lstStyle/>
          <a:p>
            <a:fld id="{A8B5E4D4-5F0F-4EDB-8383-53EA13D893D3}" type="datetimeFigureOut">
              <a:rPr lang="en-US" smtClean="0"/>
              <a:t>7/19/2025</a:t>
            </a:fld>
            <a:endParaRPr lang="en-US"/>
          </a:p>
        </p:txBody>
      </p:sp>
      <p:sp>
        <p:nvSpPr>
          <p:cNvPr id="5" name="Footer Placeholder 4">
            <a:extLst>
              <a:ext uri="{FF2B5EF4-FFF2-40B4-BE49-F238E27FC236}">
                <a16:creationId xmlns:a16="http://schemas.microsoft.com/office/drawing/2014/main" id="{6E121EBB-A9D2-0684-0B55-E4A3F0FDC8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E1F745-533B-F306-2B5C-9C97130426C3}"/>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715635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127DF-7972-0E49-317C-37D6BC5001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C92EB8-7320-9577-A667-ED891D284C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6BFE0B-B19C-A2A1-762D-9C1696540189}"/>
              </a:ext>
            </a:extLst>
          </p:cNvPr>
          <p:cNvSpPr>
            <a:spLocks noGrp="1"/>
          </p:cNvSpPr>
          <p:nvPr>
            <p:ph type="dt" sz="half" idx="10"/>
          </p:nvPr>
        </p:nvSpPr>
        <p:spPr/>
        <p:txBody>
          <a:bodyPr/>
          <a:lstStyle/>
          <a:p>
            <a:fld id="{A8B5E4D4-5F0F-4EDB-8383-53EA13D893D3}" type="datetimeFigureOut">
              <a:rPr lang="en-US" smtClean="0"/>
              <a:t>7/19/2025</a:t>
            </a:fld>
            <a:endParaRPr lang="en-US"/>
          </a:p>
        </p:txBody>
      </p:sp>
      <p:sp>
        <p:nvSpPr>
          <p:cNvPr id="5" name="Footer Placeholder 4">
            <a:extLst>
              <a:ext uri="{FF2B5EF4-FFF2-40B4-BE49-F238E27FC236}">
                <a16:creationId xmlns:a16="http://schemas.microsoft.com/office/drawing/2014/main" id="{7A7E1DB9-E17D-DF24-70E4-1E041CBF2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2083F4-8D52-2C1E-96F2-F08E870F710B}"/>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729090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D2FE4-B0E0-4504-DCB9-66345B3543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6248A0-5A50-BAA8-AE36-24A9BA6A32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F0D038-3E97-8F24-5C01-7AFF8291DEC6}"/>
              </a:ext>
            </a:extLst>
          </p:cNvPr>
          <p:cNvSpPr>
            <a:spLocks noGrp="1"/>
          </p:cNvSpPr>
          <p:nvPr>
            <p:ph type="dt" sz="half" idx="10"/>
          </p:nvPr>
        </p:nvSpPr>
        <p:spPr/>
        <p:txBody>
          <a:bodyPr/>
          <a:lstStyle/>
          <a:p>
            <a:fld id="{A8B5E4D4-5F0F-4EDB-8383-53EA13D893D3}" type="datetimeFigureOut">
              <a:rPr lang="en-US" smtClean="0"/>
              <a:t>7/19/2025</a:t>
            </a:fld>
            <a:endParaRPr lang="en-US"/>
          </a:p>
        </p:txBody>
      </p:sp>
      <p:sp>
        <p:nvSpPr>
          <p:cNvPr id="5" name="Footer Placeholder 4">
            <a:extLst>
              <a:ext uri="{FF2B5EF4-FFF2-40B4-BE49-F238E27FC236}">
                <a16:creationId xmlns:a16="http://schemas.microsoft.com/office/drawing/2014/main" id="{4E0A3934-C94E-34E7-7140-7043C4AE7B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85543F-7AEF-395F-4C86-026204D85C1F}"/>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503786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A7314-97E3-1F82-652E-315F7662B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ADCEAE-06FE-8238-58D6-4960AB1CE0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ED1006-51BF-FF21-15A4-7CAF0F23E8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B4C1338-4D8D-2075-E1F0-7F932E78F841}"/>
              </a:ext>
            </a:extLst>
          </p:cNvPr>
          <p:cNvSpPr>
            <a:spLocks noGrp="1"/>
          </p:cNvSpPr>
          <p:nvPr>
            <p:ph type="dt" sz="half" idx="10"/>
          </p:nvPr>
        </p:nvSpPr>
        <p:spPr/>
        <p:txBody>
          <a:bodyPr/>
          <a:lstStyle/>
          <a:p>
            <a:fld id="{A8B5E4D4-5F0F-4EDB-8383-53EA13D893D3}" type="datetimeFigureOut">
              <a:rPr lang="en-US" smtClean="0"/>
              <a:t>7/19/2025</a:t>
            </a:fld>
            <a:endParaRPr lang="en-US"/>
          </a:p>
        </p:txBody>
      </p:sp>
      <p:sp>
        <p:nvSpPr>
          <p:cNvPr id="6" name="Footer Placeholder 5">
            <a:extLst>
              <a:ext uri="{FF2B5EF4-FFF2-40B4-BE49-F238E27FC236}">
                <a16:creationId xmlns:a16="http://schemas.microsoft.com/office/drawing/2014/main" id="{8B761E79-8D6F-B113-9A0C-27FCAF6186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7CD1FA-2360-1C81-02ED-1CC8AA1DD50B}"/>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771596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649D-56B0-9728-D1B7-AD4521D6AD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5A6C79-4449-1C7A-A516-79CCC6F6DB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8A231A-D606-2EF7-61FD-2D043D7267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A31F68-4C14-C3A2-8851-A83A9251CE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DCE558-D50D-B0F3-2407-7BCAB0DD2D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AF6E91-1845-0038-299A-E7D1F22AE517}"/>
              </a:ext>
            </a:extLst>
          </p:cNvPr>
          <p:cNvSpPr>
            <a:spLocks noGrp="1"/>
          </p:cNvSpPr>
          <p:nvPr>
            <p:ph type="dt" sz="half" idx="10"/>
          </p:nvPr>
        </p:nvSpPr>
        <p:spPr/>
        <p:txBody>
          <a:bodyPr/>
          <a:lstStyle/>
          <a:p>
            <a:fld id="{A8B5E4D4-5F0F-4EDB-8383-53EA13D893D3}" type="datetimeFigureOut">
              <a:rPr lang="en-US" smtClean="0"/>
              <a:t>7/19/2025</a:t>
            </a:fld>
            <a:endParaRPr lang="en-US"/>
          </a:p>
        </p:txBody>
      </p:sp>
      <p:sp>
        <p:nvSpPr>
          <p:cNvPr id="8" name="Footer Placeholder 7">
            <a:extLst>
              <a:ext uri="{FF2B5EF4-FFF2-40B4-BE49-F238E27FC236}">
                <a16:creationId xmlns:a16="http://schemas.microsoft.com/office/drawing/2014/main" id="{4350A02E-D1B3-93D8-C2D4-D4917913CC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430E3F5-C468-CD1A-8848-5354361DBD97}"/>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3289696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D3F6A-BF43-E98C-ACD3-9432E5CDD6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6DF50AF-91C3-61CA-B46A-DEA95A1146AF}"/>
              </a:ext>
            </a:extLst>
          </p:cNvPr>
          <p:cNvSpPr>
            <a:spLocks noGrp="1"/>
          </p:cNvSpPr>
          <p:nvPr>
            <p:ph type="dt" sz="half" idx="10"/>
          </p:nvPr>
        </p:nvSpPr>
        <p:spPr/>
        <p:txBody>
          <a:bodyPr/>
          <a:lstStyle/>
          <a:p>
            <a:fld id="{A8B5E4D4-5F0F-4EDB-8383-53EA13D893D3}" type="datetimeFigureOut">
              <a:rPr lang="en-US" smtClean="0"/>
              <a:t>7/19/2025</a:t>
            </a:fld>
            <a:endParaRPr lang="en-US"/>
          </a:p>
        </p:txBody>
      </p:sp>
      <p:sp>
        <p:nvSpPr>
          <p:cNvPr id="4" name="Footer Placeholder 3">
            <a:extLst>
              <a:ext uri="{FF2B5EF4-FFF2-40B4-BE49-F238E27FC236}">
                <a16:creationId xmlns:a16="http://schemas.microsoft.com/office/drawing/2014/main" id="{3D84558C-698F-35BD-4193-7BBF99FC93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0AB9BA-C606-76BB-FB59-CD5228708D8C}"/>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2321679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5D6E10-40FA-74F1-2547-E893FAF1238F}"/>
              </a:ext>
            </a:extLst>
          </p:cNvPr>
          <p:cNvSpPr>
            <a:spLocks noGrp="1"/>
          </p:cNvSpPr>
          <p:nvPr>
            <p:ph type="dt" sz="half" idx="10"/>
          </p:nvPr>
        </p:nvSpPr>
        <p:spPr/>
        <p:txBody>
          <a:bodyPr/>
          <a:lstStyle/>
          <a:p>
            <a:fld id="{A8B5E4D4-5F0F-4EDB-8383-53EA13D893D3}" type="datetimeFigureOut">
              <a:rPr lang="en-US" smtClean="0"/>
              <a:t>7/19/2025</a:t>
            </a:fld>
            <a:endParaRPr lang="en-US"/>
          </a:p>
        </p:txBody>
      </p:sp>
      <p:sp>
        <p:nvSpPr>
          <p:cNvPr id="3" name="Footer Placeholder 2">
            <a:extLst>
              <a:ext uri="{FF2B5EF4-FFF2-40B4-BE49-F238E27FC236}">
                <a16:creationId xmlns:a16="http://schemas.microsoft.com/office/drawing/2014/main" id="{49CCC1C9-A010-42CA-C672-C7B93A2418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C669021-D371-FA64-8689-B9318DBCBE55}"/>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918128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FB8E4-3F17-6847-0FD6-23143306DD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43399A-A8F6-13DF-344D-E331C9210B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614521-733E-6794-7638-9F0746F924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DBA1B7-BD71-09C9-BB2B-525A885C1BA2}"/>
              </a:ext>
            </a:extLst>
          </p:cNvPr>
          <p:cNvSpPr>
            <a:spLocks noGrp="1"/>
          </p:cNvSpPr>
          <p:nvPr>
            <p:ph type="dt" sz="half" idx="10"/>
          </p:nvPr>
        </p:nvSpPr>
        <p:spPr/>
        <p:txBody>
          <a:bodyPr/>
          <a:lstStyle/>
          <a:p>
            <a:fld id="{A8B5E4D4-5F0F-4EDB-8383-53EA13D893D3}" type="datetimeFigureOut">
              <a:rPr lang="en-US" smtClean="0"/>
              <a:t>7/19/2025</a:t>
            </a:fld>
            <a:endParaRPr lang="en-US"/>
          </a:p>
        </p:txBody>
      </p:sp>
      <p:sp>
        <p:nvSpPr>
          <p:cNvPr id="6" name="Footer Placeholder 5">
            <a:extLst>
              <a:ext uri="{FF2B5EF4-FFF2-40B4-BE49-F238E27FC236}">
                <a16:creationId xmlns:a16="http://schemas.microsoft.com/office/drawing/2014/main" id="{F27BC925-0590-D1B6-0BB1-F87671B1E7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6CA66E-2B96-69D2-25F6-626EE0EFD083}"/>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645835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56614-BAA5-28FB-5606-F728094E3F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BD1BC2-0A3D-147C-A142-479B81A74E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DFE830D-6BF2-F698-BCD9-C47420056E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1F800B-10F2-68BC-EDDD-9D37B4982EDB}"/>
              </a:ext>
            </a:extLst>
          </p:cNvPr>
          <p:cNvSpPr>
            <a:spLocks noGrp="1"/>
          </p:cNvSpPr>
          <p:nvPr>
            <p:ph type="dt" sz="half" idx="10"/>
          </p:nvPr>
        </p:nvSpPr>
        <p:spPr/>
        <p:txBody>
          <a:bodyPr/>
          <a:lstStyle/>
          <a:p>
            <a:fld id="{A8B5E4D4-5F0F-4EDB-8383-53EA13D893D3}" type="datetimeFigureOut">
              <a:rPr lang="en-US" smtClean="0"/>
              <a:t>7/19/2025</a:t>
            </a:fld>
            <a:endParaRPr lang="en-US"/>
          </a:p>
        </p:txBody>
      </p:sp>
      <p:sp>
        <p:nvSpPr>
          <p:cNvPr id="6" name="Footer Placeholder 5">
            <a:extLst>
              <a:ext uri="{FF2B5EF4-FFF2-40B4-BE49-F238E27FC236}">
                <a16:creationId xmlns:a16="http://schemas.microsoft.com/office/drawing/2014/main" id="{00C013F8-E632-2F70-354D-AD014B48D2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6766E7-BD61-4408-4AF5-B1D196BB1FD7}"/>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805374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74547-C476-5E9F-00E7-56F22E3275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C35955-F25F-DC16-5A7F-02BF90A731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247494-4B36-5304-A297-381DA12E6E29}"/>
              </a:ext>
            </a:extLst>
          </p:cNvPr>
          <p:cNvSpPr>
            <a:spLocks noGrp="1"/>
          </p:cNvSpPr>
          <p:nvPr>
            <p:ph type="dt" sz="half" idx="10"/>
          </p:nvPr>
        </p:nvSpPr>
        <p:spPr/>
        <p:txBody>
          <a:bodyPr/>
          <a:lstStyle/>
          <a:p>
            <a:fld id="{A8B5E4D4-5F0F-4EDB-8383-53EA13D893D3}" type="datetimeFigureOut">
              <a:rPr lang="en-US" smtClean="0"/>
              <a:t>7/19/2025</a:t>
            </a:fld>
            <a:endParaRPr lang="en-US"/>
          </a:p>
        </p:txBody>
      </p:sp>
      <p:sp>
        <p:nvSpPr>
          <p:cNvPr id="5" name="Footer Placeholder 4">
            <a:extLst>
              <a:ext uri="{FF2B5EF4-FFF2-40B4-BE49-F238E27FC236}">
                <a16:creationId xmlns:a16="http://schemas.microsoft.com/office/drawing/2014/main" id="{A7ECCC26-CE59-1D86-BA63-2646EC3301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166E80-AEC2-8F5F-E7A6-2B309216D871}"/>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488734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27F85D-7190-1093-9FBD-E405A9729D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9D832E-97C8-6830-C39E-D9F3EEAE91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0783A0-745E-0934-1B8C-CE842FAD4236}"/>
              </a:ext>
            </a:extLst>
          </p:cNvPr>
          <p:cNvSpPr>
            <a:spLocks noGrp="1"/>
          </p:cNvSpPr>
          <p:nvPr>
            <p:ph type="dt" sz="half" idx="10"/>
          </p:nvPr>
        </p:nvSpPr>
        <p:spPr/>
        <p:txBody>
          <a:bodyPr/>
          <a:lstStyle/>
          <a:p>
            <a:fld id="{A8B5E4D4-5F0F-4EDB-8383-53EA13D893D3}" type="datetimeFigureOut">
              <a:rPr lang="en-US" smtClean="0"/>
              <a:t>7/19/2025</a:t>
            </a:fld>
            <a:endParaRPr lang="en-US"/>
          </a:p>
        </p:txBody>
      </p:sp>
      <p:sp>
        <p:nvSpPr>
          <p:cNvPr id="5" name="Footer Placeholder 4">
            <a:extLst>
              <a:ext uri="{FF2B5EF4-FFF2-40B4-BE49-F238E27FC236}">
                <a16:creationId xmlns:a16="http://schemas.microsoft.com/office/drawing/2014/main" id="{35CB00ED-BEDD-FD5F-D3CC-8007E043D4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59ACDB-5C73-4509-1FEA-F54BC9931956}"/>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492870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E6ABC3-EAAC-B0B7-D3DC-71183A7DF2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633D00-F676-29D5-C369-7E64033DBD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B616E7-8C9B-63C8-4FE0-422C2C5F1B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B5E4D4-5F0F-4EDB-8383-53EA13D893D3}" type="datetimeFigureOut">
              <a:rPr lang="en-US" smtClean="0"/>
              <a:t>7/19/2025</a:t>
            </a:fld>
            <a:endParaRPr lang="en-US"/>
          </a:p>
        </p:txBody>
      </p:sp>
      <p:sp>
        <p:nvSpPr>
          <p:cNvPr id="5" name="Footer Placeholder 4">
            <a:extLst>
              <a:ext uri="{FF2B5EF4-FFF2-40B4-BE49-F238E27FC236}">
                <a16:creationId xmlns:a16="http://schemas.microsoft.com/office/drawing/2014/main" id="{82E489E1-9C55-4435-878F-806B8DEBA5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F01B997-005D-01F7-C9F4-6D16FCAB1F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B1C0B9-E3A8-4662-BF5D-12372F198869}" type="slidenum">
              <a:rPr lang="en-US" smtClean="0"/>
              <a:t>‹#›</a:t>
            </a:fld>
            <a:endParaRPr lang="en-US"/>
          </a:p>
        </p:txBody>
      </p:sp>
    </p:spTree>
    <p:extLst>
      <p:ext uri="{BB962C8B-B14F-4D97-AF65-F5344CB8AC3E}">
        <p14:creationId xmlns:p14="http://schemas.microsoft.com/office/powerpoint/2010/main" val="2854267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6.xml"/><Relationship Id="rId7" Type="http://schemas.openxmlformats.org/officeDocument/2006/relationships/image" Target="../media/image3.png"/><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CD390-8359-22F5-B4E1-11CEFA85791C}"/>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1FD97E11-870C-9DFE-9638-F9BBBBC867A8}"/>
              </a:ext>
            </a:extLst>
          </p:cNvPr>
          <p:cNvSpPr txBox="1">
            <a:spLocks noGrp="1" noRot="1" noMove="1" noResize="1" noEditPoints="1" noAdjustHandles="1" noChangeArrowheads="1" noChangeShapeType="1"/>
          </p:cNvSpPr>
          <p:nvPr>
            <p:ph type="title"/>
          </p:nvPr>
        </p:nvSpPr>
        <p:spPr>
          <a:xfrm>
            <a:off x="294969" y="205909"/>
            <a:ext cx="11372423" cy="870431"/>
          </a:xfrm>
          <a:prstGeom prst="rect">
            <a:avLst/>
          </a:prstGeom>
          <a:noFill/>
        </p:spPr>
        <p:txBody>
          <a:bodyPr wrap="square" rtlCol="0">
            <a:spAutoFit/>
          </a:bodyPr>
          <a:lstStyle/>
          <a:p>
            <a:pPr algn="ctr"/>
            <a:r>
              <a:rPr lang="en-US" sz="2800" dirty="0"/>
              <a:t>An Audio Frequency Chirp Transmitted By Stock SSB or AM Amateur Radios Can be Used to Measure Time Difference of Arrival (TDOA) </a:t>
            </a:r>
          </a:p>
        </p:txBody>
      </p:sp>
      <p:sp>
        <p:nvSpPr>
          <p:cNvPr id="30" name="TextBox 29">
            <a:extLst>
              <a:ext uri="{FF2B5EF4-FFF2-40B4-BE49-F238E27FC236}">
                <a16:creationId xmlns:a16="http://schemas.microsoft.com/office/drawing/2014/main" id="{2A27A4BD-703C-81BA-73D1-5B1974372B69}"/>
              </a:ext>
            </a:extLst>
          </p:cNvPr>
          <p:cNvSpPr txBox="1">
            <a:spLocks noGrp="1" noRot="1" noMove="1" noResize="1" noEditPoints="1" noAdjustHandles="1" noChangeArrowheads="1" noChangeShapeType="1"/>
          </p:cNvSpPr>
          <p:nvPr/>
        </p:nvSpPr>
        <p:spPr>
          <a:xfrm>
            <a:off x="363180" y="1044673"/>
            <a:ext cx="11727207" cy="923330"/>
          </a:xfrm>
          <a:prstGeom prst="rect">
            <a:avLst/>
          </a:prstGeom>
          <a:noFill/>
        </p:spPr>
        <p:txBody>
          <a:bodyPr wrap="square" rtlCol="0">
            <a:spAutoFit/>
          </a:bodyPr>
          <a:lstStyle/>
          <a:p>
            <a:r>
              <a:rPr lang="en-US" dirty="0"/>
              <a:t>The summation of a linear chirp with a delayed copy of itself produces a beat note frequency at  f</a:t>
            </a:r>
            <a:r>
              <a:rPr lang="en-US" baseline="-25000" dirty="0"/>
              <a:t>b</a:t>
            </a:r>
            <a:r>
              <a:rPr lang="en-US" dirty="0"/>
              <a:t> = Sweep Rate * </a:t>
            </a:r>
            <a:r>
              <a:rPr lang="en-US" dirty="0">
                <a:latin typeface="Symbol" pitchFamily="2" charset="2"/>
              </a:rPr>
              <a:t>D</a:t>
            </a:r>
            <a:r>
              <a:rPr lang="en-US" dirty="0"/>
              <a:t>t.</a:t>
            </a:r>
          </a:p>
          <a:p>
            <a:r>
              <a:rPr lang="en-US" dirty="0"/>
              <a:t>Beat pattern has a period p = 1/ f</a:t>
            </a:r>
            <a:r>
              <a:rPr lang="en-US" baseline="-25000" dirty="0"/>
              <a:t>b</a:t>
            </a:r>
            <a:r>
              <a:rPr lang="en-US" dirty="0"/>
              <a:t>. The Time Difference of Arrival (TDOA=</a:t>
            </a:r>
            <a:r>
              <a:rPr lang="en-US" dirty="0">
                <a:latin typeface="Symbol" pitchFamily="2" charset="2"/>
              </a:rPr>
              <a:t> D</a:t>
            </a:r>
            <a:r>
              <a:rPr lang="en-US" dirty="0"/>
              <a:t>t) can be calculated by:</a:t>
            </a:r>
          </a:p>
          <a:p>
            <a:pPr algn="ctr"/>
            <a:r>
              <a:rPr lang="en-US" dirty="0"/>
              <a:t>TDOA = f</a:t>
            </a:r>
            <a:r>
              <a:rPr lang="en-US" baseline="-25000" dirty="0"/>
              <a:t>b</a:t>
            </a:r>
            <a:r>
              <a:rPr lang="en-US" dirty="0"/>
              <a:t> / Sweep Rate  -or-  TDOA = 1/ p*Sweep Rate  </a:t>
            </a:r>
          </a:p>
        </p:txBody>
      </p:sp>
      <p:cxnSp>
        <p:nvCxnSpPr>
          <p:cNvPr id="49" name="Straight Connector 48">
            <a:extLst>
              <a:ext uri="{FF2B5EF4-FFF2-40B4-BE49-F238E27FC236}">
                <a16:creationId xmlns:a16="http://schemas.microsoft.com/office/drawing/2014/main" id="{C2FD8759-4BB8-1C72-7A48-282B6E4AF25A}"/>
              </a:ext>
            </a:extLst>
          </p:cNvPr>
          <p:cNvCxnSpPr/>
          <p:nvPr/>
        </p:nvCxnSpPr>
        <p:spPr>
          <a:xfrm>
            <a:off x="6381643" y="5540399"/>
            <a:ext cx="0" cy="870776"/>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53" name="Slide Number Placeholder 1">
            <a:extLst>
              <a:ext uri="{FF2B5EF4-FFF2-40B4-BE49-F238E27FC236}">
                <a16:creationId xmlns:a16="http://schemas.microsoft.com/office/drawing/2014/main" id="{8A3E715C-C292-16B8-4804-150BED509EAB}"/>
              </a:ext>
            </a:extLst>
          </p:cNvPr>
          <p:cNvSpPr>
            <a:spLocks noGrp="1"/>
          </p:cNvSpPr>
          <p:nvPr>
            <p:ph type="sldNum" sz="quarter" idx="12"/>
          </p:nvPr>
        </p:nvSpPr>
        <p:spPr>
          <a:xfrm>
            <a:off x="9277303" y="6398484"/>
            <a:ext cx="2743200" cy="365125"/>
          </a:xfrm>
        </p:spPr>
        <p:txBody>
          <a:bodyPr/>
          <a:lstStyle/>
          <a:p>
            <a:fld id="{76C9C0C8-E061-DB49-8289-DC94B78A7C77}" type="slidenum">
              <a:rPr lang="en-US" smtClean="0"/>
              <a:t>1</a:t>
            </a:fld>
            <a:endParaRPr lang="en-US" dirty="0"/>
          </a:p>
        </p:txBody>
      </p:sp>
      <p:pic>
        <p:nvPicPr>
          <p:cNvPr id="54" name="10Hz_per_ms">
            <a:hlinkClick r:id="" action="ppaction://media"/>
            <a:extLst>
              <a:ext uri="{FF2B5EF4-FFF2-40B4-BE49-F238E27FC236}">
                <a16:creationId xmlns:a16="http://schemas.microsoft.com/office/drawing/2014/main" id="{56DF4ABA-2CC0-CB08-E250-6A62F4153F2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952462" y="1951107"/>
            <a:ext cx="640993" cy="640993"/>
          </a:xfrm>
          <a:prstGeom prst="rect">
            <a:avLst/>
          </a:prstGeom>
        </p:spPr>
      </p:pic>
      <p:sp>
        <p:nvSpPr>
          <p:cNvPr id="68" name="TextBox 67">
            <a:extLst>
              <a:ext uri="{FF2B5EF4-FFF2-40B4-BE49-F238E27FC236}">
                <a16:creationId xmlns:a16="http://schemas.microsoft.com/office/drawing/2014/main" id="{70CED47A-A7A0-EBAF-40DE-AFBF79F1CB13}"/>
              </a:ext>
            </a:extLst>
          </p:cNvPr>
          <p:cNvSpPr txBox="1"/>
          <p:nvPr/>
        </p:nvSpPr>
        <p:spPr>
          <a:xfrm>
            <a:off x="9004799" y="2743325"/>
            <a:ext cx="2994602" cy="369332"/>
          </a:xfrm>
          <a:prstGeom prst="rect">
            <a:avLst/>
          </a:prstGeom>
          <a:noFill/>
        </p:spPr>
        <p:txBody>
          <a:bodyPr wrap="none" rtlCol="0">
            <a:spAutoFit/>
          </a:bodyPr>
          <a:lstStyle/>
          <a:p>
            <a:r>
              <a:rPr lang="en-US" dirty="0"/>
              <a:t>ACTUAL TX-RX WAVEFORMS</a:t>
            </a:r>
          </a:p>
        </p:txBody>
      </p:sp>
      <p:grpSp>
        <p:nvGrpSpPr>
          <p:cNvPr id="3" name="Group 2">
            <a:extLst>
              <a:ext uri="{FF2B5EF4-FFF2-40B4-BE49-F238E27FC236}">
                <a16:creationId xmlns:a16="http://schemas.microsoft.com/office/drawing/2014/main" id="{D9AFFB6F-DAC8-C65C-D028-6E7E8B3BC947}"/>
              </a:ext>
            </a:extLst>
          </p:cNvPr>
          <p:cNvGrpSpPr/>
          <p:nvPr/>
        </p:nvGrpSpPr>
        <p:grpSpPr>
          <a:xfrm>
            <a:off x="282271" y="1935142"/>
            <a:ext cx="11808116" cy="4818623"/>
            <a:chOff x="282271" y="1935142"/>
            <a:chExt cx="11808116" cy="4818623"/>
          </a:xfrm>
        </p:grpSpPr>
        <p:sp>
          <p:nvSpPr>
            <p:cNvPr id="2" name="Rectangle 1">
              <a:extLst>
                <a:ext uri="{FF2B5EF4-FFF2-40B4-BE49-F238E27FC236}">
                  <a16:creationId xmlns:a16="http://schemas.microsoft.com/office/drawing/2014/main" id="{3C5CB091-F3CC-3BC0-CBCC-1D09B32945AA}"/>
                </a:ext>
              </a:extLst>
            </p:cNvPr>
            <p:cNvSpPr/>
            <p:nvPr/>
          </p:nvSpPr>
          <p:spPr>
            <a:xfrm>
              <a:off x="363180" y="1935142"/>
              <a:ext cx="11593850" cy="471694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5" name="Group 84">
              <a:extLst>
                <a:ext uri="{FF2B5EF4-FFF2-40B4-BE49-F238E27FC236}">
                  <a16:creationId xmlns:a16="http://schemas.microsoft.com/office/drawing/2014/main" id="{F90E9667-0477-A4A5-7FE9-32F2DE86D2EC}"/>
                </a:ext>
              </a:extLst>
            </p:cNvPr>
            <p:cNvGrpSpPr/>
            <p:nvPr/>
          </p:nvGrpSpPr>
          <p:grpSpPr>
            <a:xfrm>
              <a:off x="282271" y="1935142"/>
              <a:ext cx="11808116" cy="4818623"/>
              <a:chOff x="282271" y="1935142"/>
              <a:chExt cx="11808116" cy="4818623"/>
            </a:xfrm>
          </p:grpSpPr>
          <p:grpSp>
            <p:nvGrpSpPr>
              <p:cNvPr id="84" name="Group 83">
                <a:extLst>
                  <a:ext uri="{FF2B5EF4-FFF2-40B4-BE49-F238E27FC236}">
                    <a16:creationId xmlns:a16="http://schemas.microsoft.com/office/drawing/2014/main" id="{6CE43576-F401-2AE9-7B70-45327440F8CE}"/>
                  </a:ext>
                </a:extLst>
              </p:cNvPr>
              <p:cNvGrpSpPr/>
              <p:nvPr/>
            </p:nvGrpSpPr>
            <p:grpSpPr>
              <a:xfrm>
                <a:off x="282271" y="2804203"/>
                <a:ext cx="4140197" cy="3279871"/>
                <a:chOff x="282271" y="2804203"/>
                <a:chExt cx="4140197" cy="3279871"/>
              </a:xfrm>
            </p:grpSpPr>
            <p:sp>
              <p:nvSpPr>
                <p:cNvPr id="29" name="TextBox 28">
                  <a:extLst>
                    <a:ext uri="{FF2B5EF4-FFF2-40B4-BE49-F238E27FC236}">
                      <a16:creationId xmlns:a16="http://schemas.microsoft.com/office/drawing/2014/main" id="{95DDF194-E59A-8BBE-79A5-A4C6BDB78845}"/>
                    </a:ext>
                  </a:extLst>
                </p:cNvPr>
                <p:cNvSpPr txBox="1"/>
                <p:nvPr/>
              </p:nvSpPr>
              <p:spPr>
                <a:xfrm>
                  <a:off x="282272" y="2804203"/>
                  <a:ext cx="3176382" cy="369332"/>
                </a:xfrm>
                <a:prstGeom prst="rect">
                  <a:avLst/>
                </a:prstGeom>
                <a:noFill/>
              </p:spPr>
              <p:txBody>
                <a:bodyPr wrap="none" rtlCol="0">
                  <a:spAutoFit/>
                </a:bodyPr>
                <a:lstStyle/>
                <a:p>
                  <a:pPr marL="342900" indent="-342900">
                    <a:buAutoNum type="alphaUcPeriod"/>
                  </a:pPr>
                  <a:r>
                    <a:rPr lang="en-US" dirty="0"/>
                    <a:t>10 Hz/ms Chirp  @ 0 delay </a:t>
                  </a:r>
                </a:p>
              </p:txBody>
            </p:sp>
            <p:sp>
              <p:nvSpPr>
                <p:cNvPr id="43" name="TextBox 42">
                  <a:extLst>
                    <a:ext uri="{FF2B5EF4-FFF2-40B4-BE49-F238E27FC236}">
                      <a16:creationId xmlns:a16="http://schemas.microsoft.com/office/drawing/2014/main" id="{46721ED1-803F-930F-E6E8-09CD88FF6195}"/>
                    </a:ext>
                  </a:extLst>
                </p:cNvPr>
                <p:cNvSpPr txBox="1"/>
                <p:nvPr/>
              </p:nvSpPr>
              <p:spPr>
                <a:xfrm>
                  <a:off x="282271" y="5714742"/>
                  <a:ext cx="3153427" cy="369332"/>
                </a:xfrm>
                <a:prstGeom prst="rect">
                  <a:avLst/>
                </a:prstGeom>
                <a:noFill/>
              </p:spPr>
              <p:txBody>
                <a:bodyPr wrap="none" rtlCol="0">
                  <a:spAutoFit/>
                </a:bodyPr>
                <a:lstStyle/>
                <a:p>
                  <a:r>
                    <a:rPr lang="en-US" dirty="0"/>
                    <a:t>For 1 ms Time Delay f</a:t>
                  </a:r>
                  <a:r>
                    <a:rPr lang="en-US" baseline="-25000" dirty="0"/>
                    <a:t>b</a:t>
                  </a:r>
                  <a:r>
                    <a:rPr lang="en-US" dirty="0"/>
                    <a:t> = 10 Hz</a:t>
                  </a:r>
                </a:p>
              </p:txBody>
            </p:sp>
            <p:sp>
              <p:nvSpPr>
                <p:cNvPr id="44" name="TextBox 43">
                  <a:extLst>
                    <a:ext uri="{FF2B5EF4-FFF2-40B4-BE49-F238E27FC236}">
                      <a16:creationId xmlns:a16="http://schemas.microsoft.com/office/drawing/2014/main" id="{8DE829B4-A1B7-415A-240E-C9BBC8A69428}"/>
                    </a:ext>
                  </a:extLst>
                </p:cNvPr>
                <p:cNvSpPr txBox="1"/>
                <p:nvPr/>
              </p:nvSpPr>
              <p:spPr>
                <a:xfrm>
                  <a:off x="282272" y="3687759"/>
                  <a:ext cx="3261727" cy="369332"/>
                </a:xfrm>
                <a:prstGeom prst="rect">
                  <a:avLst/>
                </a:prstGeom>
                <a:noFill/>
              </p:spPr>
              <p:txBody>
                <a:bodyPr wrap="none" rtlCol="0">
                  <a:spAutoFit/>
                </a:bodyPr>
                <a:lstStyle/>
                <a:p>
                  <a:r>
                    <a:rPr lang="en-US" dirty="0"/>
                    <a:t>B. 10 Hz/ms Chirp delayed 1 ms</a:t>
                  </a:r>
                </a:p>
              </p:txBody>
            </p:sp>
            <p:sp>
              <p:nvSpPr>
                <p:cNvPr id="45" name="TextBox 44">
                  <a:extLst>
                    <a:ext uri="{FF2B5EF4-FFF2-40B4-BE49-F238E27FC236}">
                      <a16:creationId xmlns:a16="http://schemas.microsoft.com/office/drawing/2014/main" id="{CE2A1E34-C405-4E9C-3340-11FE1E8D80A3}"/>
                    </a:ext>
                  </a:extLst>
                </p:cNvPr>
                <p:cNvSpPr txBox="1"/>
                <p:nvPr/>
              </p:nvSpPr>
              <p:spPr>
                <a:xfrm>
                  <a:off x="282271" y="4622028"/>
                  <a:ext cx="3503187" cy="1200329"/>
                </a:xfrm>
                <a:prstGeom prst="rect">
                  <a:avLst/>
                </a:prstGeom>
                <a:noFill/>
              </p:spPr>
              <p:txBody>
                <a:bodyPr wrap="square" rtlCol="0">
                  <a:spAutoFit/>
                </a:bodyPr>
                <a:lstStyle/>
                <a:p>
                  <a:r>
                    <a:rPr lang="en-US" dirty="0"/>
                    <a:t>C. SUM (A+B). Beats occur at period 1/ f</a:t>
                  </a:r>
                  <a:r>
                    <a:rPr lang="en-US" baseline="-25000" dirty="0"/>
                    <a:t>b</a:t>
                  </a:r>
                  <a:r>
                    <a:rPr lang="en-US" dirty="0"/>
                    <a:t>. Summation occurs naturally in receiver</a:t>
                  </a:r>
                </a:p>
                <a:p>
                  <a:r>
                    <a:rPr lang="en-US" dirty="0"/>
                    <a:t>during multipath reception.</a:t>
                  </a:r>
                </a:p>
              </p:txBody>
            </p:sp>
            <p:cxnSp>
              <p:nvCxnSpPr>
                <p:cNvPr id="46" name="Straight Arrow Connector 45">
                  <a:extLst>
                    <a:ext uri="{FF2B5EF4-FFF2-40B4-BE49-F238E27FC236}">
                      <a16:creationId xmlns:a16="http://schemas.microsoft.com/office/drawing/2014/main" id="{EF45A1F7-1E43-188C-A58C-9FC8EFE27697}"/>
                    </a:ext>
                  </a:extLst>
                </p:cNvPr>
                <p:cNvCxnSpPr>
                  <a:cxnSpLocks/>
                </p:cNvCxnSpPr>
                <p:nvPr/>
              </p:nvCxnSpPr>
              <p:spPr>
                <a:xfrm>
                  <a:off x="3499005" y="3000856"/>
                  <a:ext cx="304383" cy="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43FBAACF-1615-C789-9DD2-088AAEF9045B}"/>
                    </a:ext>
                  </a:extLst>
                </p:cNvPr>
                <p:cNvCxnSpPr>
                  <a:cxnSpLocks/>
                </p:cNvCxnSpPr>
                <p:nvPr/>
              </p:nvCxnSpPr>
              <p:spPr>
                <a:xfrm>
                  <a:off x="3523130" y="3901007"/>
                  <a:ext cx="285558" cy="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255BFA1-9E08-622A-4198-C3697A63B543}"/>
                    </a:ext>
                  </a:extLst>
                </p:cNvPr>
                <p:cNvCxnSpPr>
                  <a:cxnSpLocks/>
                </p:cNvCxnSpPr>
                <p:nvPr/>
              </p:nvCxnSpPr>
              <p:spPr>
                <a:xfrm flipV="1">
                  <a:off x="3476584" y="5222193"/>
                  <a:ext cx="326804" cy="1913"/>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99B5004F-1CD6-3C77-B884-C8B37EDE2048}"/>
                    </a:ext>
                  </a:extLst>
                </p:cNvPr>
                <p:cNvSpPr txBox="1"/>
                <p:nvPr/>
              </p:nvSpPr>
              <p:spPr>
                <a:xfrm>
                  <a:off x="3803388" y="4244068"/>
                  <a:ext cx="619080" cy="369332"/>
                </a:xfrm>
                <a:prstGeom prst="rect">
                  <a:avLst/>
                </a:prstGeom>
                <a:noFill/>
              </p:spPr>
              <p:txBody>
                <a:bodyPr wrap="none" rtlCol="0">
                  <a:spAutoFit/>
                </a:bodyPr>
                <a:lstStyle/>
                <a:p>
                  <a:r>
                    <a:rPr lang="en-US" dirty="0">
                      <a:solidFill>
                        <a:schemeClr val="bg1"/>
                      </a:solidFill>
                    </a:rPr>
                    <a:t>0 Hz</a:t>
                  </a:r>
                </a:p>
              </p:txBody>
            </p:sp>
          </p:grpSp>
          <p:grpSp>
            <p:nvGrpSpPr>
              <p:cNvPr id="83" name="Group 82">
                <a:extLst>
                  <a:ext uri="{FF2B5EF4-FFF2-40B4-BE49-F238E27FC236}">
                    <a16:creationId xmlns:a16="http://schemas.microsoft.com/office/drawing/2014/main" id="{3969902C-6FDE-09CB-3AE7-EB163649D194}"/>
                  </a:ext>
                </a:extLst>
              </p:cNvPr>
              <p:cNvGrpSpPr/>
              <p:nvPr/>
            </p:nvGrpSpPr>
            <p:grpSpPr>
              <a:xfrm>
                <a:off x="3556426" y="1935142"/>
                <a:ext cx="8533961" cy="4818623"/>
                <a:chOff x="3556426" y="1935142"/>
                <a:chExt cx="8533961" cy="4818623"/>
              </a:xfrm>
            </p:grpSpPr>
            <p:sp>
              <p:nvSpPr>
                <p:cNvPr id="55" name="TextBox 54">
                  <a:extLst>
                    <a:ext uri="{FF2B5EF4-FFF2-40B4-BE49-F238E27FC236}">
                      <a16:creationId xmlns:a16="http://schemas.microsoft.com/office/drawing/2014/main" id="{2915D082-5539-B70B-DA97-7FC54E1EBA83}"/>
                    </a:ext>
                  </a:extLst>
                </p:cNvPr>
                <p:cNvSpPr txBox="1"/>
                <p:nvPr/>
              </p:nvSpPr>
              <p:spPr>
                <a:xfrm>
                  <a:off x="9058112" y="1935142"/>
                  <a:ext cx="1712777" cy="646331"/>
                </a:xfrm>
                <a:prstGeom prst="rect">
                  <a:avLst/>
                </a:prstGeom>
                <a:noFill/>
              </p:spPr>
              <p:txBody>
                <a:bodyPr wrap="none" rtlCol="0">
                  <a:spAutoFit/>
                </a:bodyPr>
                <a:lstStyle/>
                <a:p>
                  <a:r>
                    <a:rPr lang="en-US" dirty="0"/>
                    <a:t>10 Hz/ms Chirps</a:t>
                  </a:r>
                </a:p>
                <a:p>
                  <a:r>
                    <a:rPr lang="en-US" dirty="0"/>
                    <a:t>10 Repetitions</a:t>
                  </a:r>
                </a:p>
              </p:txBody>
            </p:sp>
            <p:grpSp>
              <p:nvGrpSpPr>
                <p:cNvPr id="80" name="Group 79">
                  <a:extLst>
                    <a:ext uri="{FF2B5EF4-FFF2-40B4-BE49-F238E27FC236}">
                      <a16:creationId xmlns:a16="http://schemas.microsoft.com/office/drawing/2014/main" id="{A97BB6DF-1019-0F9B-40EF-C4FD3B8E37A0}"/>
                    </a:ext>
                  </a:extLst>
                </p:cNvPr>
                <p:cNvGrpSpPr/>
                <p:nvPr/>
              </p:nvGrpSpPr>
              <p:grpSpPr>
                <a:xfrm>
                  <a:off x="8158815" y="2984353"/>
                  <a:ext cx="3931572" cy="3579391"/>
                  <a:chOff x="8158815" y="2984353"/>
                  <a:chExt cx="3931572" cy="3579391"/>
                </a:xfrm>
              </p:grpSpPr>
              <p:sp>
                <p:nvSpPr>
                  <p:cNvPr id="71" name="TextBox 70">
                    <a:extLst>
                      <a:ext uri="{FF2B5EF4-FFF2-40B4-BE49-F238E27FC236}">
                        <a16:creationId xmlns:a16="http://schemas.microsoft.com/office/drawing/2014/main" id="{F05F4354-2496-807F-CD45-826A20226914}"/>
                      </a:ext>
                    </a:extLst>
                  </p:cNvPr>
                  <p:cNvSpPr txBox="1"/>
                  <p:nvPr/>
                </p:nvSpPr>
                <p:spPr>
                  <a:xfrm>
                    <a:off x="9141076" y="5917413"/>
                    <a:ext cx="2859885" cy="646331"/>
                  </a:xfrm>
                  <a:prstGeom prst="rect">
                    <a:avLst/>
                  </a:prstGeom>
                  <a:noFill/>
                </p:spPr>
                <p:txBody>
                  <a:bodyPr wrap="none" rtlCol="0">
                    <a:spAutoFit/>
                  </a:bodyPr>
                  <a:lstStyle/>
                  <a:p>
                    <a:r>
                      <a:rPr lang="en-US" dirty="0"/>
                      <a:t>407 km Path. 2F</a:t>
                    </a:r>
                    <a:r>
                      <a:rPr lang="en-US" baseline="-25000" dirty="0"/>
                      <a:t>2 </a:t>
                    </a:r>
                    <a:r>
                      <a:rPr lang="en-US" dirty="0"/>
                      <a:t>- 1F</a:t>
                    </a:r>
                    <a:r>
                      <a:rPr lang="en-US" baseline="-25000" dirty="0"/>
                      <a:t>2</a:t>
                    </a:r>
                    <a:r>
                      <a:rPr lang="en-US" dirty="0"/>
                      <a:t>   RX2</a:t>
                    </a:r>
                  </a:p>
                  <a:p>
                    <a:r>
                      <a:rPr lang="en-US" dirty="0"/>
                      <a:t>Broadband SDR</a:t>
                    </a:r>
                  </a:p>
                </p:txBody>
              </p:sp>
              <p:grpSp>
                <p:nvGrpSpPr>
                  <p:cNvPr id="79" name="Group 78">
                    <a:extLst>
                      <a:ext uri="{FF2B5EF4-FFF2-40B4-BE49-F238E27FC236}">
                        <a16:creationId xmlns:a16="http://schemas.microsoft.com/office/drawing/2014/main" id="{DB1492FB-8BD3-7A11-2AA7-82C27BDF7A74}"/>
                      </a:ext>
                    </a:extLst>
                  </p:cNvPr>
                  <p:cNvGrpSpPr/>
                  <p:nvPr/>
                </p:nvGrpSpPr>
                <p:grpSpPr>
                  <a:xfrm>
                    <a:off x="8158815" y="2984353"/>
                    <a:ext cx="3931572" cy="3077569"/>
                    <a:chOff x="8158815" y="2984353"/>
                    <a:chExt cx="3931572" cy="3077569"/>
                  </a:xfrm>
                </p:grpSpPr>
                <p:pic>
                  <p:nvPicPr>
                    <p:cNvPr id="56" name="Picture 55" descr="A blue sound wave&#10;&#10;Description automatically generated">
                      <a:extLst>
                        <a:ext uri="{FF2B5EF4-FFF2-40B4-BE49-F238E27FC236}">
                          <a16:creationId xmlns:a16="http://schemas.microsoft.com/office/drawing/2014/main" id="{DAD608E6-3082-1439-3ECA-859D9E00C4B2}"/>
                        </a:ext>
                      </a:extLst>
                    </p:cNvPr>
                    <p:cNvPicPr/>
                    <p:nvPr/>
                  </p:nvPicPr>
                  <p:blipFill>
                    <a:blip r:embed="rId6">
                      <a:extLst>
                        <a:ext uri="{28A0092B-C50C-407E-A947-70E740481C1C}">
                          <a14:useLocalDpi xmlns:a14="http://schemas.microsoft.com/office/drawing/2010/main" val="0"/>
                        </a:ext>
                      </a:extLst>
                    </a:blip>
                    <a:stretch>
                      <a:fillRect/>
                    </a:stretch>
                  </p:blipFill>
                  <p:spPr>
                    <a:xfrm>
                      <a:off x="9082692" y="5257524"/>
                      <a:ext cx="2874338" cy="726790"/>
                    </a:xfrm>
                    <a:prstGeom prst="rect">
                      <a:avLst/>
                    </a:prstGeom>
                  </p:spPr>
                </p:pic>
                <p:pic>
                  <p:nvPicPr>
                    <p:cNvPr id="57" name="Picture 56" descr="A blue triangle shaped object&#10;&#10;Description automatically generated">
                      <a:extLst>
                        <a:ext uri="{FF2B5EF4-FFF2-40B4-BE49-F238E27FC236}">
                          <a16:creationId xmlns:a16="http://schemas.microsoft.com/office/drawing/2014/main" id="{253F5C26-29B4-BC18-A524-3CB2722813B8}"/>
                        </a:ext>
                      </a:extLst>
                    </p:cNvPr>
                    <p:cNvPicPr/>
                    <p:nvPr/>
                  </p:nvPicPr>
                  <p:blipFill>
                    <a:blip r:embed="rId7">
                      <a:extLst>
                        <a:ext uri="{28A0092B-C50C-407E-A947-70E740481C1C}">
                          <a14:useLocalDpi xmlns:a14="http://schemas.microsoft.com/office/drawing/2010/main" val="0"/>
                        </a:ext>
                      </a:extLst>
                    </a:blip>
                    <a:stretch>
                      <a:fillRect/>
                    </a:stretch>
                  </p:blipFill>
                  <p:spPr>
                    <a:xfrm>
                      <a:off x="9046480" y="3034579"/>
                      <a:ext cx="2874339" cy="726790"/>
                    </a:xfrm>
                    <a:prstGeom prst="rect">
                      <a:avLst/>
                    </a:prstGeom>
                  </p:spPr>
                </p:pic>
                <p:pic>
                  <p:nvPicPr>
                    <p:cNvPr id="58" name="Picture 57" descr="A blue and purple shapes&#10;&#10;Description automatically generated with medium confidence">
                      <a:extLst>
                        <a:ext uri="{FF2B5EF4-FFF2-40B4-BE49-F238E27FC236}">
                          <a16:creationId xmlns:a16="http://schemas.microsoft.com/office/drawing/2014/main" id="{1E1B4C7B-8EB5-8F0E-A49D-EB772587E14D}"/>
                        </a:ext>
                      </a:extLst>
                    </p:cNvPr>
                    <p:cNvPicPr/>
                    <p:nvPr/>
                  </p:nvPicPr>
                  <p:blipFill>
                    <a:blip r:embed="rId8">
                      <a:extLst>
                        <a:ext uri="{28A0092B-C50C-407E-A947-70E740481C1C}">
                          <a14:useLocalDpi xmlns:a14="http://schemas.microsoft.com/office/drawing/2010/main" val="0"/>
                        </a:ext>
                      </a:extLst>
                    </a:blip>
                    <a:stretch>
                      <a:fillRect/>
                    </a:stretch>
                  </p:blipFill>
                  <p:spPr>
                    <a:xfrm>
                      <a:off x="9046480" y="4158698"/>
                      <a:ext cx="2879384" cy="726790"/>
                    </a:xfrm>
                    <a:prstGeom prst="rect">
                      <a:avLst/>
                    </a:prstGeom>
                  </p:spPr>
                </p:pic>
                <p:sp>
                  <p:nvSpPr>
                    <p:cNvPr id="60" name="TextBox 59">
                      <a:extLst>
                        <a:ext uri="{FF2B5EF4-FFF2-40B4-BE49-F238E27FC236}">
                          <a16:creationId xmlns:a16="http://schemas.microsoft.com/office/drawing/2014/main" id="{02DCA09C-E681-3F4F-6BB5-135EBE8C0C64}"/>
                        </a:ext>
                      </a:extLst>
                    </p:cNvPr>
                    <p:cNvSpPr txBox="1"/>
                    <p:nvPr/>
                  </p:nvSpPr>
                  <p:spPr>
                    <a:xfrm>
                      <a:off x="8158815" y="4252696"/>
                      <a:ext cx="731290" cy="369332"/>
                    </a:xfrm>
                    <a:prstGeom prst="rect">
                      <a:avLst/>
                    </a:prstGeom>
                    <a:noFill/>
                  </p:spPr>
                  <p:txBody>
                    <a:bodyPr wrap="none" rtlCol="0">
                      <a:spAutoFit/>
                    </a:bodyPr>
                    <a:lstStyle/>
                    <a:p>
                      <a:r>
                        <a:rPr lang="en-US" dirty="0">
                          <a:solidFill>
                            <a:schemeClr val="bg1"/>
                          </a:solidFill>
                        </a:rPr>
                        <a:t>5 kHz</a:t>
                      </a:r>
                    </a:p>
                  </p:txBody>
                </p:sp>
                <p:sp>
                  <p:nvSpPr>
                    <p:cNvPr id="61" name="TextBox 60">
                      <a:extLst>
                        <a:ext uri="{FF2B5EF4-FFF2-40B4-BE49-F238E27FC236}">
                          <a16:creationId xmlns:a16="http://schemas.microsoft.com/office/drawing/2014/main" id="{5808DEBC-B18D-D77F-B555-740B01EFA3C7}"/>
                        </a:ext>
                      </a:extLst>
                    </p:cNvPr>
                    <p:cNvSpPr txBox="1"/>
                    <p:nvPr/>
                  </p:nvSpPr>
                  <p:spPr>
                    <a:xfrm>
                      <a:off x="8986108" y="3544535"/>
                      <a:ext cx="474810" cy="276999"/>
                    </a:xfrm>
                    <a:prstGeom prst="rect">
                      <a:avLst/>
                    </a:prstGeom>
                    <a:noFill/>
                  </p:spPr>
                  <p:txBody>
                    <a:bodyPr wrap="none" rtlCol="0">
                      <a:spAutoFit/>
                    </a:bodyPr>
                    <a:lstStyle/>
                    <a:p>
                      <a:r>
                        <a:rPr lang="en-US" sz="1200" dirty="0"/>
                        <a:t>0 Hz</a:t>
                      </a:r>
                    </a:p>
                  </p:txBody>
                </p:sp>
                <p:sp>
                  <p:nvSpPr>
                    <p:cNvPr id="62" name="TextBox 61">
                      <a:extLst>
                        <a:ext uri="{FF2B5EF4-FFF2-40B4-BE49-F238E27FC236}">
                          <a16:creationId xmlns:a16="http://schemas.microsoft.com/office/drawing/2014/main" id="{C68514A8-D13E-D577-E7B1-EBD2B5B58D81}"/>
                        </a:ext>
                      </a:extLst>
                    </p:cNvPr>
                    <p:cNvSpPr txBox="1"/>
                    <p:nvPr/>
                  </p:nvSpPr>
                  <p:spPr>
                    <a:xfrm>
                      <a:off x="11462350" y="3557182"/>
                      <a:ext cx="550151" cy="276999"/>
                    </a:xfrm>
                    <a:prstGeom prst="rect">
                      <a:avLst/>
                    </a:prstGeom>
                    <a:noFill/>
                  </p:spPr>
                  <p:txBody>
                    <a:bodyPr wrap="none" rtlCol="0">
                      <a:spAutoFit/>
                    </a:bodyPr>
                    <a:lstStyle/>
                    <a:p>
                      <a:r>
                        <a:rPr lang="en-US" sz="1200" dirty="0"/>
                        <a:t>5 kHz</a:t>
                      </a:r>
                    </a:p>
                  </p:txBody>
                </p:sp>
                <p:sp>
                  <p:nvSpPr>
                    <p:cNvPr id="63" name="TextBox 62">
                      <a:extLst>
                        <a:ext uri="{FF2B5EF4-FFF2-40B4-BE49-F238E27FC236}">
                          <a16:creationId xmlns:a16="http://schemas.microsoft.com/office/drawing/2014/main" id="{3FA8F8D5-F5AB-C91E-8194-C78FF0FBC700}"/>
                        </a:ext>
                      </a:extLst>
                    </p:cNvPr>
                    <p:cNvSpPr txBox="1"/>
                    <p:nvPr/>
                  </p:nvSpPr>
                  <p:spPr>
                    <a:xfrm>
                      <a:off x="8986108" y="4673443"/>
                      <a:ext cx="474810" cy="276999"/>
                    </a:xfrm>
                    <a:prstGeom prst="rect">
                      <a:avLst/>
                    </a:prstGeom>
                    <a:noFill/>
                  </p:spPr>
                  <p:txBody>
                    <a:bodyPr wrap="none" rtlCol="0">
                      <a:spAutoFit/>
                    </a:bodyPr>
                    <a:lstStyle/>
                    <a:p>
                      <a:r>
                        <a:rPr lang="en-US" sz="1200" dirty="0"/>
                        <a:t>0 Hz</a:t>
                      </a:r>
                    </a:p>
                  </p:txBody>
                </p:sp>
                <p:sp>
                  <p:nvSpPr>
                    <p:cNvPr id="64" name="TextBox 63">
                      <a:extLst>
                        <a:ext uri="{FF2B5EF4-FFF2-40B4-BE49-F238E27FC236}">
                          <a16:creationId xmlns:a16="http://schemas.microsoft.com/office/drawing/2014/main" id="{6E61CD64-31E2-166D-C425-817956E57776}"/>
                        </a:ext>
                      </a:extLst>
                    </p:cNvPr>
                    <p:cNvSpPr txBox="1"/>
                    <p:nvPr/>
                  </p:nvSpPr>
                  <p:spPr>
                    <a:xfrm>
                      <a:off x="9022911" y="5780786"/>
                      <a:ext cx="474810" cy="276999"/>
                    </a:xfrm>
                    <a:prstGeom prst="rect">
                      <a:avLst/>
                    </a:prstGeom>
                    <a:noFill/>
                  </p:spPr>
                  <p:txBody>
                    <a:bodyPr wrap="none" rtlCol="0">
                      <a:spAutoFit/>
                    </a:bodyPr>
                    <a:lstStyle/>
                    <a:p>
                      <a:r>
                        <a:rPr lang="en-US" sz="1200" dirty="0"/>
                        <a:t>0 Hz</a:t>
                      </a:r>
                    </a:p>
                  </p:txBody>
                </p:sp>
                <p:sp>
                  <p:nvSpPr>
                    <p:cNvPr id="65" name="TextBox 64">
                      <a:extLst>
                        <a:ext uri="{FF2B5EF4-FFF2-40B4-BE49-F238E27FC236}">
                          <a16:creationId xmlns:a16="http://schemas.microsoft.com/office/drawing/2014/main" id="{FF3B8549-F592-BAC5-BE60-CAAE4A3F81CF}"/>
                        </a:ext>
                      </a:extLst>
                    </p:cNvPr>
                    <p:cNvSpPr txBox="1"/>
                    <p:nvPr/>
                  </p:nvSpPr>
                  <p:spPr>
                    <a:xfrm>
                      <a:off x="11465902" y="4671853"/>
                      <a:ext cx="550151" cy="276999"/>
                    </a:xfrm>
                    <a:prstGeom prst="rect">
                      <a:avLst/>
                    </a:prstGeom>
                    <a:noFill/>
                  </p:spPr>
                  <p:txBody>
                    <a:bodyPr wrap="none" rtlCol="0">
                      <a:spAutoFit/>
                    </a:bodyPr>
                    <a:lstStyle/>
                    <a:p>
                      <a:r>
                        <a:rPr lang="en-US" sz="1200" dirty="0"/>
                        <a:t>5 kHz</a:t>
                      </a:r>
                    </a:p>
                  </p:txBody>
                </p:sp>
                <p:sp>
                  <p:nvSpPr>
                    <p:cNvPr id="66" name="TextBox 65">
                      <a:extLst>
                        <a:ext uri="{FF2B5EF4-FFF2-40B4-BE49-F238E27FC236}">
                          <a16:creationId xmlns:a16="http://schemas.microsoft.com/office/drawing/2014/main" id="{AB32747D-A35B-7885-5E4D-047DC0471A8A}"/>
                        </a:ext>
                      </a:extLst>
                    </p:cNvPr>
                    <p:cNvSpPr txBox="1"/>
                    <p:nvPr/>
                  </p:nvSpPr>
                  <p:spPr>
                    <a:xfrm>
                      <a:off x="11487307" y="5784923"/>
                      <a:ext cx="550151" cy="276999"/>
                    </a:xfrm>
                    <a:prstGeom prst="rect">
                      <a:avLst/>
                    </a:prstGeom>
                    <a:noFill/>
                  </p:spPr>
                  <p:txBody>
                    <a:bodyPr wrap="none" rtlCol="0">
                      <a:spAutoFit/>
                    </a:bodyPr>
                    <a:lstStyle/>
                    <a:p>
                      <a:r>
                        <a:rPr lang="en-US" sz="1200" dirty="0"/>
                        <a:t>5 kHz</a:t>
                      </a:r>
                    </a:p>
                  </p:txBody>
                </p:sp>
                <p:sp>
                  <p:nvSpPr>
                    <p:cNvPr id="69" name="TextBox 68">
                      <a:extLst>
                        <a:ext uri="{FF2B5EF4-FFF2-40B4-BE49-F238E27FC236}">
                          <a16:creationId xmlns:a16="http://schemas.microsoft.com/office/drawing/2014/main" id="{B05C8FD4-BC63-AFB1-B2FD-69C3863851AF}"/>
                        </a:ext>
                      </a:extLst>
                    </p:cNvPr>
                    <p:cNvSpPr txBox="1"/>
                    <p:nvPr/>
                  </p:nvSpPr>
                  <p:spPr>
                    <a:xfrm>
                      <a:off x="8994347" y="3697924"/>
                      <a:ext cx="3096040" cy="369332"/>
                    </a:xfrm>
                    <a:prstGeom prst="rect">
                      <a:avLst/>
                    </a:prstGeom>
                    <a:noFill/>
                  </p:spPr>
                  <p:txBody>
                    <a:bodyPr wrap="none" rtlCol="0">
                      <a:spAutoFit/>
                    </a:bodyPr>
                    <a:lstStyle/>
                    <a:p>
                      <a:r>
                        <a:rPr lang="en-US" dirty="0"/>
                        <a:t>Direct  – TX &amp; RX1 Passbands </a:t>
                      </a:r>
                    </a:p>
                  </p:txBody>
                </p:sp>
                <p:sp>
                  <p:nvSpPr>
                    <p:cNvPr id="70" name="TextBox 69">
                      <a:extLst>
                        <a:ext uri="{FF2B5EF4-FFF2-40B4-BE49-F238E27FC236}">
                          <a16:creationId xmlns:a16="http://schemas.microsoft.com/office/drawing/2014/main" id="{FD4043DD-24B8-F5F6-8C66-84107139F10C}"/>
                        </a:ext>
                      </a:extLst>
                    </p:cNvPr>
                    <p:cNvSpPr txBox="1"/>
                    <p:nvPr/>
                  </p:nvSpPr>
                  <p:spPr>
                    <a:xfrm>
                      <a:off x="9107944" y="4840673"/>
                      <a:ext cx="2933880" cy="369332"/>
                    </a:xfrm>
                    <a:prstGeom prst="rect">
                      <a:avLst/>
                    </a:prstGeom>
                    <a:noFill/>
                  </p:spPr>
                  <p:txBody>
                    <a:bodyPr wrap="none" rtlCol="0">
                      <a:spAutoFit/>
                    </a:bodyPr>
                    <a:lstStyle/>
                    <a:p>
                      <a:r>
                        <a:rPr lang="en-US" dirty="0"/>
                        <a:t>317 km Path – 2F</a:t>
                      </a:r>
                      <a:r>
                        <a:rPr lang="en-US" baseline="-25000" dirty="0"/>
                        <a:t>2</a:t>
                      </a:r>
                      <a:r>
                        <a:rPr lang="en-US" dirty="0"/>
                        <a:t>-1F</a:t>
                      </a:r>
                      <a:r>
                        <a:rPr lang="en-US" baseline="-25000" dirty="0"/>
                        <a:t>2</a:t>
                      </a:r>
                      <a:r>
                        <a:rPr lang="en-US" dirty="0"/>
                        <a:t>   RX1</a:t>
                      </a:r>
                    </a:p>
                  </p:txBody>
                </p:sp>
                <p:sp>
                  <p:nvSpPr>
                    <p:cNvPr id="72" name="TextBox 71">
                      <a:extLst>
                        <a:ext uri="{FF2B5EF4-FFF2-40B4-BE49-F238E27FC236}">
                          <a16:creationId xmlns:a16="http://schemas.microsoft.com/office/drawing/2014/main" id="{B535C47B-1046-6232-6C23-882733DA8874}"/>
                        </a:ext>
                      </a:extLst>
                    </p:cNvPr>
                    <p:cNvSpPr txBox="1"/>
                    <p:nvPr/>
                  </p:nvSpPr>
                  <p:spPr>
                    <a:xfrm>
                      <a:off x="9004799" y="2999424"/>
                      <a:ext cx="638316" cy="276999"/>
                    </a:xfrm>
                    <a:prstGeom prst="rect">
                      <a:avLst/>
                    </a:prstGeom>
                    <a:noFill/>
                  </p:spPr>
                  <p:txBody>
                    <a:bodyPr wrap="none" rtlCol="0">
                      <a:spAutoFit/>
                    </a:bodyPr>
                    <a:lstStyle/>
                    <a:p>
                      <a:r>
                        <a:rPr lang="en-US" sz="1200" dirty="0"/>
                        <a:t>280 Hz</a:t>
                      </a:r>
                    </a:p>
                  </p:txBody>
                </p:sp>
                <p:sp>
                  <p:nvSpPr>
                    <p:cNvPr id="73" name="TextBox 72">
                      <a:extLst>
                        <a:ext uri="{FF2B5EF4-FFF2-40B4-BE49-F238E27FC236}">
                          <a16:creationId xmlns:a16="http://schemas.microsoft.com/office/drawing/2014/main" id="{3FF2906E-C0B2-65FA-859C-620ACF0D901D}"/>
                        </a:ext>
                      </a:extLst>
                    </p:cNvPr>
                    <p:cNvSpPr txBox="1"/>
                    <p:nvPr/>
                  </p:nvSpPr>
                  <p:spPr>
                    <a:xfrm>
                      <a:off x="10551906" y="2984353"/>
                      <a:ext cx="550151" cy="276999"/>
                    </a:xfrm>
                    <a:prstGeom prst="rect">
                      <a:avLst/>
                    </a:prstGeom>
                    <a:noFill/>
                  </p:spPr>
                  <p:txBody>
                    <a:bodyPr wrap="none" rtlCol="0">
                      <a:spAutoFit/>
                    </a:bodyPr>
                    <a:lstStyle/>
                    <a:p>
                      <a:r>
                        <a:rPr lang="en-US" sz="1200" dirty="0"/>
                        <a:t>3 kHz</a:t>
                      </a:r>
                    </a:p>
                  </p:txBody>
                </p:sp>
                <p:sp>
                  <p:nvSpPr>
                    <p:cNvPr id="74" name="TextBox 73">
                      <a:extLst>
                        <a:ext uri="{FF2B5EF4-FFF2-40B4-BE49-F238E27FC236}">
                          <a16:creationId xmlns:a16="http://schemas.microsoft.com/office/drawing/2014/main" id="{926C813F-AA42-899C-D308-CD4738BA2C52}"/>
                        </a:ext>
                      </a:extLst>
                    </p:cNvPr>
                    <p:cNvSpPr txBox="1"/>
                    <p:nvPr/>
                  </p:nvSpPr>
                  <p:spPr>
                    <a:xfrm>
                      <a:off x="10902435" y="4141341"/>
                      <a:ext cx="1135023" cy="600164"/>
                    </a:xfrm>
                    <a:prstGeom prst="rect">
                      <a:avLst/>
                    </a:prstGeom>
                    <a:noFill/>
                  </p:spPr>
                  <p:txBody>
                    <a:bodyPr wrap="square" rtlCol="0">
                      <a:spAutoFit/>
                    </a:bodyPr>
                    <a:lstStyle/>
                    <a:p>
                      <a:r>
                        <a:rPr lang="en-US" sz="1100" dirty="0"/>
                        <a:t>p = 0.063 s    </a:t>
                      </a:r>
                    </a:p>
                    <a:p>
                      <a:r>
                        <a:rPr lang="en-US" sz="1100" dirty="0"/>
                        <a:t>TDOA = 1.6 ms</a:t>
                      </a:r>
                    </a:p>
                    <a:p>
                      <a:r>
                        <a:rPr lang="en-US" sz="1100" dirty="0"/>
                        <a:t>Ht = 260 km</a:t>
                      </a:r>
                    </a:p>
                  </p:txBody>
                </p:sp>
                <p:sp>
                  <p:nvSpPr>
                    <p:cNvPr id="75" name="TextBox 74">
                      <a:extLst>
                        <a:ext uri="{FF2B5EF4-FFF2-40B4-BE49-F238E27FC236}">
                          <a16:creationId xmlns:a16="http://schemas.microsoft.com/office/drawing/2014/main" id="{6EBD82B9-8CD6-38A5-D1D9-D6B26B38516C}"/>
                        </a:ext>
                      </a:extLst>
                    </p:cNvPr>
                    <p:cNvSpPr txBox="1"/>
                    <p:nvPr/>
                  </p:nvSpPr>
                  <p:spPr>
                    <a:xfrm>
                      <a:off x="10923828" y="5224106"/>
                      <a:ext cx="1071815" cy="600164"/>
                    </a:xfrm>
                    <a:prstGeom prst="rect">
                      <a:avLst/>
                    </a:prstGeom>
                    <a:noFill/>
                  </p:spPr>
                  <p:txBody>
                    <a:bodyPr wrap="square" rtlCol="0">
                      <a:spAutoFit/>
                    </a:bodyPr>
                    <a:lstStyle/>
                    <a:p>
                      <a:r>
                        <a:rPr lang="en-US" sz="1100" dirty="0"/>
                        <a:t>p = 0.053 s    </a:t>
                      </a:r>
                    </a:p>
                    <a:p>
                      <a:r>
                        <a:rPr lang="en-US" sz="1100" dirty="0"/>
                        <a:t>TDOA = 1.9 ms</a:t>
                      </a:r>
                    </a:p>
                    <a:p>
                      <a:r>
                        <a:rPr lang="en-US" sz="1100" dirty="0"/>
                        <a:t>Ht = 315 km</a:t>
                      </a:r>
                    </a:p>
                  </p:txBody>
                </p:sp>
              </p:grpSp>
            </p:grpSp>
            <p:grpSp>
              <p:nvGrpSpPr>
                <p:cNvPr id="82" name="Group 81">
                  <a:extLst>
                    <a:ext uri="{FF2B5EF4-FFF2-40B4-BE49-F238E27FC236}">
                      <a16:creationId xmlns:a16="http://schemas.microsoft.com/office/drawing/2014/main" id="{0CA4B97F-8632-FB6B-FB22-212004B5688D}"/>
                    </a:ext>
                  </a:extLst>
                </p:cNvPr>
                <p:cNvGrpSpPr/>
                <p:nvPr/>
              </p:nvGrpSpPr>
              <p:grpSpPr>
                <a:xfrm>
                  <a:off x="3556426" y="1960989"/>
                  <a:ext cx="5498309" cy="4792776"/>
                  <a:chOff x="3556426" y="1960989"/>
                  <a:chExt cx="5498309" cy="4792776"/>
                </a:xfrm>
              </p:grpSpPr>
              <p:cxnSp>
                <p:nvCxnSpPr>
                  <p:cNvPr id="48" name="Straight Connector 47">
                    <a:extLst>
                      <a:ext uri="{FF2B5EF4-FFF2-40B4-BE49-F238E27FC236}">
                        <a16:creationId xmlns:a16="http://schemas.microsoft.com/office/drawing/2014/main" id="{E298ACE0-23E8-89CF-99E7-C6452D9CA953}"/>
                      </a:ext>
                    </a:extLst>
                  </p:cNvPr>
                  <p:cNvCxnSpPr/>
                  <p:nvPr/>
                </p:nvCxnSpPr>
                <p:spPr>
                  <a:xfrm>
                    <a:off x="7324858" y="5540399"/>
                    <a:ext cx="0" cy="870776"/>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B636FAE4-345F-C7EA-A872-370ADAD92B81}"/>
                      </a:ext>
                    </a:extLst>
                  </p:cNvPr>
                  <p:cNvSpPr txBox="1"/>
                  <p:nvPr/>
                </p:nvSpPr>
                <p:spPr>
                  <a:xfrm>
                    <a:off x="6052389" y="6384433"/>
                    <a:ext cx="1654620" cy="369332"/>
                  </a:xfrm>
                  <a:prstGeom prst="rect">
                    <a:avLst/>
                  </a:prstGeom>
                  <a:noFill/>
                </p:spPr>
                <p:txBody>
                  <a:bodyPr wrap="none" rtlCol="0">
                    <a:spAutoFit/>
                  </a:bodyPr>
                  <a:lstStyle/>
                  <a:p>
                    <a:r>
                      <a:rPr lang="en-US" dirty="0"/>
                      <a:t>100 ms=1/10Hz</a:t>
                    </a:r>
                  </a:p>
                </p:txBody>
              </p:sp>
              <p:cxnSp>
                <p:nvCxnSpPr>
                  <p:cNvPr id="52" name="Straight Arrow Connector 51">
                    <a:extLst>
                      <a:ext uri="{FF2B5EF4-FFF2-40B4-BE49-F238E27FC236}">
                        <a16:creationId xmlns:a16="http://schemas.microsoft.com/office/drawing/2014/main" id="{5A32D09F-2B3E-53F4-2386-F4D493F68E7E}"/>
                      </a:ext>
                    </a:extLst>
                  </p:cNvPr>
                  <p:cNvCxnSpPr>
                    <a:cxnSpLocks/>
                  </p:cNvCxnSpPr>
                  <p:nvPr/>
                </p:nvCxnSpPr>
                <p:spPr>
                  <a:xfrm>
                    <a:off x="6381643" y="6343409"/>
                    <a:ext cx="943215"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81" name="Group 80">
                    <a:extLst>
                      <a:ext uri="{FF2B5EF4-FFF2-40B4-BE49-F238E27FC236}">
                        <a16:creationId xmlns:a16="http://schemas.microsoft.com/office/drawing/2014/main" id="{E5B8DD14-9427-CFAF-D7CB-0113BD080F72}"/>
                      </a:ext>
                    </a:extLst>
                  </p:cNvPr>
                  <p:cNvGrpSpPr/>
                  <p:nvPr/>
                </p:nvGrpSpPr>
                <p:grpSpPr>
                  <a:xfrm>
                    <a:off x="3556426" y="1960989"/>
                    <a:ext cx="5498309" cy="4292129"/>
                    <a:chOff x="3556426" y="1960989"/>
                    <a:chExt cx="5498309" cy="4292129"/>
                  </a:xfrm>
                </p:grpSpPr>
                <p:sp>
                  <p:nvSpPr>
                    <p:cNvPr id="67" name="TextBox 66">
                      <a:extLst>
                        <a:ext uri="{FF2B5EF4-FFF2-40B4-BE49-F238E27FC236}">
                          <a16:creationId xmlns:a16="http://schemas.microsoft.com/office/drawing/2014/main" id="{426CD8A7-ECEB-EF9F-861A-03E28C30B2D7}"/>
                        </a:ext>
                      </a:extLst>
                    </p:cNvPr>
                    <p:cNvSpPr txBox="1"/>
                    <p:nvPr/>
                  </p:nvSpPr>
                  <p:spPr>
                    <a:xfrm>
                      <a:off x="4644895" y="1960989"/>
                      <a:ext cx="3349315" cy="369332"/>
                    </a:xfrm>
                    <a:prstGeom prst="rect">
                      <a:avLst/>
                    </a:prstGeom>
                    <a:noFill/>
                  </p:spPr>
                  <p:txBody>
                    <a:bodyPr wrap="none" rtlCol="0">
                      <a:spAutoFit/>
                    </a:bodyPr>
                    <a:lstStyle/>
                    <a:p>
                      <a:r>
                        <a:rPr lang="en-US" dirty="0"/>
                        <a:t>FULL BANDWIDTH SIMULATION</a:t>
                      </a:r>
                    </a:p>
                  </p:txBody>
                </p:sp>
                <p:sp>
                  <p:nvSpPr>
                    <p:cNvPr id="76" name="TextBox 75">
                      <a:extLst>
                        <a:ext uri="{FF2B5EF4-FFF2-40B4-BE49-F238E27FC236}">
                          <a16:creationId xmlns:a16="http://schemas.microsoft.com/office/drawing/2014/main" id="{9913ED5F-4DE5-AE4D-CCB9-C65D84D44406}"/>
                        </a:ext>
                      </a:extLst>
                    </p:cNvPr>
                    <p:cNvSpPr txBox="1"/>
                    <p:nvPr/>
                  </p:nvSpPr>
                  <p:spPr>
                    <a:xfrm>
                      <a:off x="3556426" y="1968673"/>
                      <a:ext cx="619080" cy="369332"/>
                    </a:xfrm>
                    <a:prstGeom prst="rect">
                      <a:avLst/>
                    </a:prstGeom>
                    <a:noFill/>
                  </p:spPr>
                  <p:txBody>
                    <a:bodyPr wrap="none" rtlCol="0">
                      <a:spAutoFit/>
                    </a:bodyPr>
                    <a:lstStyle/>
                    <a:p>
                      <a:r>
                        <a:rPr lang="en-US" dirty="0"/>
                        <a:t>0 Hz</a:t>
                      </a:r>
                    </a:p>
                  </p:txBody>
                </p:sp>
                <p:sp>
                  <p:nvSpPr>
                    <p:cNvPr id="77" name="TextBox 76">
                      <a:extLst>
                        <a:ext uri="{FF2B5EF4-FFF2-40B4-BE49-F238E27FC236}">
                          <a16:creationId xmlns:a16="http://schemas.microsoft.com/office/drawing/2014/main" id="{F6299983-33BC-8A3D-9BC2-81BE151AF1A5}"/>
                        </a:ext>
                      </a:extLst>
                    </p:cNvPr>
                    <p:cNvSpPr txBox="1"/>
                    <p:nvPr/>
                  </p:nvSpPr>
                  <p:spPr>
                    <a:xfrm>
                      <a:off x="8323445" y="2003157"/>
                      <a:ext cx="731290" cy="369332"/>
                    </a:xfrm>
                    <a:prstGeom prst="rect">
                      <a:avLst/>
                    </a:prstGeom>
                    <a:noFill/>
                  </p:spPr>
                  <p:txBody>
                    <a:bodyPr wrap="none" rtlCol="0">
                      <a:spAutoFit/>
                    </a:bodyPr>
                    <a:lstStyle/>
                    <a:p>
                      <a:r>
                        <a:rPr lang="en-US" dirty="0"/>
                        <a:t>5 kHz</a:t>
                      </a:r>
                    </a:p>
                  </p:txBody>
                </p:sp>
                <p:pic>
                  <p:nvPicPr>
                    <p:cNvPr id="78" name="Picture 77" descr="A screenshot of a computer screen&#10;&#10;Description automatically generated">
                      <a:extLst>
                        <a:ext uri="{FF2B5EF4-FFF2-40B4-BE49-F238E27FC236}">
                          <a16:creationId xmlns:a16="http://schemas.microsoft.com/office/drawing/2014/main" id="{6B81D39D-72CA-EDA3-F845-91C6EA57C038}"/>
                        </a:ext>
                      </a:extLst>
                    </p:cNvPr>
                    <p:cNvPicPr/>
                    <p:nvPr/>
                  </p:nvPicPr>
                  <p:blipFill>
                    <a:blip r:embed="rId9">
                      <a:extLst>
                        <a:ext uri="{28A0092B-C50C-407E-A947-70E740481C1C}">
                          <a14:useLocalDpi xmlns:a14="http://schemas.microsoft.com/office/drawing/2010/main" val="0"/>
                        </a:ext>
                      </a:extLst>
                    </a:blip>
                    <a:stretch>
                      <a:fillRect/>
                    </a:stretch>
                  </p:blipFill>
                  <p:spPr>
                    <a:xfrm>
                      <a:off x="3863697" y="2276970"/>
                      <a:ext cx="4911713" cy="3976148"/>
                    </a:xfrm>
                    <a:prstGeom prst="rect">
                      <a:avLst/>
                    </a:prstGeom>
                  </p:spPr>
                </p:pic>
              </p:grpSp>
            </p:grpSp>
          </p:grpSp>
        </p:grpSp>
      </p:grpSp>
    </p:spTree>
    <p:extLst>
      <p:ext uri="{BB962C8B-B14F-4D97-AF65-F5344CB8AC3E}">
        <p14:creationId xmlns:p14="http://schemas.microsoft.com/office/powerpoint/2010/main" val="542480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053" fill="hold"/>
                                        <p:tgtEl>
                                          <p:spTgt spid="5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4"/>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20311</TotalTime>
  <Words>585</Words>
  <Application>Microsoft Office PowerPoint</Application>
  <PresentationFormat>Widescreen</PresentationFormat>
  <Paragraphs>39</Paragraphs>
  <Slides>1</Slides>
  <Notes>1</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Symbol</vt:lpstr>
      <vt:lpstr>Office Theme</vt:lpstr>
      <vt:lpstr>An Audio Frequency Chirp Transmitted By Stock SSB or AM Amateur Radios Can be Used to Measure Time Difference of Arrival (TDOA)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 Cerwin</dc:creator>
  <cp:lastModifiedBy>Dr. Nathaniel A. Frissell Ph.D.</cp:lastModifiedBy>
  <cp:revision>156</cp:revision>
  <dcterms:created xsi:type="dcterms:W3CDTF">2024-10-19T11:54:09Z</dcterms:created>
  <dcterms:modified xsi:type="dcterms:W3CDTF">2025-07-19T16:26:31Z</dcterms:modified>
</cp:coreProperties>
</file>