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465" r:id="rId2"/>
    <p:sldId id="475" r:id="rId3"/>
    <p:sldId id="347" r:id="rId4"/>
    <p:sldId id="472" r:id="rId5"/>
    <p:sldId id="459" r:id="rId6"/>
    <p:sldId id="273" r:id="rId7"/>
    <p:sldId id="267" r:id="rId8"/>
    <p:sldId id="479"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3090" autoAdjust="0"/>
  </p:normalViewPr>
  <p:slideViewPr>
    <p:cSldViewPr snapToGrid="0">
      <p:cViewPr varScale="1">
        <p:scale>
          <a:sx n="78" d="100"/>
          <a:sy n="78" d="100"/>
        </p:scale>
        <p:origin x="1812" y="84"/>
      </p:cViewPr>
      <p:guideLst/>
    </p:cSldViewPr>
  </p:slideViewPr>
  <p:notesTextViewPr>
    <p:cViewPr>
      <p:scale>
        <a:sx n="1" d="1"/>
        <a:sy n="1" d="1"/>
      </p:scale>
      <p:origin x="0" y="0"/>
    </p:cViewPr>
  </p:notesTextViewPr>
  <p:sorterViewPr>
    <p:cViewPr>
      <p:scale>
        <a:sx n="140" d="100"/>
        <a:sy n="14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606220-9AFA-4FA1-9079-EA85A4A02A94}" type="datetimeFigureOut">
              <a:rPr lang="en-US" smtClean="0"/>
              <a:t>7/19/2025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1AE693-752C-4720-B6D7-D348E1F4E496}" type="slidenum">
              <a:rPr lang="en-US" smtClean="0"/>
              <a:t>‹#›</a:t>
            </a:fld>
            <a:endParaRPr lang="en-US"/>
          </a:p>
        </p:txBody>
      </p:sp>
    </p:spTree>
    <p:extLst>
      <p:ext uri="{BB962C8B-B14F-4D97-AF65-F5344CB8AC3E}">
        <p14:creationId xmlns:p14="http://schemas.microsoft.com/office/powerpoint/2010/main" val="1716587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Steve Cerwin and I am going to talk about a way of probing the bottom side ionosphere using ordinary amateur radios transmitting and receiving audio waveforms that can reveal the Time Difference of Arrival, or TDOA between multipath propagation modes.</a:t>
            </a:r>
          </a:p>
        </p:txBody>
      </p:sp>
      <p:sp>
        <p:nvSpPr>
          <p:cNvPr id="4" name="Slide Number Placeholder 3"/>
          <p:cNvSpPr>
            <a:spLocks noGrp="1"/>
          </p:cNvSpPr>
          <p:nvPr>
            <p:ph type="sldNum" sz="quarter" idx="5"/>
          </p:nvPr>
        </p:nvSpPr>
        <p:spPr/>
        <p:txBody>
          <a:bodyPr/>
          <a:lstStyle/>
          <a:p>
            <a:fld id="{591AE693-752C-4720-B6D7-D348E1F4E496}" type="slidenum">
              <a:rPr lang="en-US" smtClean="0"/>
              <a:t>1</a:t>
            </a:fld>
            <a:endParaRPr lang="en-US"/>
          </a:p>
        </p:txBody>
      </p:sp>
    </p:spTree>
    <p:extLst>
      <p:ext uri="{BB962C8B-B14F-4D97-AF65-F5344CB8AC3E}">
        <p14:creationId xmlns:p14="http://schemas.microsoft.com/office/powerpoint/2010/main" val="539493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1AE693-752C-4720-B6D7-D348E1F4E496}" type="slidenum">
              <a:rPr lang="en-US" smtClean="0"/>
              <a:t>2</a:t>
            </a:fld>
            <a:endParaRPr lang="en-US"/>
          </a:p>
        </p:txBody>
      </p:sp>
    </p:spTree>
    <p:extLst>
      <p:ext uri="{BB962C8B-B14F-4D97-AF65-F5344CB8AC3E}">
        <p14:creationId xmlns:p14="http://schemas.microsoft.com/office/powerpoint/2010/main" val="17259308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illustration shows development of a flexible geometric model to predict how HF radio waves propagate from a transmitter to a receiver over a defined ground distance. The illustration at top center depicts conventional ionospheric propagation via refraction. A simplification enabling easy calculations is the virtual height model shown on the lower left. The curved refractive paths are replaced with straight line extensions that are assumed to undergo specular reflection at a virtual height that gives results very comparable to refractive ray trace modeling. Virtual height modeling has been used for many years. The data acquired with previous WWV Time of Flight studies as well as the present TDOA experiments have shown good agreement with ionosonde hmF2 data. At the lower right is a family of curves calculated by the model showing path lengths and times of flight for 1, 2, and 3 hop modes versus virtual layer height. While an absolute Time of Flight measurement could be used calculate layer height, this illustration shows that the difference in arrival time between two modes can give the same data and is much easier to do. The highlighted example shows the TDOA between 1 and 2 hops from the F2 layer is 0.67 ms at 225 km layer height and 1.10 ms at 300 km. A practical advantage of the TDOA method over Time-of-Flight is simplicity and the ability to use ordinary amateur radios without the requirement for complicated absolute time references at both stations.</a:t>
            </a:r>
          </a:p>
        </p:txBody>
      </p:sp>
      <p:sp>
        <p:nvSpPr>
          <p:cNvPr id="4" name="Slide Number Placeholder 3"/>
          <p:cNvSpPr>
            <a:spLocks noGrp="1"/>
          </p:cNvSpPr>
          <p:nvPr>
            <p:ph type="sldNum" sz="quarter" idx="5"/>
          </p:nvPr>
        </p:nvSpPr>
        <p:spPr/>
        <p:txBody>
          <a:bodyPr/>
          <a:lstStyle/>
          <a:p>
            <a:fld id="{591AE693-752C-4720-B6D7-D348E1F4E496}" type="slidenum">
              <a:rPr lang="en-US" smtClean="0"/>
              <a:t>3</a:t>
            </a:fld>
            <a:endParaRPr lang="en-US"/>
          </a:p>
        </p:txBody>
      </p:sp>
    </p:spTree>
    <p:extLst>
      <p:ext uri="{BB962C8B-B14F-4D97-AF65-F5344CB8AC3E}">
        <p14:creationId xmlns:p14="http://schemas.microsoft.com/office/powerpoint/2010/main" val="40935993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CC8B7-16B5-6C38-BD92-40CDFAB761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976EFC-BD21-D9EE-4F6F-E0CC8B0E99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3CA477-0383-D57E-D200-510A61618969}"/>
              </a:ext>
            </a:extLst>
          </p:cNvPr>
          <p:cNvSpPr>
            <a:spLocks noGrp="1"/>
          </p:cNvSpPr>
          <p:nvPr>
            <p:ph type="body" idx="1"/>
          </p:nvPr>
        </p:nvSpPr>
        <p:spPr/>
        <p:txBody>
          <a:bodyPr/>
          <a:lstStyle/>
          <a:p>
            <a:r>
              <a:rPr lang="en-US" dirty="0"/>
              <a:t>In multipath propagation over a fixed path, the shorter mode arrives first followed by the longer. Both naturally sum in the receiver. The Time Difference of Arrival between the two modes can be measured by using an audio waveform that is sensitive to summation with a delayed copy of itself. A linear frequency chirp is one such waveform. The center illustration is a simulation showing two 10 Hz/ms chirps summed with a 1 ms time delay to represent reception of two multipath modes. The chirps sweep from 0 to 5000 Hz in 500 ms. The 1 ms time delay means the delayed chirp will always be 10 Hz behind throughout the entire overlap period. When summed, this difference frequency manifests as a 10 Hz beat note that shows up as amplitude scalloping in the chirp envelope. In practice, TDOA can be calculated from the received waveform either in the frequency domain by measurement of beat note frequency or the time domain by measurement of beat note period. The audio clip gives the 10-chirp sequence that was used during the 2024 total eclipse. The right three illustrations show waveforms as received in on-air tests. The top waveform was recorded over a direct, non-ionospheric path to show how the chirp waveform envelope can be modified by bandwidth restriction and passband shape in actual radio equipment. Only about 3 kHz of the 5 kHz chirp makes it through a typical SSB TX passband, and overall shape shows the TX-RX low and high frequency skirt responses. The lower two waveforms show appearance of waveforms undergoing actual multipath interference. The center waveform shows a 1.6 ms TDOA over a 317 km path, which is consistent with 1 and 2 hops from the F2 layer at a height of 260 km. The bottom waveform similarly shows a TDOA of 1.9 ms over a 407 km path, which is consistent with 1 and 2 hops from the F2 layer at a height of 315 km.</a:t>
            </a:r>
          </a:p>
        </p:txBody>
      </p:sp>
      <p:sp>
        <p:nvSpPr>
          <p:cNvPr id="4" name="Slide Number Placeholder 3">
            <a:extLst>
              <a:ext uri="{FF2B5EF4-FFF2-40B4-BE49-F238E27FC236}">
                <a16:creationId xmlns:a16="http://schemas.microsoft.com/office/drawing/2014/main" id="{36F0707E-CF7F-2AFC-752F-8762F8445ABC}"/>
              </a:ext>
            </a:extLst>
          </p:cNvPr>
          <p:cNvSpPr>
            <a:spLocks noGrp="1"/>
          </p:cNvSpPr>
          <p:nvPr>
            <p:ph type="sldNum" sz="quarter" idx="5"/>
          </p:nvPr>
        </p:nvSpPr>
        <p:spPr/>
        <p:txBody>
          <a:bodyPr/>
          <a:lstStyle/>
          <a:p>
            <a:fld id="{FED5E9B0-4D2F-6940-960C-7170460E1BE8}" type="slidenum">
              <a:rPr lang="en-US" smtClean="0"/>
              <a:t>4</a:t>
            </a:fld>
            <a:endParaRPr lang="en-US"/>
          </a:p>
        </p:txBody>
      </p:sp>
    </p:spTree>
    <p:extLst>
      <p:ext uri="{BB962C8B-B14F-4D97-AF65-F5344CB8AC3E}">
        <p14:creationId xmlns:p14="http://schemas.microsoft.com/office/powerpoint/2010/main" val="33505745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setup for the 2023 and 2024 Eclipse experiments. The radio propagation paths described in this paper are shown in the map overlay on the left. The upper right photo shows the eclipse paths and identifies the map location in Texas. The lower right photo shows amateur radio station WA5FRF used to transmit the TDOA waveforms. Both eclipses passed very nearly overhead this station though angular orientation and path directions were very different.  </a:t>
            </a:r>
          </a:p>
        </p:txBody>
      </p:sp>
      <p:sp>
        <p:nvSpPr>
          <p:cNvPr id="4" name="Slide Number Placeholder 3"/>
          <p:cNvSpPr>
            <a:spLocks noGrp="1"/>
          </p:cNvSpPr>
          <p:nvPr>
            <p:ph type="sldNum" sz="quarter" idx="5"/>
          </p:nvPr>
        </p:nvSpPr>
        <p:spPr/>
        <p:txBody>
          <a:bodyPr/>
          <a:lstStyle/>
          <a:p>
            <a:fld id="{591AE693-752C-4720-B6D7-D348E1F4E496}" type="slidenum">
              <a:rPr lang="en-US" smtClean="0"/>
              <a:t>5</a:t>
            </a:fld>
            <a:endParaRPr lang="en-US"/>
          </a:p>
        </p:txBody>
      </p:sp>
    </p:spTree>
    <p:extLst>
      <p:ext uri="{BB962C8B-B14F-4D97-AF65-F5344CB8AC3E}">
        <p14:creationId xmlns:p14="http://schemas.microsoft.com/office/powerpoint/2010/main" val="22586202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several charts show TDOA data collected during the 2023 and 2024 North American eclipses. This chart shows same-frequency data over two very different path lengths: a short NVIS path to a local station only 9 km away and a 317 km path that was in the same direction as the eclipse Path of Totality. Measured TDOA was consistent with 1 and 2 hops from the F2 layer, though the NVIS multipath could have been between ground wave and 1 or more hops from F2. The calculated F2 layer height data from both paths agreed well with each other and with hmF2 data from the Austin, TX ionosonde. Data were acquired from 1400 UTC to 2030 UTC which included local totality at the TX site at 1830 UTC. The measured height profile resembles a two-hump saddle with one peak at 1530 UTC and a second near the time of totality passage at 1830 UTC. </a:t>
            </a:r>
          </a:p>
        </p:txBody>
      </p:sp>
      <p:sp>
        <p:nvSpPr>
          <p:cNvPr id="4" name="Slide Number Placeholder 3"/>
          <p:cNvSpPr>
            <a:spLocks noGrp="1"/>
          </p:cNvSpPr>
          <p:nvPr>
            <p:ph type="sldNum" sz="quarter" idx="5"/>
          </p:nvPr>
        </p:nvSpPr>
        <p:spPr/>
        <p:txBody>
          <a:bodyPr/>
          <a:lstStyle/>
          <a:p>
            <a:fld id="{591AE693-752C-4720-B6D7-D348E1F4E496}" type="slidenum">
              <a:rPr lang="en-US" smtClean="0"/>
              <a:t>6</a:t>
            </a:fld>
            <a:endParaRPr lang="en-US"/>
          </a:p>
        </p:txBody>
      </p:sp>
    </p:spTree>
    <p:extLst>
      <p:ext uri="{BB962C8B-B14F-4D97-AF65-F5344CB8AC3E}">
        <p14:creationId xmlns:p14="http://schemas.microsoft.com/office/powerpoint/2010/main" val="4009141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charts show TDOA data taken over the same NVIS path at two different frequencies of 5.3 MHz and 7.3 MHz. Both plots include the hmF2 overlay from the Austin, TX ionosonde. The calculated F2 layer height profile at 5.3 MHz showed definite peaking over the acquisition window with a well-defined peak that occurred about 20 minutes before local totality. Note that incident sun angle also peaks over this period. The 7.3 MHz data set showed the double-hump saddle with the second peak at 30 minutes after totality. The Austin ionosonde showed general peaking over this time window with only a modest peak at the time of totality. These TDOA data sets show a clear frequency dependence while still being generally consistent with Austin hmF2.  Definite frequency dependent height bumps were obtained during the 2023 annular eclipse and reported at the 2023 AGU Fall meeting. </a:t>
            </a:r>
          </a:p>
        </p:txBody>
      </p:sp>
      <p:sp>
        <p:nvSpPr>
          <p:cNvPr id="4" name="Slide Number Placeholder 3"/>
          <p:cNvSpPr>
            <a:spLocks noGrp="1"/>
          </p:cNvSpPr>
          <p:nvPr>
            <p:ph type="sldNum" sz="quarter" idx="5"/>
          </p:nvPr>
        </p:nvSpPr>
        <p:spPr/>
        <p:txBody>
          <a:bodyPr/>
          <a:lstStyle/>
          <a:p>
            <a:fld id="{591AE693-752C-4720-B6D7-D348E1F4E496}" type="slidenum">
              <a:rPr lang="en-US" smtClean="0"/>
              <a:t>7</a:t>
            </a:fld>
            <a:endParaRPr lang="en-US"/>
          </a:p>
        </p:txBody>
      </p:sp>
    </p:spTree>
    <p:extLst>
      <p:ext uri="{BB962C8B-B14F-4D97-AF65-F5344CB8AC3E}">
        <p14:creationId xmlns:p14="http://schemas.microsoft.com/office/powerpoint/2010/main" val="28311374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Chirp envelopes with unusual beat frequency patterns were observed throughout all the data sets. TDOA values from these chirps produced low and high data outliers on many of the plots as shown in the chart on the upper right. The spreadsheet-based virtual height model made it easy to predict TDOA values for combinational modes involving both the E and F2 layers. The lower left chart for the 317 km path had TDOA outliers that were well below the usual values corresponding to 1 and 2 hops from the F2 layer. But when these TDOA values were used with formulas for 1 hop from F2 and 1 hop from the E layer, the calculated F2 layer heights fell right inline with the rest of the height profile. This mode was predicted over this path by a PHaRLAP ray tracing simulation performed by Nathaniel Frissell W2NAV. The chart for a 407 km path shown on the lower right had both unusually low and high TDOA outliers. Applying the formula for 1 hop from F2 and one from E to the low values and the formula for 2 hops from F2 and 1-hop from E to the high values produced a consistent F2 height profile for all TDOA values. It is suspected that this mode occurred at this time and frequency because the E layer was reflective enough to completely block the comparatively low angle required for 1-hop from F2 while being transparent enough to pass the higher angle required for the 2-hop F2 mode.</a:t>
            </a:r>
          </a:p>
        </p:txBody>
      </p:sp>
      <p:sp>
        <p:nvSpPr>
          <p:cNvPr id="4" name="Slide Number Placeholder 3"/>
          <p:cNvSpPr>
            <a:spLocks noGrp="1"/>
          </p:cNvSpPr>
          <p:nvPr>
            <p:ph type="sldNum" sz="quarter" idx="5"/>
          </p:nvPr>
        </p:nvSpPr>
        <p:spPr/>
        <p:txBody>
          <a:bodyPr/>
          <a:lstStyle/>
          <a:p>
            <a:fld id="{591AE693-752C-4720-B6D7-D348E1F4E496}" type="slidenum">
              <a:rPr lang="en-US" smtClean="0"/>
              <a:t>8</a:t>
            </a:fld>
            <a:endParaRPr lang="en-US"/>
          </a:p>
        </p:txBody>
      </p:sp>
    </p:spTree>
    <p:extLst>
      <p:ext uri="{BB962C8B-B14F-4D97-AF65-F5344CB8AC3E}">
        <p14:creationId xmlns:p14="http://schemas.microsoft.com/office/powerpoint/2010/main" val="8576691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468A73-0C55-E34E-9CB7-5330232F97C1}" type="slidenum">
              <a:rPr lang="en-US" smtClean="0"/>
              <a:t>9</a:t>
            </a:fld>
            <a:endParaRPr lang="en-US"/>
          </a:p>
        </p:txBody>
      </p:sp>
    </p:spTree>
    <p:extLst>
      <p:ext uri="{BB962C8B-B14F-4D97-AF65-F5344CB8AC3E}">
        <p14:creationId xmlns:p14="http://schemas.microsoft.com/office/powerpoint/2010/main" val="39606023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918D5-C364-681A-F336-254C47712B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6EC7F5-7BFE-5A34-D66B-D91F0C87BB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1BEC19-0A8D-C3AA-2A3F-4467BD450E78}"/>
              </a:ext>
            </a:extLst>
          </p:cNvPr>
          <p:cNvSpPr>
            <a:spLocks noGrp="1"/>
          </p:cNvSpPr>
          <p:nvPr>
            <p:ph type="dt" sz="half" idx="10"/>
          </p:nvPr>
        </p:nvSpPr>
        <p:spPr/>
        <p:txBody>
          <a:bodyPr/>
          <a:lstStyle/>
          <a:p>
            <a:fld id="{A8B5E4D4-5F0F-4EDB-8383-53EA13D893D3}" type="datetimeFigureOut">
              <a:rPr lang="en-US" smtClean="0"/>
              <a:t>7/19/2025</a:t>
            </a:fld>
            <a:endParaRPr lang="en-US"/>
          </a:p>
        </p:txBody>
      </p:sp>
      <p:sp>
        <p:nvSpPr>
          <p:cNvPr id="5" name="Footer Placeholder 4">
            <a:extLst>
              <a:ext uri="{FF2B5EF4-FFF2-40B4-BE49-F238E27FC236}">
                <a16:creationId xmlns:a16="http://schemas.microsoft.com/office/drawing/2014/main" id="{6E121EBB-A9D2-0684-0B55-E4A3F0FDC8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E1F745-533B-F306-2B5C-9C97130426C3}"/>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715635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127DF-7972-0E49-317C-37D6BC5001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C92EB8-7320-9577-A667-ED891D284C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6BFE0B-B19C-A2A1-762D-9C1696540189}"/>
              </a:ext>
            </a:extLst>
          </p:cNvPr>
          <p:cNvSpPr>
            <a:spLocks noGrp="1"/>
          </p:cNvSpPr>
          <p:nvPr>
            <p:ph type="dt" sz="half" idx="10"/>
          </p:nvPr>
        </p:nvSpPr>
        <p:spPr/>
        <p:txBody>
          <a:bodyPr/>
          <a:lstStyle/>
          <a:p>
            <a:fld id="{A8B5E4D4-5F0F-4EDB-8383-53EA13D893D3}" type="datetimeFigureOut">
              <a:rPr lang="en-US" smtClean="0"/>
              <a:t>7/19/2025</a:t>
            </a:fld>
            <a:endParaRPr lang="en-US"/>
          </a:p>
        </p:txBody>
      </p:sp>
      <p:sp>
        <p:nvSpPr>
          <p:cNvPr id="5" name="Footer Placeholder 4">
            <a:extLst>
              <a:ext uri="{FF2B5EF4-FFF2-40B4-BE49-F238E27FC236}">
                <a16:creationId xmlns:a16="http://schemas.microsoft.com/office/drawing/2014/main" id="{7A7E1DB9-E17D-DF24-70E4-1E041CBF2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2083F4-8D52-2C1E-96F2-F08E870F710B}"/>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729090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D2FE4-B0E0-4504-DCB9-66345B3543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6248A0-5A50-BAA8-AE36-24A9BA6A32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F0D038-3E97-8F24-5C01-7AFF8291DEC6}"/>
              </a:ext>
            </a:extLst>
          </p:cNvPr>
          <p:cNvSpPr>
            <a:spLocks noGrp="1"/>
          </p:cNvSpPr>
          <p:nvPr>
            <p:ph type="dt" sz="half" idx="10"/>
          </p:nvPr>
        </p:nvSpPr>
        <p:spPr/>
        <p:txBody>
          <a:bodyPr/>
          <a:lstStyle/>
          <a:p>
            <a:fld id="{A8B5E4D4-5F0F-4EDB-8383-53EA13D893D3}" type="datetimeFigureOut">
              <a:rPr lang="en-US" smtClean="0"/>
              <a:t>7/19/2025</a:t>
            </a:fld>
            <a:endParaRPr lang="en-US"/>
          </a:p>
        </p:txBody>
      </p:sp>
      <p:sp>
        <p:nvSpPr>
          <p:cNvPr id="5" name="Footer Placeholder 4">
            <a:extLst>
              <a:ext uri="{FF2B5EF4-FFF2-40B4-BE49-F238E27FC236}">
                <a16:creationId xmlns:a16="http://schemas.microsoft.com/office/drawing/2014/main" id="{4E0A3934-C94E-34E7-7140-7043C4AE7B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85543F-7AEF-395F-4C86-026204D85C1F}"/>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503786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A7314-97E3-1F82-652E-315F7662B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ADCEAE-06FE-8238-58D6-4960AB1CE0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ED1006-51BF-FF21-15A4-7CAF0F23E8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B4C1338-4D8D-2075-E1F0-7F932E78F841}"/>
              </a:ext>
            </a:extLst>
          </p:cNvPr>
          <p:cNvSpPr>
            <a:spLocks noGrp="1"/>
          </p:cNvSpPr>
          <p:nvPr>
            <p:ph type="dt" sz="half" idx="10"/>
          </p:nvPr>
        </p:nvSpPr>
        <p:spPr/>
        <p:txBody>
          <a:bodyPr/>
          <a:lstStyle/>
          <a:p>
            <a:fld id="{A8B5E4D4-5F0F-4EDB-8383-53EA13D893D3}" type="datetimeFigureOut">
              <a:rPr lang="en-US" smtClean="0"/>
              <a:t>7/19/2025</a:t>
            </a:fld>
            <a:endParaRPr lang="en-US"/>
          </a:p>
        </p:txBody>
      </p:sp>
      <p:sp>
        <p:nvSpPr>
          <p:cNvPr id="6" name="Footer Placeholder 5">
            <a:extLst>
              <a:ext uri="{FF2B5EF4-FFF2-40B4-BE49-F238E27FC236}">
                <a16:creationId xmlns:a16="http://schemas.microsoft.com/office/drawing/2014/main" id="{8B761E79-8D6F-B113-9A0C-27FCAF6186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7CD1FA-2360-1C81-02ED-1CC8AA1DD50B}"/>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771596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649D-56B0-9728-D1B7-AD4521D6AD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5A6C79-4449-1C7A-A516-79CCC6F6DB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8A231A-D606-2EF7-61FD-2D043D7267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A31F68-4C14-C3A2-8851-A83A9251CE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DCE558-D50D-B0F3-2407-7BCAB0DD2D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AF6E91-1845-0038-299A-E7D1F22AE517}"/>
              </a:ext>
            </a:extLst>
          </p:cNvPr>
          <p:cNvSpPr>
            <a:spLocks noGrp="1"/>
          </p:cNvSpPr>
          <p:nvPr>
            <p:ph type="dt" sz="half" idx="10"/>
          </p:nvPr>
        </p:nvSpPr>
        <p:spPr/>
        <p:txBody>
          <a:bodyPr/>
          <a:lstStyle/>
          <a:p>
            <a:fld id="{A8B5E4D4-5F0F-4EDB-8383-53EA13D893D3}" type="datetimeFigureOut">
              <a:rPr lang="en-US" smtClean="0"/>
              <a:t>7/19/2025</a:t>
            </a:fld>
            <a:endParaRPr lang="en-US"/>
          </a:p>
        </p:txBody>
      </p:sp>
      <p:sp>
        <p:nvSpPr>
          <p:cNvPr id="8" name="Footer Placeholder 7">
            <a:extLst>
              <a:ext uri="{FF2B5EF4-FFF2-40B4-BE49-F238E27FC236}">
                <a16:creationId xmlns:a16="http://schemas.microsoft.com/office/drawing/2014/main" id="{4350A02E-D1B3-93D8-C2D4-D4917913CC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430E3F5-C468-CD1A-8848-5354361DBD97}"/>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3289696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D3F6A-BF43-E98C-ACD3-9432E5CDD6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6DF50AF-91C3-61CA-B46A-DEA95A1146AF}"/>
              </a:ext>
            </a:extLst>
          </p:cNvPr>
          <p:cNvSpPr>
            <a:spLocks noGrp="1"/>
          </p:cNvSpPr>
          <p:nvPr>
            <p:ph type="dt" sz="half" idx="10"/>
          </p:nvPr>
        </p:nvSpPr>
        <p:spPr/>
        <p:txBody>
          <a:bodyPr/>
          <a:lstStyle/>
          <a:p>
            <a:fld id="{A8B5E4D4-5F0F-4EDB-8383-53EA13D893D3}" type="datetimeFigureOut">
              <a:rPr lang="en-US" smtClean="0"/>
              <a:t>7/19/2025</a:t>
            </a:fld>
            <a:endParaRPr lang="en-US"/>
          </a:p>
        </p:txBody>
      </p:sp>
      <p:sp>
        <p:nvSpPr>
          <p:cNvPr id="4" name="Footer Placeholder 3">
            <a:extLst>
              <a:ext uri="{FF2B5EF4-FFF2-40B4-BE49-F238E27FC236}">
                <a16:creationId xmlns:a16="http://schemas.microsoft.com/office/drawing/2014/main" id="{3D84558C-698F-35BD-4193-7BBF99FC93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0AB9BA-C606-76BB-FB59-CD5228708D8C}"/>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2321679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5D6E10-40FA-74F1-2547-E893FAF1238F}"/>
              </a:ext>
            </a:extLst>
          </p:cNvPr>
          <p:cNvSpPr>
            <a:spLocks noGrp="1"/>
          </p:cNvSpPr>
          <p:nvPr>
            <p:ph type="dt" sz="half" idx="10"/>
          </p:nvPr>
        </p:nvSpPr>
        <p:spPr/>
        <p:txBody>
          <a:bodyPr/>
          <a:lstStyle/>
          <a:p>
            <a:fld id="{A8B5E4D4-5F0F-4EDB-8383-53EA13D893D3}" type="datetimeFigureOut">
              <a:rPr lang="en-US" smtClean="0"/>
              <a:t>7/19/2025</a:t>
            </a:fld>
            <a:endParaRPr lang="en-US"/>
          </a:p>
        </p:txBody>
      </p:sp>
      <p:sp>
        <p:nvSpPr>
          <p:cNvPr id="3" name="Footer Placeholder 2">
            <a:extLst>
              <a:ext uri="{FF2B5EF4-FFF2-40B4-BE49-F238E27FC236}">
                <a16:creationId xmlns:a16="http://schemas.microsoft.com/office/drawing/2014/main" id="{49CCC1C9-A010-42CA-C672-C7B93A2418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C669021-D371-FA64-8689-B9318DBCBE55}"/>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918128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FB8E4-3F17-6847-0FD6-23143306DD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243399A-A8F6-13DF-344D-E331C9210B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614521-733E-6794-7638-9F0746F924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DBA1B7-BD71-09C9-BB2B-525A885C1BA2}"/>
              </a:ext>
            </a:extLst>
          </p:cNvPr>
          <p:cNvSpPr>
            <a:spLocks noGrp="1"/>
          </p:cNvSpPr>
          <p:nvPr>
            <p:ph type="dt" sz="half" idx="10"/>
          </p:nvPr>
        </p:nvSpPr>
        <p:spPr/>
        <p:txBody>
          <a:bodyPr/>
          <a:lstStyle/>
          <a:p>
            <a:fld id="{A8B5E4D4-5F0F-4EDB-8383-53EA13D893D3}" type="datetimeFigureOut">
              <a:rPr lang="en-US" smtClean="0"/>
              <a:t>7/19/2025</a:t>
            </a:fld>
            <a:endParaRPr lang="en-US"/>
          </a:p>
        </p:txBody>
      </p:sp>
      <p:sp>
        <p:nvSpPr>
          <p:cNvPr id="6" name="Footer Placeholder 5">
            <a:extLst>
              <a:ext uri="{FF2B5EF4-FFF2-40B4-BE49-F238E27FC236}">
                <a16:creationId xmlns:a16="http://schemas.microsoft.com/office/drawing/2014/main" id="{F27BC925-0590-D1B6-0BB1-F87671B1E7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6CA66E-2B96-69D2-25F6-626EE0EFD083}"/>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645835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56614-BAA5-28FB-5606-F728094E3F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BD1BC2-0A3D-147C-A142-479B81A74E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DFE830D-6BF2-F698-BCD9-C47420056E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1F800B-10F2-68BC-EDDD-9D37B4982EDB}"/>
              </a:ext>
            </a:extLst>
          </p:cNvPr>
          <p:cNvSpPr>
            <a:spLocks noGrp="1"/>
          </p:cNvSpPr>
          <p:nvPr>
            <p:ph type="dt" sz="half" idx="10"/>
          </p:nvPr>
        </p:nvSpPr>
        <p:spPr/>
        <p:txBody>
          <a:bodyPr/>
          <a:lstStyle/>
          <a:p>
            <a:fld id="{A8B5E4D4-5F0F-4EDB-8383-53EA13D893D3}" type="datetimeFigureOut">
              <a:rPr lang="en-US" smtClean="0"/>
              <a:t>7/19/2025</a:t>
            </a:fld>
            <a:endParaRPr lang="en-US"/>
          </a:p>
        </p:txBody>
      </p:sp>
      <p:sp>
        <p:nvSpPr>
          <p:cNvPr id="6" name="Footer Placeholder 5">
            <a:extLst>
              <a:ext uri="{FF2B5EF4-FFF2-40B4-BE49-F238E27FC236}">
                <a16:creationId xmlns:a16="http://schemas.microsoft.com/office/drawing/2014/main" id="{00C013F8-E632-2F70-354D-AD014B48D2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6766E7-BD61-4408-4AF5-B1D196BB1FD7}"/>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805374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74547-C476-5E9F-00E7-56F22E3275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C35955-F25F-DC16-5A7F-02BF90A731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247494-4B36-5304-A297-381DA12E6E29}"/>
              </a:ext>
            </a:extLst>
          </p:cNvPr>
          <p:cNvSpPr>
            <a:spLocks noGrp="1"/>
          </p:cNvSpPr>
          <p:nvPr>
            <p:ph type="dt" sz="half" idx="10"/>
          </p:nvPr>
        </p:nvSpPr>
        <p:spPr/>
        <p:txBody>
          <a:bodyPr/>
          <a:lstStyle/>
          <a:p>
            <a:fld id="{A8B5E4D4-5F0F-4EDB-8383-53EA13D893D3}" type="datetimeFigureOut">
              <a:rPr lang="en-US" smtClean="0"/>
              <a:t>7/19/2025</a:t>
            </a:fld>
            <a:endParaRPr lang="en-US"/>
          </a:p>
        </p:txBody>
      </p:sp>
      <p:sp>
        <p:nvSpPr>
          <p:cNvPr id="5" name="Footer Placeholder 4">
            <a:extLst>
              <a:ext uri="{FF2B5EF4-FFF2-40B4-BE49-F238E27FC236}">
                <a16:creationId xmlns:a16="http://schemas.microsoft.com/office/drawing/2014/main" id="{A7ECCC26-CE59-1D86-BA63-2646EC3301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166E80-AEC2-8F5F-E7A6-2B309216D871}"/>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488734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27F85D-7190-1093-9FBD-E405A9729D1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9D832E-97C8-6830-C39E-D9F3EEAE91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0783A0-745E-0934-1B8C-CE842FAD4236}"/>
              </a:ext>
            </a:extLst>
          </p:cNvPr>
          <p:cNvSpPr>
            <a:spLocks noGrp="1"/>
          </p:cNvSpPr>
          <p:nvPr>
            <p:ph type="dt" sz="half" idx="10"/>
          </p:nvPr>
        </p:nvSpPr>
        <p:spPr/>
        <p:txBody>
          <a:bodyPr/>
          <a:lstStyle/>
          <a:p>
            <a:fld id="{A8B5E4D4-5F0F-4EDB-8383-53EA13D893D3}" type="datetimeFigureOut">
              <a:rPr lang="en-US" smtClean="0"/>
              <a:t>7/19/2025</a:t>
            </a:fld>
            <a:endParaRPr lang="en-US"/>
          </a:p>
        </p:txBody>
      </p:sp>
      <p:sp>
        <p:nvSpPr>
          <p:cNvPr id="5" name="Footer Placeholder 4">
            <a:extLst>
              <a:ext uri="{FF2B5EF4-FFF2-40B4-BE49-F238E27FC236}">
                <a16:creationId xmlns:a16="http://schemas.microsoft.com/office/drawing/2014/main" id="{35CB00ED-BEDD-FD5F-D3CC-8007E043D4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59ACDB-5C73-4509-1FEA-F54BC9931956}"/>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492870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E6ABC3-EAAC-B0B7-D3DC-71183A7DF2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633D00-F676-29D5-C369-7E64033DBD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B616E7-8C9B-63C8-4FE0-422C2C5F1B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B5E4D4-5F0F-4EDB-8383-53EA13D893D3}" type="datetimeFigureOut">
              <a:rPr lang="en-US" smtClean="0"/>
              <a:t>7/19/2025</a:t>
            </a:fld>
            <a:endParaRPr lang="en-US"/>
          </a:p>
        </p:txBody>
      </p:sp>
      <p:sp>
        <p:nvSpPr>
          <p:cNvPr id="5" name="Footer Placeholder 4">
            <a:extLst>
              <a:ext uri="{FF2B5EF4-FFF2-40B4-BE49-F238E27FC236}">
                <a16:creationId xmlns:a16="http://schemas.microsoft.com/office/drawing/2014/main" id="{82E489E1-9C55-4435-878F-806B8DEBA5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F01B997-005D-01F7-C9F4-6D16FCAB1F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B1C0B9-E3A8-4662-BF5D-12372F198869}" type="slidenum">
              <a:rPr lang="en-US" smtClean="0"/>
              <a:t>‹#›</a:t>
            </a:fld>
            <a:endParaRPr lang="en-US"/>
          </a:p>
        </p:txBody>
      </p:sp>
    </p:spTree>
    <p:extLst>
      <p:ext uri="{BB962C8B-B14F-4D97-AF65-F5344CB8AC3E}">
        <p14:creationId xmlns:p14="http://schemas.microsoft.com/office/powerpoint/2010/main" val="2854267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6.xml"/><Relationship Id="rId7" Type="http://schemas.openxmlformats.org/officeDocument/2006/relationships/image" Target="../media/image5.png"/><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4.xml"/><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0.jpe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CC668-90E8-451C-C1A3-87C44D3A5117}"/>
              </a:ext>
            </a:extLst>
          </p:cNvPr>
          <p:cNvSpPr>
            <a:spLocks noGrp="1"/>
          </p:cNvSpPr>
          <p:nvPr>
            <p:ph type="ctrTitle"/>
          </p:nvPr>
        </p:nvSpPr>
        <p:spPr>
          <a:xfrm>
            <a:off x="850609" y="558837"/>
            <a:ext cx="10494333" cy="1854754"/>
          </a:xfrm>
        </p:spPr>
        <p:txBody>
          <a:bodyPr>
            <a:normAutofit/>
          </a:bodyPr>
          <a:lstStyle/>
          <a:p>
            <a:r>
              <a:rPr lang="en-US" sz="4000" kern="100" dirty="0">
                <a:effectLst/>
                <a:latin typeface="Calibri" panose="020F0502020204030204" pitchFamily="34" charset="0"/>
                <a:ea typeface="Calibri" panose="020F0502020204030204" pitchFamily="34" charset="0"/>
                <a:cs typeface="Times New Roman" panose="02020603050405020304" pitchFamily="18" charset="0"/>
              </a:rPr>
              <a:t>HamSCI HF Multipath Propagation Mode Analysis Using Amateur Radios and Audio Waveforms Sensitive to Time Difference of Arrival (TDOA) </a:t>
            </a:r>
            <a:endParaRPr lang="en-US" dirty="0"/>
          </a:p>
        </p:txBody>
      </p:sp>
      <p:sp>
        <p:nvSpPr>
          <p:cNvPr id="3" name="Subtitle 2">
            <a:extLst>
              <a:ext uri="{FF2B5EF4-FFF2-40B4-BE49-F238E27FC236}">
                <a16:creationId xmlns:a16="http://schemas.microsoft.com/office/drawing/2014/main" id="{F932A519-7BEC-5DBC-A6A4-EEF2BA81B9AC}"/>
              </a:ext>
            </a:extLst>
          </p:cNvPr>
          <p:cNvSpPr>
            <a:spLocks noGrp="1"/>
          </p:cNvSpPr>
          <p:nvPr>
            <p:ph type="subTitle" idx="1"/>
          </p:nvPr>
        </p:nvSpPr>
        <p:spPr>
          <a:xfrm>
            <a:off x="2502640" y="2791047"/>
            <a:ext cx="6463711" cy="1477925"/>
          </a:xfrm>
        </p:spPr>
        <p:txBody>
          <a:bodyPr>
            <a:normAutofit/>
          </a:bodyPr>
          <a:lstStyle/>
          <a:p>
            <a:r>
              <a:rPr lang="en-US" sz="1800" dirty="0"/>
              <a:t>Steve Cerwin WA5FRF, Jesse T. McMahan K1FR,</a:t>
            </a:r>
          </a:p>
          <a:p>
            <a:r>
              <a:rPr lang="en-US" sz="1800" dirty="0"/>
              <a:t>Alexandros Papadopoulos KC3WUD, Gerard Piccini KD2ZHK,</a:t>
            </a:r>
          </a:p>
          <a:p>
            <a:r>
              <a:rPr lang="en-US" sz="1800" dirty="0"/>
              <a:t>Paul Bilberry N5DUP, Sam Blackshear AB5YO</a:t>
            </a:r>
          </a:p>
          <a:p>
            <a:r>
              <a:rPr lang="en-US" sz="1800" dirty="0"/>
              <a:t>Kristina V. Collins KD8OXT, Nathaniel  A. Frissell W2NAV</a:t>
            </a:r>
          </a:p>
          <a:p>
            <a:endParaRPr lang="en-US" sz="1600" dirty="0"/>
          </a:p>
        </p:txBody>
      </p:sp>
      <p:sp>
        <p:nvSpPr>
          <p:cNvPr id="4" name="TextBox 3">
            <a:extLst>
              <a:ext uri="{FF2B5EF4-FFF2-40B4-BE49-F238E27FC236}">
                <a16:creationId xmlns:a16="http://schemas.microsoft.com/office/drawing/2014/main" id="{0EF4D52B-A8FE-5FB1-A573-9385532A661A}"/>
              </a:ext>
            </a:extLst>
          </p:cNvPr>
          <p:cNvSpPr txBox="1"/>
          <p:nvPr/>
        </p:nvSpPr>
        <p:spPr>
          <a:xfrm>
            <a:off x="1725835" y="4646429"/>
            <a:ext cx="8017323" cy="954107"/>
          </a:xfrm>
          <a:prstGeom prst="rect">
            <a:avLst/>
          </a:prstGeom>
          <a:noFill/>
        </p:spPr>
        <p:txBody>
          <a:bodyPr wrap="none" rtlCol="0">
            <a:spAutoFit/>
          </a:bodyPr>
          <a:lstStyle/>
          <a:p>
            <a:pPr algn="ctr"/>
            <a:r>
              <a:rPr lang="en-US" sz="2800" b="0" i="0" dirty="0">
                <a:effectLst/>
                <a:latin typeface="avenir_nextdemi_bold"/>
              </a:rPr>
              <a:t>American Geophysical Union (AGU) Fall Meeting 2024</a:t>
            </a:r>
          </a:p>
          <a:p>
            <a:pPr algn="ctr"/>
            <a:r>
              <a:rPr lang="en-US" sz="2800" dirty="0">
                <a:latin typeface="avenir_nextdemi_bold"/>
              </a:rPr>
              <a:t>December 9-13, 2024</a:t>
            </a:r>
            <a:endParaRPr lang="en-US" sz="2800" dirty="0"/>
          </a:p>
        </p:txBody>
      </p:sp>
      <p:pic>
        <p:nvPicPr>
          <p:cNvPr id="5" name="Picture 4" descr="A person standing on a computer&#10;&#10;Description automatically generated">
            <a:extLst>
              <a:ext uri="{FF2B5EF4-FFF2-40B4-BE49-F238E27FC236}">
                <a16:creationId xmlns:a16="http://schemas.microsoft.com/office/drawing/2014/main" id="{4AA33C46-CB2B-2B4B-741F-A62FF67BDD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805" y="6148571"/>
            <a:ext cx="2453853" cy="548688"/>
          </a:xfrm>
          <a:prstGeom prst="rect">
            <a:avLst/>
          </a:prstGeom>
        </p:spPr>
      </p:pic>
      <p:sp>
        <p:nvSpPr>
          <p:cNvPr id="6" name="TextBox 5">
            <a:extLst>
              <a:ext uri="{FF2B5EF4-FFF2-40B4-BE49-F238E27FC236}">
                <a16:creationId xmlns:a16="http://schemas.microsoft.com/office/drawing/2014/main" id="{D4708A3E-DEE8-9805-492B-D51AEC7A6769}"/>
              </a:ext>
            </a:extLst>
          </p:cNvPr>
          <p:cNvSpPr txBox="1"/>
          <p:nvPr/>
        </p:nvSpPr>
        <p:spPr>
          <a:xfrm>
            <a:off x="2724728" y="6192082"/>
            <a:ext cx="4192173" cy="461665"/>
          </a:xfrm>
          <a:prstGeom prst="rect">
            <a:avLst/>
          </a:prstGeom>
          <a:noFill/>
        </p:spPr>
        <p:txBody>
          <a:bodyPr wrap="none" rtlCol="0">
            <a:spAutoFit/>
          </a:bodyPr>
          <a:lstStyle/>
          <a:p>
            <a:r>
              <a:rPr lang="en-US" sz="2400" dirty="0"/>
              <a:t>steve@cerwinconsulting.com</a:t>
            </a:r>
          </a:p>
        </p:txBody>
      </p:sp>
    </p:spTree>
    <p:extLst>
      <p:ext uri="{BB962C8B-B14F-4D97-AF65-F5344CB8AC3E}">
        <p14:creationId xmlns:p14="http://schemas.microsoft.com/office/powerpoint/2010/main" val="182924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E6E7A-DCF1-41B0-2662-E4153F092B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01DD2A-4F75-1D5C-1C47-82AC357A86F3}"/>
              </a:ext>
            </a:extLst>
          </p:cNvPr>
          <p:cNvSpPr>
            <a:spLocks noGrp="1" noRot="1" noMove="1" noResize="1" noEditPoints="1" noAdjustHandles="1" noChangeArrowheads="1" noChangeShapeType="1"/>
          </p:cNvSpPr>
          <p:nvPr>
            <p:ph type="title"/>
          </p:nvPr>
        </p:nvSpPr>
        <p:spPr>
          <a:xfrm>
            <a:off x="325366" y="154786"/>
            <a:ext cx="11541267" cy="900292"/>
          </a:xfrm>
        </p:spPr>
        <p:txBody>
          <a:bodyPr>
            <a:noAutofit/>
          </a:bodyPr>
          <a:lstStyle/>
          <a:p>
            <a:r>
              <a:rPr lang="en-US" sz="3200" dirty="0"/>
              <a:t>Time Difference of Arrival (TDOA) Experiment to Deduce Multipath Propagation Modes and Measure Ionospheric Layer Heights</a:t>
            </a:r>
          </a:p>
        </p:txBody>
      </p:sp>
      <p:sp>
        <p:nvSpPr>
          <p:cNvPr id="3" name="Content Placeholder 2">
            <a:extLst>
              <a:ext uri="{FF2B5EF4-FFF2-40B4-BE49-F238E27FC236}">
                <a16:creationId xmlns:a16="http://schemas.microsoft.com/office/drawing/2014/main" id="{8B210FA9-66A3-AC66-09F0-2ECFBF45F5EC}"/>
              </a:ext>
            </a:extLst>
          </p:cNvPr>
          <p:cNvSpPr>
            <a:spLocks noGrp="1"/>
          </p:cNvSpPr>
          <p:nvPr>
            <p:ph idx="1"/>
          </p:nvPr>
        </p:nvSpPr>
        <p:spPr>
          <a:xfrm>
            <a:off x="533467" y="1330154"/>
            <a:ext cx="11125133" cy="5079438"/>
          </a:xfrm>
        </p:spPr>
        <p:txBody>
          <a:bodyPr>
            <a:noAutofit/>
          </a:bodyPr>
          <a:lstStyle/>
          <a:p>
            <a:pPr marL="0" marR="0" algn="just"/>
            <a:r>
              <a:rPr lang="en-US" sz="2000" dirty="0">
                <a:solidFill>
                  <a:srgbClr val="000000"/>
                </a:solidFill>
                <a:effectLst/>
                <a:latin typeface="Calibri" panose="020F0502020204030204" pitchFamily="34" charset="0"/>
                <a:ea typeface="Times New Roman" panose="02020603050405020304" pitchFamily="18" charset="0"/>
              </a:rPr>
              <a:t>This Time Difference of Arrival (TDOA) technique was developed to enable amateur radio operators using ordinary amateur radios to deduce the multipath propagation paths taken between two amateur radio stations and to calculate the F2 layer height between them. </a:t>
            </a:r>
            <a:r>
              <a:rPr lang="en-US" sz="2000" dirty="0">
                <a:solidFill>
                  <a:srgbClr val="000000"/>
                </a:solidFill>
                <a:latin typeface="Calibri" panose="020F0502020204030204" pitchFamily="34" charset="0"/>
                <a:ea typeface="Times New Roman" panose="02020603050405020304" pitchFamily="18" charset="0"/>
              </a:rPr>
              <a:t>Multipath modes</a:t>
            </a:r>
            <a:r>
              <a:rPr lang="en-US" sz="2000" dirty="0">
                <a:solidFill>
                  <a:srgbClr val="000000"/>
                </a:solidFill>
                <a:effectLst/>
                <a:latin typeface="Calibri" panose="020F0502020204030204" pitchFamily="34" charset="0"/>
                <a:ea typeface="Times New Roman" panose="02020603050405020304" pitchFamily="18" charset="0"/>
              </a:rPr>
              <a:t> observed in this study include simultaneous 1-hop and 2-hop modes from the F2 layer, the E layer, and combinational returns involving both layers.</a:t>
            </a:r>
          </a:p>
          <a:p>
            <a:pPr marL="0" marR="0" algn="just"/>
            <a:r>
              <a:rPr lang="en-US" sz="2000" dirty="0">
                <a:solidFill>
                  <a:srgbClr val="000000"/>
                </a:solidFill>
                <a:latin typeface="Calibri" panose="020F0502020204030204" pitchFamily="34" charset="0"/>
                <a:ea typeface="Times New Roman" panose="02020603050405020304" pitchFamily="18" charset="0"/>
              </a:rPr>
              <a:t>A g</a:t>
            </a:r>
            <a:r>
              <a:rPr lang="en-US" sz="2000" dirty="0">
                <a:solidFill>
                  <a:srgbClr val="000000"/>
                </a:solidFill>
                <a:effectLst/>
                <a:latin typeface="Calibri" panose="020F0502020204030204" pitchFamily="34" charset="0"/>
                <a:ea typeface="Times New Roman" panose="02020603050405020304" pitchFamily="18" charset="0"/>
              </a:rPr>
              <a:t>eometric model based on virtual height was used to facilitate mathematical analyses. Successful comparisons between calculated F2 layer height</a:t>
            </a:r>
            <a:r>
              <a:rPr lang="en-US" sz="2000" dirty="0">
                <a:solidFill>
                  <a:srgbClr val="000000"/>
                </a:solidFill>
                <a:latin typeface="Calibri" panose="020F0502020204030204" pitchFamily="34" charset="0"/>
                <a:ea typeface="Times New Roman" panose="02020603050405020304" pitchFamily="18" charset="0"/>
              </a:rPr>
              <a:t>,</a:t>
            </a:r>
            <a:r>
              <a:rPr lang="en-US" sz="2000" dirty="0">
                <a:solidFill>
                  <a:srgbClr val="000000"/>
                </a:solidFill>
                <a:effectLst/>
                <a:latin typeface="Calibri" panose="020F0502020204030204" pitchFamily="34" charset="0"/>
                <a:ea typeface="Times New Roman" panose="02020603050405020304" pitchFamily="18" charset="0"/>
              </a:rPr>
              <a:t> ray tracing simulations, and published hmF2 ionosonde data validated results. </a:t>
            </a:r>
          </a:p>
          <a:p>
            <a:pPr marL="0" marR="0" algn="just"/>
            <a:r>
              <a:rPr lang="en-US" sz="2000" dirty="0">
                <a:solidFill>
                  <a:srgbClr val="000000"/>
                </a:solidFill>
                <a:latin typeface="Calibri" panose="020F0502020204030204" pitchFamily="34" charset="0"/>
                <a:ea typeface="Times New Roman" panose="02020603050405020304" pitchFamily="18" charset="0"/>
              </a:rPr>
              <a:t>In multipath propagation, the</a:t>
            </a:r>
            <a:r>
              <a:rPr lang="en-US" sz="2000" dirty="0">
                <a:solidFill>
                  <a:srgbClr val="000000"/>
                </a:solidFill>
                <a:effectLst/>
                <a:latin typeface="Calibri" panose="020F0502020204030204" pitchFamily="34" charset="0"/>
                <a:ea typeface="Times New Roman" panose="02020603050405020304" pitchFamily="18" charset="0"/>
              </a:rPr>
              <a:t> shorter </a:t>
            </a:r>
            <a:r>
              <a:rPr lang="en-US" sz="2000" dirty="0">
                <a:solidFill>
                  <a:srgbClr val="000000"/>
                </a:solidFill>
                <a:latin typeface="Calibri" panose="020F0502020204030204" pitchFamily="34" charset="0"/>
                <a:ea typeface="Times New Roman" panose="02020603050405020304" pitchFamily="18" charset="0"/>
              </a:rPr>
              <a:t>mode </a:t>
            </a:r>
            <a:r>
              <a:rPr lang="en-US" sz="2000" dirty="0">
                <a:solidFill>
                  <a:srgbClr val="000000"/>
                </a:solidFill>
                <a:effectLst/>
                <a:latin typeface="Calibri" panose="020F0502020204030204" pitchFamily="34" charset="0"/>
                <a:ea typeface="Times New Roman" panose="02020603050405020304" pitchFamily="18" charset="0"/>
              </a:rPr>
              <a:t>arrives first, followed by the longer</a:t>
            </a:r>
            <a:r>
              <a:rPr lang="en-US" sz="2000" dirty="0">
                <a:solidFill>
                  <a:srgbClr val="000000"/>
                </a:solidFill>
                <a:latin typeface="Calibri" panose="020F0502020204030204" pitchFamily="34" charset="0"/>
                <a:ea typeface="Times New Roman" panose="02020603050405020304" pitchFamily="18" charset="0"/>
              </a:rPr>
              <a:t> and they</a:t>
            </a:r>
            <a:r>
              <a:rPr lang="en-US" sz="2000" dirty="0">
                <a:solidFill>
                  <a:srgbClr val="000000"/>
                </a:solidFill>
                <a:effectLst/>
                <a:latin typeface="Calibri" panose="020F0502020204030204" pitchFamily="34" charset="0"/>
                <a:ea typeface="Times New Roman" panose="02020603050405020304" pitchFamily="18" charset="0"/>
              </a:rPr>
              <a:t> sum in the receiver. The TDOA measurement was implemented by transmitting audio signals sensitive to </a:t>
            </a:r>
            <a:r>
              <a:rPr lang="en-US" sz="2000" dirty="0">
                <a:solidFill>
                  <a:srgbClr val="000000"/>
                </a:solidFill>
                <a:latin typeface="Calibri" panose="020F0502020204030204" pitchFamily="34" charset="0"/>
                <a:ea typeface="Times New Roman" panose="02020603050405020304" pitchFamily="18" charset="0"/>
              </a:rPr>
              <a:t>a </a:t>
            </a:r>
            <a:r>
              <a:rPr lang="en-US" sz="2000" dirty="0">
                <a:solidFill>
                  <a:srgbClr val="000000"/>
                </a:solidFill>
                <a:effectLst/>
                <a:latin typeface="Calibri" panose="020F0502020204030204" pitchFamily="34" charset="0"/>
                <a:ea typeface="Times New Roman" panose="02020603050405020304" pitchFamily="18" charset="0"/>
              </a:rPr>
              <a:t>time delay when summed.</a:t>
            </a:r>
          </a:p>
          <a:p>
            <a:pPr marL="0" algn="just"/>
            <a:r>
              <a:rPr lang="en-US" sz="2000" dirty="0">
                <a:solidFill>
                  <a:srgbClr val="000000"/>
                </a:solidFill>
                <a:latin typeface="Calibri" panose="020F0502020204030204" pitchFamily="34" charset="0"/>
                <a:ea typeface="Times New Roman" panose="02020603050405020304" pitchFamily="18" charset="0"/>
              </a:rPr>
              <a:t>Evaluated a</a:t>
            </a:r>
            <a:r>
              <a:rPr lang="en-US" sz="2000" dirty="0">
                <a:solidFill>
                  <a:srgbClr val="000000"/>
                </a:solidFill>
                <a:effectLst/>
                <a:latin typeface="Calibri" panose="020F0502020204030204" pitchFamily="34" charset="0"/>
                <a:ea typeface="Times New Roman" panose="02020603050405020304" pitchFamily="18" charset="0"/>
              </a:rPr>
              <a:t>udio waveforms included 1-cycle audio bursts, linear audio chirps, and pseudorandom noise (PN) bursts. Bandwidth of all waveforms was constrained by normal audio communication channels (200-2900 Hz). The chirps performed best and </a:t>
            </a:r>
            <a:r>
              <a:rPr lang="en-US" sz="2000" dirty="0">
                <a:solidFill>
                  <a:srgbClr val="000000"/>
                </a:solidFill>
                <a:latin typeface="Calibri" panose="020F0502020204030204" pitchFamily="34" charset="0"/>
                <a:ea typeface="Times New Roman" panose="02020603050405020304" pitchFamily="18" charset="0"/>
              </a:rPr>
              <a:t>were </a:t>
            </a:r>
            <a:r>
              <a:rPr lang="en-US" sz="2000" dirty="0">
                <a:solidFill>
                  <a:srgbClr val="000000"/>
                </a:solidFill>
                <a:effectLst/>
                <a:latin typeface="Calibri" panose="020F0502020204030204" pitchFamily="34" charset="0"/>
                <a:ea typeface="Times New Roman" panose="02020603050405020304" pitchFamily="18" charset="0"/>
              </a:rPr>
              <a:t>analyzed by both beat note and correlation methods.</a:t>
            </a:r>
          </a:p>
          <a:p>
            <a:pPr marL="0" algn="just"/>
            <a:r>
              <a:rPr lang="en-US" sz="2000" dirty="0">
                <a:solidFill>
                  <a:srgbClr val="000000"/>
                </a:solidFill>
                <a:effectLst/>
                <a:latin typeface="Calibri" panose="020F0502020204030204" pitchFamily="34" charset="0"/>
                <a:ea typeface="Times New Roman" panose="02020603050405020304" pitchFamily="18" charset="0"/>
              </a:rPr>
              <a:t>To implement the measurement, the audio signals were fed to the microphone input and recovered from the speaker output of stock SSB amateur radio equipment using .wav file programs. </a:t>
            </a:r>
          </a:p>
        </p:txBody>
      </p:sp>
    </p:spTree>
    <p:extLst>
      <p:ext uri="{BB962C8B-B14F-4D97-AF65-F5344CB8AC3E}">
        <p14:creationId xmlns:p14="http://schemas.microsoft.com/office/powerpoint/2010/main" val="4230907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A6DB8-572B-4EC9-5E4F-35C0322487A9}"/>
              </a:ext>
            </a:extLst>
          </p:cNvPr>
          <p:cNvSpPr>
            <a:spLocks noGrp="1" noRot="1" noMove="1" noResize="1" noEditPoints="1" noAdjustHandles="1" noChangeArrowheads="1" noChangeShapeType="1"/>
          </p:cNvSpPr>
          <p:nvPr>
            <p:ph type="title"/>
          </p:nvPr>
        </p:nvSpPr>
        <p:spPr>
          <a:xfrm>
            <a:off x="609026" y="0"/>
            <a:ext cx="11246276" cy="1691130"/>
          </a:xfrm>
        </p:spPr>
        <p:txBody>
          <a:bodyPr>
            <a:noAutofit/>
          </a:bodyPr>
          <a:lstStyle/>
          <a:p>
            <a:r>
              <a:rPr lang="en-US" sz="3200" dirty="0"/>
              <a:t>The TDOA Experiment Seeks to Identify Multipath Propagation Modes Between Two HF Radio Stations and Measure F2 Layer Height by Sensing and Analyzing Time Differences of Arrival (TDOA)</a:t>
            </a:r>
          </a:p>
        </p:txBody>
      </p:sp>
      <p:pic>
        <p:nvPicPr>
          <p:cNvPr id="4" name="Picture 3" descr="A diagram of a flight&#10;&#10;Description automatically generated">
            <a:extLst>
              <a:ext uri="{FF2B5EF4-FFF2-40B4-BE49-F238E27FC236}">
                <a16:creationId xmlns:a16="http://schemas.microsoft.com/office/drawing/2014/main" id="{4C28E1DB-CC11-066C-5BEA-99F3F1E49AEE}"/>
              </a:ext>
            </a:extLst>
          </p:cNvPr>
          <p:cNvPicPr>
            <a:picLocks noGrp="1" noRot="1" noChangeAspect="1" noMove="1" noResize="1" noEditPoints="1" noAdjustHandles="1" noChangeArrowheads="1" noChangeShapeType="1" noCrop="1"/>
          </p:cNvPicPr>
          <p:nvPr/>
        </p:nvPicPr>
        <p:blipFill>
          <a:blip r:embed="rId3"/>
          <a:stretch>
            <a:fillRect/>
          </a:stretch>
        </p:blipFill>
        <p:spPr>
          <a:xfrm>
            <a:off x="1204632" y="1690688"/>
            <a:ext cx="9240332" cy="4899585"/>
          </a:xfrm>
          <a:prstGeom prst="rect">
            <a:avLst/>
          </a:prstGeom>
        </p:spPr>
      </p:pic>
      <p:sp>
        <p:nvSpPr>
          <p:cNvPr id="3" name="TextBox 2">
            <a:extLst>
              <a:ext uri="{FF2B5EF4-FFF2-40B4-BE49-F238E27FC236}">
                <a16:creationId xmlns:a16="http://schemas.microsoft.com/office/drawing/2014/main" id="{9C51F97B-1A6C-0415-7163-370282549EEA}"/>
              </a:ext>
            </a:extLst>
          </p:cNvPr>
          <p:cNvSpPr txBox="1">
            <a:spLocks noGrp="1" noRot="1" noMove="1" noResize="1" noEditPoints="1" noAdjustHandles="1" noChangeArrowheads="1" noChangeShapeType="1"/>
          </p:cNvSpPr>
          <p:nvPr/>
        </p:nvSpPr>
        <p:spPr>
          <a:xfrm>
            <a:off x="148855" y="3137932"/>
            <a:ext cx="3379536" cy="1200329"/>
          </a:xfrm>
          <a:prstGeom prst="rect">
            <a:avLst/>
          </a:prstGeom>
          <a:noFill/>
        </p:spPr>
        <p:txBody>
          <a:bodyPr wrap="square" rtlCol="0">
            <a:spAutoFit/>
          </a:bodyPr>
          <a:lstStyle/>
          <a:p>
            <a:r>
              <a:rPr lang="en-US" dirty="0"/>
              <a:t>A virtual height model is used to relate layer height and Time of Flight (TOF) for a given ground distance. </a:t>
            </a:r>
          </a:p>
        </p:txBody>
      </p:sp>
      <p:sp>
        <p:nvSpPr>
          <p:cNvPr id="5" name="TextBox 4">
            <a:extLst>
              <a:ext uri="{FF2B5EF4-FFF2-40B4-BE49-F238E27FC236}">
                <a16:creationId xmlns:a16="http://schemas.microsoft.com/office/drawing/2014/main" id="{39576049-B29A-164E-7679-D49548596D16}"/>
              </a:ext>
            </a:extLst>
          </p:cNvPr>
          <p:cNvSpPr txBox="1">
            <a:spLocks noGrp="1" noRot="1" noMove="1" noResize="1" noEditPoints="1" noAdjustHandles="1" noChangeArrowheads="1" noChangeShapeType="1"/>
          </p:cNvSpPr>
          <p:nvPr/>
        </p:nvSpPr>
        <p:spPr>
          <a:xfrm>
            <a:off x="9558670" y="3184100"/>
            <a:ext cx="1942071" cy="1754326"/>
          </a:xfrm>
          <a:prstGeom prst="rect">
            <a:avLst/>
          </a:prstGeom>
          <a:noFill/>
        </p:spPr>
        <p:txBody>
          <a:bodyPr wrap="square" rtlCol="0">
            <a:spAutoFit/>
          </a:bodyPr>
          <a:lstStyle/>
          <a:p>
            <a:r>
              <a:rPr lang="en-US" dirty="0"/>
              <a:t>The virtual height model simplifies TOF and TDOA calculations for various multipath modes. </a:t>
            </a:r>
          </a:p>
        </p:txBody>
      </p:sp>
      <p:sp>
        <p:nvSpPr>
          <p:cNvPr id="6" name="TextBox 5">
            <a:extLst>
              <a:ext uri="{FF2B5EF4-FFF2-40B4-BE49-F238E27FC236}">
                <a16:creationId xmlns:a16="http://schemas.microsoft.com/office/drawing/2014/main" id="{20571FF1-6F90-D1B7-4098-DE2BD7799878}"/>
              </a:ext>
            </a:extLst>
          </p:cNvPr>
          <p:cNvSpPr txBox="1"/>
          <p:nvPr/>
        </p:nvSpPr>
        <p:spPr>
          <a:xfrm>
            <a:off x="3396120" y="1506022"/>
            <a:ext cx="4857355" cy="369332"/>
          </a:xfrm>
          <a:prstGeom prst="rect">
            <a:avLst/>
          </a:prstGeom>
          <a:noFill/>
        </p:spPr>
        <p:txBody>
          <a:bodyPr wrap="none" rtlCol="0">
            <a:spAutoFit/>
          </a:bodyPr>
          <a:lstStyle/>
          <a:p>
            <a:r>
              <a:rPr lang="en-US" dirty="0"/>
              <a:t>Example of ionospheric propagation via refraction</a:t>
            </a:r>
          </a:p>
        </p:txBody>
      </p:sp>
      <p:sp>
        <p:nvSpPr>
          <p:cNvPr id="7" name="Rectangle 6">
            <a:extLst>
              <a:ext uri="{FF2B5EF4-FFF2-40B4-BE49-F238E27FC236}">
                <a16:creationId xmlns:a16="http://schemas.microsoft.com/office/drawing/2014/main" id="{BB6DD33A-802E-67E0-E974-C0005DAFF279}"/>
              </a:ext>
            </a:extLst>
          </p:cNvPr>
          <p:cNvSpPr/>
          <p:nvPr/>
        </p:nvSpPr>
        <p:spPr>
          <a:xfrm>
            <a:off x="1060687" y="5923722"/>
            <a:ext cx="9469018" cy="7385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0083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CD390-8359-22F5-B4E1-11CEFA85791C}"/>
            </a:ext>
          </a:extLst>
        </p:cNvPr>
        <p:cNvGrpSpPr/>
        <p:nvPr/>
      </p:nvGrpSpPr>
      <p:grpSpPr>
        <a:xfrm>
          <a:off x="0" y="0"/>
          <a:ext cx="0" cy="0"/>
          <a:chOff x="0" y="0"/>
          <a:chExt cx="0" cy="0"/>
        </a:xfrm>
      </p:grpSpPr>
      <p:pic>
        <p:nvPicPr>
          <p:cNvPr id="6" name="Picture 5" descr="A screenshot of a computer screen&#10;&#10;Description automatically generated">
            <a:extLst>
              <a:ext uri="{FF2B5EF4-FFF2-40B4-BE49-F238E27FC236}">
                <a16:creationId xmlns:a16="http://schemas.microsoft.com/office/drawing/2014/main" id="{6B81D39D-72CA-EDA3-F845-91C6EA57C038}"/>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3863697" y="2276970"/>
            <a:ext cx="4911713" cy="3976148"/>
          </a:xfrm>
          <a:prstGeom prst="rect">
            <a:avLst/>
          </a:prstGeom>
        </p:spPr>
      </p:pic>
      <p:sp>
        <p:nvSpPr>
          <p:cNvPr id="7" name="TextBox 6">
            <a:extLst>
              <a:ext uri="{FF2B5EF4-FFF2-40B4-BE49-F238E27FC236}">
                <a16:creationId xmlns:a16="http://schemas.microsoft.com/office/drawing/2014/main" id="{95DDF194-E59A-8BBE-79A5-A4C6BDB78845}"/>
              </a:ext>
            </a:extLst>
          </p:cNvPr>
          <p:cNvSpPr txBox="1"/>
          <p:nvPr/>
        </p:nvSpPr>
        <p:spPr>
          <a:xfrm>
            <a:off x="282272" y="2804203"/>
            <a:ext cx="3176382" cy="369332"/>
          </a:xfrm>
          <a:prstGeom prst="rect">
            <a:avLst/>
          </a:prstGeom>
          <a:noFill/>
        </p:spPr>
        <p:txBody>
          <a:bodyPr wrap="none" rtlCol="0">
            <a:spAutoFit/>
          </a:bodyPr>
          <a:lstStyle/>
          <a:p>
            <a:pPr marL="342900" indent="-342900">
              <a:buAutoNum type="alphaUcPeriod"/>
            </a:pPr>
            <a:r>
              <a:rPr lang="en-US" dirty="0"/>
              <a:t>10 Hz/ms Chirp  @ 0 delay </a:t>
            </a:r>
          </a:p>
        </p:txBody>
      </p:sp>
      <p:sp>
        <p:nvSpPr>
          <p:cNvPr id="10" name="TextBox 9">
            <a:extLst>
              <a:ext uri="{FF2B5EF4-FFF2-40B4-BE49-F238E27FC236}">
                <a16:creationId xmlns:a16="http://schemas.microsoft.com/office/drawing/2014/main" id="{46721ED1-803F-930F-E6E8-09CD88FF6195}"/>
              </a:ext>
            </a:extLst>
          </p:cNvPr>
          <p:cNvSpPr txBox="1"/>
          <p:nvPr/>
        </p:nvSpPr>
        <p:spPr>
          <a:xfrm>
            <a:off x="282271" y="5714742"/>
            <a:ext cx="3153427" cy="369332"/>
          </a:xfrm>
          <a:prstGeom prst="rect">
            <a:avLst/>
          </a:prstGeom>
          <a:noFill/>
        </p:spPr>
        <p:txBody>
          <a:bodyPr wrap="none" rtlCol="0">
            <a:spAutoFit/>
          </a:bodyPr>
          <a:lstStyle/>
          <a:p>
            <a:r>
              <a:rPr lang="en-US" dirty="0"/>
              <a:t>For 1 ms Time Delay f</a:t>
            </a:r>
            <a:r>
              <a:rPr lang="en-US" baseline="-25000" dirty="0"/>
              <a:t>b</a:t>
            </a:r>
            <a:r>
              <a:rPr lang="en-US" dirty="0"/>
              <a:t> = 10 Hz</a:t>
            </a:r>
          </a:p>
        </p:txBody>
      </p:sp>
      <p:sp>
        <p:nvSpPr>
          <p:cNvPr id="11" name="Title 10">
            <a:extLst>
              <a:ext uri="{FF2B5EF4-FFF2-40B4-BE49-F238E27FC236}">
                <a16:creationId xmlns:a16="http://schemas.microsoft.com/office/drawing/2014/main" id="{1FD97E11-870C-9DFE-9638-F9BBBBC867A8}"/>
              </a:ext>
            </a:extLst>
          </p:cNvPr>
          <p:cNvSpPr txBox="1">
            <a:spLocks noGrp="1" noRot="1" noMove="1" noResize="1" noEditPoints="1" noAdjustHandles="1" noChangeArrowheads="1" noChangeShapeType="1"/>
          </p:cNvSpPr>
          <p:nvPr>
            <p:ph type="title"/>
          </p:nvPr>
        </p:nvSpPr>
        <p:spPr>
          <a:xfrm>
            <a:off x="294969" y="205909"/>
            <a:ext cx="11372423" cy="870431"/>
          </a:xfrm>
          <a:prstGeom prst="rect">
            <a:avLst/>
          </a:prstGeom>
          <a:noFill/>
        </p:spPr>
        <p:txBody>
          <a:bodyPr wrap="square" rtlCol="0">
            <a:spAutoFit/>
          </a:bodyPr>
          <a:lstStyle/>
          <a:p>
            <a:pPr algn="ctr"/>
            <a:r>
              <a:rPr lang="en-US" sz="2800" dirty="0"/>
              <a:t>An Audio Frequency Chirp Transmitted By Stock SSB or AM Amateur Radios Can be Used to Measure Time Difference of Arrival (TDOA) </a:t>
            </a:r>
          </a:p>
        </p:txBody>
      </p:sp>
      <p:sp>
        <p:nvSpPr>
          <p:cNvPr id="14" name="TextBox 13">
            <a:extLst>
              <a:ext uri="{FF2B5EF4-FFF2-40B4-BE49-F238E27FC236}">
                <a16:creationId xmlns:a16="http://schemas.microsoft.com/office/drawing/2014/main" id="{8DE829B4-A1B7-415A-240E-C9BBC8A69428}"/>
              </a:ext>
            </a:extLst>
          </p:cNvPr>
          <p:cNvSpPr txBox="1"/>
          <p:nvPr/>
        </p:nvSpPr>
        <p:spPr>
          <a:xfrm>
            <a:off x="282272" y="3687759"/>
            <a:ext cx="3261727" cy="369332"/>
          </a:xfrm>
          <a:prstGeom prst="rect">
            <a:avLst/>
          </a:prstGeom>
          <a:noFill/>
        </p:spPr>
        <p:txBody>
          <a:bodyPr wrap="none" rtlCol="0">
            <a:spAutoFit/>
          </a:bodyPr>
          <a:lstStyle/>
          <a:p>
            <a:r>
              <a:rPr lang="en-US" dirty="0"/>
              <a:t>B. 10 Hz/ms Chirp delayed 1 ms</a:t>
            </a:r>
          </a:p>
        </p:txBody>
      </p:sp>
      <p:sp>
        <p:nvSpPr>
          <p:cNvPr id="15" name="TextBox 14">
            <a:extLst>
              <a:ext uri="{FF2B5EF4-FFF2-40B4-BE49-F238E27FC236}">
                <a16:creationId xmlns:a16="http://schemas.microsoft.com/office/drawing/2014/main" id="{CE2A1E34-C405-4E9C-3340-11FE1E8D80A3}"/>
              </a:ext>
            </a:extLst>
          </p:cNvPr>
          <p:cNvSpPr txBox="1">
            <a:spLocks noGrp="1" noRot="1" noMove="1" noResize="1" noEditPoints="1" noAdjustHandles="1" noChangeArrowheads="1" noChangeShapeType="1"/>
          </p:cNvSpPr>
          <p:nvPr/>
        </p:nvSpPr>
        <p:spPr>
          <a:xfrm>
            <a:off x="282271" y="4622028"/>
            <a:ext cx="3503187" cy="1200329"/>
          </a:xfrm>
          <a:prstGeom prst="rect">
            <a:avLst/>
          </a:prstGeom>
          <a:noFill/>
        </p:spPr>
        <p:txBody>
          <a:bodyPr wrap="square" rtlCol="0">
            <a:spAutoFit/>
          </a:bodyPr>
          <a:lstStyle/>
          <a:p>
            <a:r>
              <a:rPr lang="en-US" dirty="0"/>
              <a:t>C. SUM (A+B). Beats occur at period 1/ f</a:t>
            </a:r>
            <a:r>
              <a:rPr lang="en-US" baseline="-25000" dirty="0"/>
              <a:t>b</a:t>
            </a:r>
            <a:r>
              <a:rPr lang="en-US" dirty="0"/>
              <a:t>. Summation occurs naturally in receiver</a:t>
            </a:r>
          </a:p>
          <a:p>
            <a:r>
              <a:rPr lang="en-US" dirty="0"/>
              <a:t>during multipath reception.</a:t>
            </a:r>
          </a:p>
        </p:txBody>
      </p:sp>
      <p:cxnSp>
        <p:nvCxnSpPr>
          <p:cNvPr id="21" name="Straight Arrow Connector 20">
            <a:extLst>
              <a:ext uri="{FF2B5EF4-FFF2-40B4-BE49-F238E27FC236}">
                <a16:creationId xmlns:a16="http://schemas.microsoft.com/office/drawing/2014/main" id="{EF45A1F7-1E43-188C-A58C-9FC8EFE27697}"/>
              </a:ext>
            </a:extLst>
          </p:cNvPr>
          <p:cNvCxnSpPr>
            <a:cxnSpLocks/>
          </p:cNvCxnSpPr>
          <p:nvPr/>
        </p:nvCxnSpPr>
        <p:spPr>
          <a:xfrm>
            <a:off x="3499005" y="3000856"/>
            <a:ext cx="304383" cy="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3FBAACF-1615-C789-9DD2-088AAEF9045B}"/>
              </a:ext>
            </a:extLst>
          </p:cNvPr>
          <p:cNvCxnSpPr>
            <a:cxnSpLocks/>
          </p:cNvCxnSpPr>
          <p:nvPr/>
        </p:nvCxnSpPr>
        <p:spPr>
          <a:xfrm>
            <a:off x="3523130" y="3901007"/>
            <a:ext cx="285558" cy="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298ACE0-23E8-89CF-99E7-C6452D9CA953}"/>
              </a:ext>
            </a:extLst>
          </p:cNvPr>
          <p:cNvCxnSpPr/>
          <p:nvPr/>
        </p:nvCxnSpPr>
        <p:spPr>
          <a:xfrm>
            <a:off x="7324858" y="5540399"/>
            <a:ext cx="0" cy="870776"/>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2FD8759-4BB8-1C72-7A48-282B6E4AF25A}"/>
              </a:ext>
            </a:extLst>
          </p:cNvPr>
          <p:cNvCxnSpPr/>
          <p:nvPr/>
        </p:nvCxnSpPr>
        <p:spPr>
          <a:xfrm>
            <a:off x="6381643" y="5540399"/>
            <a:ext cx="0" cy="870776"/>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636FAE4-345F-C7EA-A872-370ADAD92B81}"/>
              </a:ext>
            </a:extLst>
          </p:cNvPr>
          <p:cNvSpPr txBox="1"/>
          <p:nvPr/>
        </p:nvSpPr>
        <p:spPr>
          <a:xfrm>
            <a:off x="6052389" y="6384433"/>
            <a:ext cx="1654620" cy="369332"/>
          </a:xfrm>
          <a:prstGeom prst="rect">
            <a:avLst/>
          </a:prstGeom>
          <a:noFill/>
        </p:spPr>
        <p:txBody>
          <a:bodyPr wrap="none" rtlCol="0">
            <a:spAutoFit/>
          </a:bodyPr>
          <a:lstStyle/>
          <a:p>
            <a:r>
              <a:rPr lang="en-US" dirty="0"/>
              <a:t>100 ms=1/10Hz</a:t>
            </a:r>
          </a:p>
        </p:txBody>
      </p:sp>
      <p:sp>
        <p:nvSpPr>
          <p:cNvPr id="30" name="TextBox 29">
            <a:extLst>
              <a:ext uri="{FF2B5EF4-FFF2-40B4-BE49-F238E27FC236}">
                <a16:creationId xmlns:a16="http://schemas.microsoft.com/office/drawing/2014/main" id="{2A27A4BD-703C-81BA-73D1-5B1974372B69}"/>
              </a:ext>
            </a:extLst>
          </p:cNvPr>
          <p:cNvSpPr txBox="1">
            <a:spLocks noGrp="1" noRot="1" noMove="1" noResize="1" noEditPoints="1" noAdjustHandles="1" noChangeArrowheads="1" noChangeShapeType="1"/>
          </p:cNvSpPr>
          <p:nvPr/>
        </p:nvSpPr>
        <p:spPr>
          <a:xfrm>
            <a:off x="363180" y="1044673"/>
            <a:ext cx="11727207" cy="923330"/>
          </a:xfrm>
          <a:prstGeom prst="rect">
            <a:avLst/>
          </a:prstGeom>
          <a:noFill/>
        </p:spPr>
        <p:txBody>
          <a:bodyPr wrap="square" rtlCol="0">
            <a:spAutoFit/>
          </a:bodyPr>
          <a:lstStyle/>
          <a:p>
            <a:r>
              <a:rPr lang="en-US" dirty="0"/>
              <a:t>The summation of a linear chirp with a delayed copy of itself produces a beat note frequency at  f</a:t>
            </a:r>
            <a:r>
              <a:rPr lang="en-US" baseline="-25000" dirty="0"/>
              <a:t>b</a:t>
            </a:r>
            <a:r>
              <a:rPr lang="en-US" dirty="0"/>
              <a:t> = Sweep Rate * </a:t>
            </a:r>
            <a:r>
              <a:rPr lang="en-US" dirty="0">
                <a:latin typeface="Symbol" pitchFamily="2" charset="2"/>
              </a:rPr>
              <a:t>D</a:t>
            </a:r>
            <a:r>
              <a:rPr lang="en-US" dirty="0"/>
              <a:t>t.</a:t>
            </a:r>
          </a:p>
          <a:p>
            <a:r>
              <a:rPr lang="en-US" dirty="0"/>
              <a:t>Beat pattern has a period p = 1/ f</a:t>
            </a:r>
            <a:r>
              <a:rPr lang="en-US" baseline="-25000" dirty="0"/>
              <a:t>b</a:t>
            </a:r>
            <a:r>
              <a:rPr lang="en-US" dirty="0"/>
              <a:t>. The Time Difference of Arrival (TDOA=</a:t>
            </a:r>
            <a:r>
              <a:rPr lang="en-US" dirty="0">
                <a:latin typeface="Symbol" pitchFamily="2" charset="2"/>
              </a:rPr>
              <a:t> D</a:t>
            </a:r>
            <a:r>
              <a:rPr lang="en-US" dirty="0"/>
              <a:t>t) can be calculated by:</a:t>
            </a:r>
          </a:p>
          <a:p>
            <a:pPr algn="ctr"/>
            <a:r>
              <a:rPr lang="en-US" dirty="0"/>
              <a:t>TDOA = f</a:t>
            </a:r>
            <a:r>
              <a:rPr lang="en-US" baseline="-25000" dirty="0"/>
              <a:t>b</a:t>
            </a:r>
            <a:r>
              <a:rPr lang="en-US" dirty="0"/>
              <a:t> / Sweep Rate  -or-  TDOA = 1/ p*Sweep Rate  </a:t>
            </a:r>
          </a:p>
        </p:txBody>
      </p:sp>
      <p:cxnSp>
        <p:nvCxnSpPr>
          <p:cNvPr id="20" name="Straight Arrow Connector 19">
            <a:extLst>
              <a:ext uri="{FF2B5EF4-FFF2-40B4-BE49-F238E27FC236}">
                <a16:creationId xmlns:a16="http://schemas.microsoft.com/office/drawing/2014/main" id="{1255BFA1-9E08-622A-4198-C3697A63B543}"/>
              </a:ext>
            </a:extLst>
          </p:cNvPr>
          <p:cNvCxnSpPr>
            <a:cxnSpLocks/>
          </p:cNvCxnSpPr>
          <p:nvPr/>
        </p:nvCxnSpPr>
        <p:spPr>
          <a:xfrm flipV="1">
            <a:off x="3476584" y="5222193"/>
            <a:ext cx="326804" cy="1913"/>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5A32D09F-2B3E-53F4-2386-F4D493F68E7E}"/>
              </a:ext>
            </a:extLst>
          </p:cNvPr>
          <p:cNvCxnSpPr>
            <a:cxnSpLocks/>
          </p:cNvCxnSpPr>
          <p:nvPr/>
        </p:nvCxnSpPr>
        <p:spPr>
          <a:xfrm>
            <a:off x="6381643" y="6343409"/>
            <a:ext cx="943215"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8A3E715C-C292-16B8-4804-150BED509EAB}"/>
              </a:ext>
            </a:extLst>
          </p:cNvPr>
          <p:cNvSpPr>
            <a:spLocks noGrp="1"/>
          </p:cNvSpPr>
          <p:nvPr>
            <p:ph type="sldNum" sz="quarter" idx="12"/>
          </p:nvPr>
        </p:nvSpPr>
        <p:spPr>
          <a:xfrm>
            <a:off x="9277303" y="6398484"/>
            <a:ext cx="2743200" cy="365125"/>
          </a:xfrm>
        </p:spPr>
        <p:txBody>
          <a:bodyPr/>
          <a:lstStyle/>
          <a:p>
            <a:fld id="{76C9C0C8-E061-DB49-8289-DC94B78A7C77}" type="slidenum">
              <a:rPr lang="en-US" smtClean="0"/>
              <a:t>4</a:t>
            </a:fld>
            <a:endParaRPr lang="en-US" dirty="0"/>
          </a:p>
        </p:txBody>
      </p:sp>
      <p:pic>
        <p:nvPicPr>
          <p:cNvPr id="16" name="10Hz_per_ms">
            <a:hlinkClick r:id="" action="ppaction://media"/>
            <a:extLst>
              <a:ext uri="{FF2B5EF4-FFF2-40B4-BE49-F238E27FC236}">
                <a16:creationId xmlns:a16="http://schemas.microsoft.com/office/drawing/2014/main" id="{56DF4ABA-2CC0-CB08-E250-6A62F4153F2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952462" y="1951107"/>
            <a:ext cx="640993" cy="640993"/>
          </a:xfrm>
          <a:prstGeom prst="rect">
            <a:avLst/>
          </a:prstGeom>
        </p:spPr>
      </p:pic>
      <p:sp>
        <p:nvSpPr>
          <p:cNvPr id="17" name="TextBox 16">
            <a:extLst>
              <a:ext uri="{FF2B5EF4-FFF2-40B4-BE49-F238E27FC236}">
                <a16:creationId xmlns:a16="http://schemas.microsoft.com/office/drawing/2014/main" id="{2915D082-5539-B70B-DA97-7FC54E1EBA83}"/>
              </a:ext>
            </a:extLst>
          </p:cNvPr>
          <p:cNvSpPr txBox="1"/>
          <p:nvPr/>
        </p:nvSpPr>
        <p:spPr>
          <a:xfrm>
            <a:off x="9058112" y="1935142"/>
            <a:ext cx="1712777" cy="646331"/>
          </a:xfrm>
          <a:prstGeom prst="rect">
            <a:avLst/>
          </a:prstGeom>
          <a:noFill/>
        </p:spPr>
        <p:txBody>
          <a:bodyPr wrap="none" rtlCol="0">
            <a:spAutoFit/>
          </a:bodyPr>
          <a:lstStyle/>
          <a:p>
            <a:r>
              <a:rPr lang="en-US" dirty="0"/>
              <a:t>10 Hz/ms Chirps</a:t>
            </a:r>
          </a:p>
          <a:p>
            <a:r>
              <a:rPr lang="en-US" dirty="0"/>
              <a:t>10 Repetitions</a:t>
            </a:r>
          </a:p>
        </p:txBody>
      </p:sp>
      <p:pic>
        <p:nvPicPr>
          <p:cNvPr id="5" name="Picture 4" descr="A blue sound wave&#10;&#10;Description automatically generated">
            <a:extLst>
              <a:ext uri="{FF2B5EF4-FFF2-40B4-BE49-F238E27FC236}">
                <a16:creationId xmlns:a16="http://schemas.microsoft.com/office/drawing/2014/main" id="{DAD608E6-3082-1439-3ECA-859D9E00C4B2}"/>
              </a:ext>
            </a:extLst>
          </p:cNvPr>
          <p:cNvPicPr>
            <a:picLocks noGrp="1" noRot="1" noMove="1" noResize="1" noEditPoints="1" noAdjustHandles="1" noChangeArrowheads="1" noChangeShapeType="1" noCrop="1"/>
          </p:cNvPicPr>
          <p:nvPr/>
        </p:nvPicPr>
        <p:blipFill>
          <a:blip r:embed="rId7">
            <a:extLst>
              <a:ext uri="{28A0092B-C50C-407E-A947-70E740481C1C}">
                <a14:useLocalDpi xmlns:a14="http://schemas.microsoft.com/office/drawing/2010/main" val="0"/>
              </a:ext>
            </a:extLst>
          </a:blip>
          <a:stretch>
            <a:fillRect/>
          </a:stretch>
        </p:blipFill>
        <p:spPr>
          <a:xfrm>
            <a:off x="9082692" y="5257524"/>
            <a:ext cx="2874338" cy="726790"/>
          </a:xfrm>
          <a:prstGeom prst="rect">
            <a:avLst/>
          </a:prstGeom>
        </p:spPr>
      </p:pic>
      <p:pic>
        <p:nvPicPr>
          <p:cNvPr id="9" name="Picture 8" descr="A blue triangle shaped object&#10;&#10;Description automatically generated">
            <a:extLst>
              <a:ext uri="{FF2B5EF4-FFF2-40B4-BE49-F238E27FC236}">
                <a16:creationId xmlns:a16="http://schemas.microsoft.com/office/drawing/2014/main" id="{253F5C26-29B4-BC18-A524-3CB2722813B8}"/>
              </a:ext>
            </a:extLst>
          </p:cNvPr>
          <p:cNvPicPr>
            <a:picLocks noGrp="1" noRot="1" noChangeAspect="1" noMove="1" noResize="1" noEditPoints="1" noAdjustHandles="1" noChangeArrowheads="1" noChangeShapeType="1" noCrop="1"/>
          </p:cNvPicPr>
          <p:nvPr/>
        </p:nvPicPr>
        <p:blipFill>
          <a:blip r:embed="rId8">
            <a:extLst>
              <a:ext uri="{28A0092B-C50C-407E-A947-70E740481C1C}">
                <a14:useLocalDpi xmlns:a14="http://schemas.microsoft.com/office/drawing/2010/main" val="0"/>
              </a:ext>
            </a:extLst>
          </a:blip>
          <a:stretch>
            <a:fillRect/>
          </a:stretch>
        </p:blipFill>
        <p:spPr>
          <a:xfrm>
            <a:off x="9046480" y="3034579"/>
            <a:ext cx="2874339" cy="726790"/>
          </a:xfrm>
          <a:prstGeom prst="rect">
            <a:avLst/>
          </a:prstGeom>
        </p:spPr>
      </p:pic>
      <p:pic>
        <p:nvPicPr>
          <p:cNvPr id="13" name="Picture 12" descr="A blue and purple shapes&#10;&#10;Description automatically generated with medium confidence">
            <a:extLst>
              <a:ext uri="{FF2B5EF4-FFF2-40B4-BE49-F238E27FC236}">
                <a16:creationId xmlns:a16="http://schemas.microsoft.com/office/drawing/2014/main" id="{1E1B4C7B-8EB5-8F0E-A49D-EB772587E14D}"/>
              </a:ext>
            </a:extLst>
          </p:cNvPr>
          <p:cNvPicPr>
            <a:picLocks noGrp="1" noRot="1" noChangeAspect="1" noMove="1" noResize="1" noEditPoints="1" noAdjustHandles="1" noChangeArrowheads="1" noChangeShapeType="1" noCrop="1"/>
          </p:cNvPicPr>
          <p:nvPr/>
        </p:nvPicPr>
        <p:blipFill>
          <a:blip r:embed="rId9">
            <a:extLst>
              <a:ext uri="{28A0092B-C50C-407E-A947-70E740481C1C}">
                <a14:useLocalDpi xmlns:a14="http://schemas.microsoft.com/office/drawing/2010/main" val="0"/>
              </a:ext>
            </a:extLst>
          </a:blip>
          <a:stretch>
            <a:fillRect/>
          </a:stretch>
        </p:blipFill>
        <p:spPr>
          <a:xfrm>
            <a:off x="9046480" y="4158698"/>
            <a:ext cx="2879384" cy="726790"/>
          </a:xfrm>
          <a:prstGeom prst="rect">
            <a:avLst/>
          </a:prstGeom>
        </p:spPr>
      </p:pic>
      <p:sp>
        <p:nvSpPr>
          <p:cNvPr id="18" name="TextBox 17">
            <a:extLst>
              <a:ext uri="{FF2B5EF4-FFF2-40B4-BE49-F238E27FC236}">
                <a16:creationId xmlns:a16="http://schemas.microsoft.com/office/drawing/2014/main" id="{99B5004F-1CD6-3C77-B884-C8B37EDE2048}"/>
              </a:ext>
            </a:extLst>
          </p:cNvPr>
          <p:cNvSpPr txBox="1"/>
          <p:nvPr/>
        </p:nvSpPr>
        <p:spPr>
          <a:xfrm>
            <a:off x="3803388" y="4244068"/>
            <a:ext cx="619080" cy="369332"/>
          </a:xfrm>
          <a:prstGeom prst="rect">
            <a:avLst/>
          </a:prstGeom>
          <a:noFill/>
        </p:spPr>
        <p:txBody>
          <a:bodyPr wrap="none" rtlCol="0">
            <a:spAutoFit/>
          </a:bodyPr>
          <a:lstStyle/>
          <a:p>
            <a:r>
              <a:rPr lang="en-US" dirty="0">
                <a:solidFill>
                  <a:schemeClr val="bg1"/>
                </a:solidFill>
              </a:rPr>
              <a:t>0 Hz</a:t>
            </a:r>
          </a:p>
        </p:txBody>
      </p:sp>
      <p:sp>
        <p:nvSpPr>
          <p:cNvPr id="19" name="TextBox 18">
            <a:extLst>
              <a:ext uri="{FF2B5EF4-FFF2-40B4-BE49-F238E27FC236}">
                <a16:creationId xmlns:a16="http://schemas.microsoft.com/office/drawing/2014/main" id="{02DCA09C-E681-3F4F-6BB5-135EBE8C0C64}"/>
              </a:ext>
            </a:extLst>
          </p:cNvPr>
          <p:cNvSpPr txBox="1"/>
          <p:nvPr/>
        </p:nvSpPr>
        <p:spPr>
          <a:xfrm>
            <a:off x="8158815" y="4252696"/>
            <a:ext cx="731290" cy="369332"/>
          </a:xfrm>
          <a:prstGeom prst="rect">
            <a:avLst/>
          </a:prstGeom>
          <a:noFill/>
        </p:spPr>
        <p:txBody>
          <a:bodyPr wrap="none" rtlCol="0">
            <a:spAutoFit/>
          </a:bodyPr>
          <a:lstStyle/>
          <a:p>
            <a:r>
              <a:rPr lang="en-US" dirty="0">
                <a:solidFill>
                  <a:schemeClr val="bg1"/>
                </a:solidFill>
              </a:rPr>
              <a:t>5 kHz</a:t>
            </a:r>
          </a:p>
        </p:txBody>
      </p:sp>
      <p:sp>
        <p:nvSpPr>
          <p:cNvPr id="26" name="TextBox 25">
            <a:extLst>
              <a:ext uri="{FF2B5EF4-FFF2-40B4-BE49-F238E27FC236}">
                <a16:creationId xmlns:a16="http://schemas.microsoft.com/office/drawing/2014/main" id="{5808DEBC-B18D-D77F-B555-740B01EFA3C7}"/>
              </a:ext>
            </a:extLst>
          </p:cNvPr>
          <p:cNvSpPr txBox="1"/>
          <p:nvPr/>
        </p:nvSpPr>
        <p:spPr>
          <a:xfrm>
            <a:off x="8986108" y="3544535"/>
            <a:ext cx="474810" cy="276999"/>
          </a:xfrm>
          <a:prstGeom prst="rect">
            <a:avLst/>
          </a:prstGeom>
          <a:noFill/>
        </p:spPr>
        <p:txBody>
          <a:bodyPr wrap="none" rtlCol="0">
            <a:spAutoFit/>
          </a:bodyPr>
          <a:lstStyle/>
          <a:p>
            <a:r>
              <a:rPr lang="en-US" sz="1200" dirty="0"/>
              <a:t>0 Hz</a:t>
            </a:r>
          </a:p>
        </p:txBody>
      </p:sp>
      <p:sp>
        <p:nvSpPr>
          <p:cNvPr id="31" name="TextBox 30">
            <a:extLst>
              <a:ext uri="{FF2B5EF4-FFF2-40B4-BE49-F238E27FC236}">
                <a16:creationId xmlns:a16="http://schemas.microsoft.com/office/drawing/2014/main" id="{C68514A8-D13E-D577-E7B1-EBD2B5B58D81}"/>
              </a:ext>
            </a:extLst>
          </p:cNvPr>
          <p:cNvSpPr txBox="1"/>
          <p:nvPr/>
        </p:nvSpPr>
        <p:spPr>
          <a:xfrm>
            <a:off x="11462350" y="3557182"/>
            <a:ext cx="550151" cy="276999"/>
          </a:xfrm>
          <a:prstGeom prst="rect">
            <a:avLst/>
          </a:prstGeom>
          <a:noFill/>
        </p:spPr>
        <p:txBody>
          <a:bodyPr wrap="none" rtlCol="0">
            <a:spAutoFit/>
          </a:bodyPr>
          <a:lstStyle/>
          <a:p>
            <a:r>
              <a:rPr lang="en-US" sz="1200" dirty="0"/>
              <a:t>5 kHz</a:t>
            </a:r>
          </a:p>
        </p:txBody>
      </p:sp>
      <p:sp>
        <p:nvSpPr>
          <p:cNvPr id="32" name="TextBox 31">
            <a:extLst>
              <a:ext uri="{FF2B5EF4-FFF2-40B4-BE49-F238E27FC236}">
                <a16:creationId xmlns:a16="http://schemas.microsoft.com/office/drawing/2014/main" id="{3FA8F8D5-F5AB-C91E-8194-C78FF0FBC700}"/>
              </a:ext>
            </a:extLst>
          </p:cNvPr>
          <p:cNvSpPr txBox="1"/>
          <p:nvPr/>
        </p:nvSpPr>
        <p:spPr>
          <a:xfrm>
            <a:off x="8986108" y="4673443"/>
            <a:ext cx="474810" cy="276999"/>
          </a:xfrm>
          <a:prstGeom prst="rect">
            <a:avLst/>
          </a:prstGeom>
          <a:noFill/>
        </p:spPr>
        <p:txBody>
          <a:bodyPr wrap="none" rtlCol="0">
            <a:spAutoFit/>
          </a:bodyPr>
          <a:lstStyle/>
          <a:p>
            <a:r>
              <a:rPr lang="en-US" sz="1200" dirty="0"/>
              <a:t>0 Hz</a:t>
            </a:r>
          </a:p>
        </p:txBody>
      </p:sp>
      <p:sp>
        <p:nvSpPr>
          <p:cNvPr id="33" name="TextBox 32">
            <a:extLst>
              <a:ext uri="{FF2B5EF4-FFF2-40B4-BE49-F238E27FC236}">
                <a16:creationId xmlns:a16="http://schemas.microsoft.com/office/drawing/2014/main" id="{6E61CD64-31E2-166D-C425-817956E57776}"/>
              </a:ext>
            </a:extLst>
          </p:cNvPr>
          <p:cNvSpPr txBox="1"/>
          <p:nvPr/>
        </p:nvSpPr>
        <p:spPr>
          <a:xfrm>
            <a:off x="9022911" y="5780786"/>
            <a:ext cx="474810" cy="276999"/>
          </a:xfrm>
          <a:prstGeom prst="rect">
            <a:avLst/>
          </a:prstGeom>
          <a:noFill/>
        </p:spPr>
        <p:txBody>
          <a:bodyPr wrap="none" rtlCol="0">
            <a:spAutoFit/>
          </a:bodyPr>
          <a:lstStyle/>
          <a:p>
            <a:r>
              <a:rPr lang="en-US" sz="1200" dirty="0"/>
              <a:t>0 Hz</a:t>
            </a:r>
          </a:p>
        </p:txBody>
      </p:sp>
      <p:sp>
        <p:nvSpPr>
          <p:cNvPr id="34" name="TextBox 33">
            <a:extLst>
              <a:ext uri="{FF2B5EF4-FFF2-40B4-BE49-F238E27FC236}">
                <a16:creationId xmlns:a16="http://schemas.microsoft.com/office/drawing/2014/main" id="{FF3B8549-F592-BAC5-BE60-CAAE4A3F81CF}"/>
              </a:ext>
            </a:extLst>
          </p:cNvPr>
          <p:cNvSpPr txBox="1"/>
          <p:nvPr/>
        </p:nvSpPr>
        <p:spPr>
          <a:xfrm>
            <a:off x="11465902" y="4671853"/>
            <a:ext cx="550151" cy="276999"/>
          </a:xfrm>
          <a:prstGeom prst="rect">
            <a:avLst/>
          </a:prstGeom>
          <a:noFill/>
        </p:spPr>
        <p:txBody>
          <a:bodyPr wrap="none" rtlCol="0">
            <a:spAutoFit/>
          </a:bodyPr>
          <a:lstStyle/>
          <a:p>
            <a:r>
              <a:rPr lang="en-US" sz="1200" dirty="0"/>
              <a:t>5 kHz</a:t>
            </a:r>
          </a:p>
        </p:txBody>
      </p:sp>
      <p:sp>
        <p:nvSpPr>
          <p:cNvPr id="35" name="TextBox 34">
            <a:extLst>
              <a:ext uri="{FF2B5EF4-FFF2-40B4-BE49-F238E27FC236}">
                <a16:creationId xmlns:a16="http://schemas.microsoft.com/office/drawing/2014/main" id="{AB32747D-A35B-7885-5E4D-047DC0471A8A}"/>
              </a:ext>
            </a:extLst>
          </p:cNvPr>
          <p:cNvSpPr txBox="1"/>
          <p:nvPr/>
        </p:nvSpPr>
        <p:spPr>
          <a:xfrm>
            <a:off x="11487307" y="5784923"/>
            <a:ext cx="550151" cy="276999"/>
          </a:xfrm>
          <a:prstGeom prst="rect">
            <a:avLst/>
          </a:prstGeom>
          <a:noFill/>
        </p:spPr>
        <p:txBody>
          <a:bodyPr wrap="none" rtlCol="0">
            <a:spAutoFit/>
          </a:bodyPr>
          <a:lstStyle/>
          <a:p>
            <a:r>
              <a:rPr lang="en-US" sz="1200" dirty="0"/>
              <a:t>5 kHz</a:t>
            </a:r>
          </a:p>
        </p:txBody>
      </p:sp>
      <p:sp>
        <p:nvSpPr>
          <p:cNvPr id="36" name="TextBox 35">
            <a:extLst>
              <a:ext uri="{FF2B5EF4-FFF2-40B4-BE49-F238E27FC236}">
                <a16:creationId xmlns:a16="http://schemas.microsoft.com/office/drawing/2014/main" id="{426CD8A7-ECEB-EF9F-861A-03E28C30B2D7}"/>
              </a:ext>
            </a:extLst>
          </p:cNvPr>
          <p:cNvSpPr txBox="1"/>
          <p:nvPr/>
        </p:nvSpPr>
        <p:spPr>
          <a:xfrm>
            <a:off x="4644895" y="1960989"/>
            <a:ext cx="3349315" cy="369332"/>
          </a:xfrm>
          <a:prstGeom prst="rect">
            <a:avLst/>
          </a:prstGeom>
          <a:noFill/>
        </p:spPr>
        <p:txBody>
          <a:bodyPr wrap="none" rtlCol="0">
            <a:spAutoFit/>
          </a:bodyPr>
          <a:lstStyle/>
          <a:p>
            <a:r>
              <a:rPr lang="en-US" dirty="0"/>
              <a:t>FULL BANDWIDTH SIMULATION</a:t>
            </a:r>
          </a:p>
        </p:txBody>
      </p:sp>
      <p:sp>
        <p:nvSpPr>
          <p:cNvPr id="37" name="TextBox 36">
            <a:extLst>
              <a:ext uri="{FF2B5EF4-FFF2-40B4-BE49-F238E27FC236}">
                <a16:creationId xmlns:a16="http://schemas.microsoft.com/office/drawing/2014/main" id="{70CED47A-A7A0-EBAF-40DE-AFBF79F1CB13}"/>
              </a:ext>
            </a:extLst>
          </p:cNvPr>
          <p:cNvSpPr txBox="1"/>
          <p:nvPr/>
        </p:nvSpPr>
        <p:spPr>
          <a:xfrm>
            <a:off x="9004799" y="2743325"/>
            <a:ext cx="2994602" cy="369332"/>
          </a:xfrm>
          <a:prstGeom prst="rect">
            <a:avLst/>
          </a:prstGeom>
          <a:noFill/>
        </p:spPr>
        <p:txBody>
          <a:bodyPr wrap="none" rtlCol="0">
            <a:spAutoFit/>
          </a:bodyPr>
          <a:lstStyle/>
          <a:p>
            <a:r>
              <a:rPr lang="en-US" dirty="0"/>
              <a:t>ACTUAL TX-RX WAVEFORMS</a:t>
            </a:r>
          </a:p>
        </p:txBody>
      </p:sp>
      <p:sp>
        <p:nvSpPr>
          <p:cNvPr id="38" name="TextBox 37">
            <a:extLst>
              <a:ext uri="{FF2B5EF4-FFF2-40B4-BE49-F238E27FC236}">
                <a16:creationId xmlns:a16="http://schemas.microsoft.com/office/drawing/2014/main" id="{B05C8FD4-BC63-AFB1-B2FD-69C3863851AF}"/>
              </a:ext>
            </a:extLst>
          </p:cNvPr>
          <p:cNvSpPr txBox="1"/>
          <p:nvPr/>
        </p:nvSpPr>
        <p:spPr>
          <a:xfrm>
            <a:off x="8994347" y="3697924"/>
            <a:ext cx="3096040" cy="369332"/>
          </a:xfrm>
          <a:prstGeom prst="rect">
            <a:avLst/>
          </a:prstGeom>
          <a:noFill/>
        </p:spPr>
        <p:txBody>
          <a:bodyPr wrap="none" rtlCol="0">
            <a:spAutoFit/>
          </a:bodyPr>
          <a:lstStyle/>
          <a:p>
            <a:r>
              <a:rPr lang="en-US" dirty="0"/>
              <a:t>Direct  – TX &amp; RX1 Passbands </a:t>
            </a:r>
          </a:p>
        </p:txBody>
      </p:sp>
      <p:sp>
        <p:nvSpPr>
          <p:cNvPr id="39" name="TextBox 38">
            <a:extLst>
              <a:ext uri="{FF2B5EF4-FFF2-40B4-BE49-F238E27FC236}">
                <a16:creationId xmlns:a16="http://schemas.microsoft.com/office/drawing/2014/main" id="{FD4043DD-24B8-F5F6-8C66-84107139F10C}"/>
              </a:ext>
            </a:extLst>
          </p:cNvPr>
          <p:cNvSpPr txBox="1"/>
          <p:nvPr/>
        </p:nvSpPr>
        <p:spPr>
          <a:xfrm>
            <a:off x="9107944" y="4840673"/>
            <a:ext cx="2933880" cy="369332"/>
          </a:xfrm>
          <a:prstGeom prst="rect">
            <a:avLst/>
          </a:prstGeom>
          <a:noFill/>
        </p:spPr>
        <p:txBody>
          <a:bodyPr wrap="none" rtlCol="0">
            <a:spAutoFit/>
          </a:bodyPr>
          <a:lstStyle/>
          <a:p>
            <a:r>
              <a:rPr lang="en-US" dirty="0"/>
              <a:t>317 km Path – 2F</a:t>
            </a:r>
            <a:r>
              <a:rPr lang="en-US" baseline="-25000" dirty="0"/>
              <a:t>2</a:t>
            </a:r>
            <a:r>
              <a:rPr lang="en-US" dirty="0"/>
              <a:t>-1F</a:t>
            </a:r>
            <a:r>
              <a:rPr lang="en-US" baseline="-25000" dirty="0"/>
              <a:t>2</a:t>
            </a:r>
            <a:r>
              <a:rPr lang="en-US" dirty="0"/>
              <a:t>   RX1</a:t>
            </a:r>
          </a:p>
        </p:txBody>
      </p:sp>
      <p:sp>
        <p:nvSpPr>
          <p:cNvPr id="40" name="TextBox 39">
            <a:extLst>
              <a:ext uri="{FF2B5EF4-FFF2-40B4-BE49-F238E27FC236}">
                <a16:creationId xmlns:a16="http://schemas.microsoft.com/office/drawing/2014/main" id="{F05F4354-2496-807F-CD45-826A20226914}"/>
              </a:ext>
            </a:extLst>
          </p:cNvPr>
          <p:cNvSpPr txBox="1"/>
          <p:nvPr/>
        </p:nvSpPr>
        <p:spPr>
          <a:xfrm>
            <a:off x="9141076" y="5917413"/>
            <a:ext cx="2859885" cy="646331"/>
          </a:xfrm>
          <a:prstGeom prst="rect">
            <a:avLst/>
          </a:prstGeom>
          <a:noFill/>
        </p:spPr>
        <p:txBody>
          <a:bodyPr wrap="none" rtlCol="0">
            <a:spAutoFit/>
          </a:bodyPr>
          <a:lstStyle/>
          <a:p>
            <a:r>
              <a:rPr lang="en-US" dirty="0"/>
              <a:t>407 km Path. 2F</a:t>
            </a:r>
            <a:r>
              <a:rPr lang="en-US" baseline="-25000" dirty="0"/>
              <a:t>2 </a:t>
            </a:r>
            <a:r>
              <a:rPr lang="en-US" dirty="0"/>
              <a:t>- 1F</a:t>
            </a:r>
            <a:r>
              <a:rPr lang="en-US" baseline="-25000" dirty="0"/>
              <a:t>2</a:t>
            </a:r>
            <a:r>
              <a:rPr lang="en-US" dirty="0"/>
              <a:t>   RX2</a:t>
            </a:r>
          </a:p>
          <a:p>
            <a:r>
              <a:rPr lang="en-US" dirty="0"/>
              <a:t>Broadband SDR</a:t>
            </a:r>
          </a:p>
        </p:txBody>
      </p:sp>
      <p:sp>
        <p:nvSpPr>
          <p:cNvPr id="41" name="TextBox 40">
            <a:extLst>
              <a:ext uri="{FF2B5EF4-FFF2-40B4-BE49-F238E27FC236}">
                <a16:creationId xmlns:a16="http://schemas.microsoft.com/office/drawing/2014/main" id="{B535C47B-1046-6232-6C23-882733DA8874}"/>
              </a:ext>
            </a:extLst>
          </p:cNvPr>
          <p:cNvSpPr txBox="1"/>
          <p:nvPr/>
        </p:nvSpPr>
        <p:spPr>
          <a:xfrm>
            <a:off x="9004799" y="2999424"/>
            <a:ext cx="638316" cy="276999"/>
          </a:xfrm>
          <a:prstGeom prst="rect">
            <a:avLst/>
          </a:prstGeom>
          <a:noFill/>
        </p:spPr>
        <p:txBody>
          <a:bodyPr wrap="none" rtlCol="0">
            <a:spAutoFit/>
          </a:bodyPr>
          <a:lstStyle/>
          <a:p>
            <a:r>
              <a:rPr lang="en-US" sz="1200" dirty="0"/>
              <a:t>280 Hz</a:t>
            </a:r>
          </a:p>
        </p:txBody>
      </p:sp>
      <p:sp>
        <p:nvSpPr>
          <p:cNvPr id="42" name="TextBox 41">
            <a:extLst>
              <a:ext uri="{FF2B5EF4-FFF2-40B4-BE49-F238E27FC236}">
                <a16:creationId xmlns:a16="http://schemas.microsoft.com/office/drawing/2014/main" id="{3FF2906E-C0B2-65FA-859C-620ACF0D901D}"/>
              </a:ext>
            </a:extLst>
          </p:cNvPr>
          <p:cNvSpPr txBox="1"/>
          <p:nvPr/>
        </p:nvSpPr>
        <p:spPr>
          <a:xfrm>
            <a:off x="10551906" y="2984353"/>
            <a:ext cx="550151" cy="276999"/>
          </a:xfrm>
          <a:prstGeom prst="rect">
            <a:avLst/>
          </a:prstGeom>
          <a:noFill/>
        </p:spPr>
        <p:txBody>
          <a:bodyPr wrap="none" rtlCol="0">
            <a:spAutoFit/>
          </a:bodyPr>
          <a:lstStyle/>
          <a:p>
            <a:r>
              <a:rPr lang="en-US" sz="1200" dirty="0"/>
              <a:t>3 kHz</a:t>
            </a:r>
          </a:p>
        </p:txBody>
      </p:sp>
      <p:sp>
        <p:nvSpPr>
          <p:cNvPr id="4" name="TextBox 3">
            <a:extLst>
              <a:ext uri="{FF2B5EF4-FFF2-40B4-BE49-F238E27FC236}">
                <a16:creationId xmlns:a16="http://schemas.microsoft.com/office/drawing/2014/main" id="{926C813F-AA42-899C-D308-CD4738BA2C52}"/>
              </a:ext>
            </a:extLst>
          </p:cNvPr>
          <p:cNvSpPr txBox="1"/>
          <p:nvPr/>
        </p:nvSpPr>
        <p:spPr>
          <a:xfrm>
            <a:off x="10902435" y="4141341"/>
            <a:ext cx="1135023" cy="600164"/>
          </a:xfrm>
          <a:prstGeom prst="rect">
            <a:avLst/>
          </a:prstGeom>
          <a:noFill/>
        </p:spPr>
        <p:txBody>
          <a:bodyPr wrap="square" rtlCol="0">
            <a:spAutoFit/>
          </a:bodyPr>
          <a:lstStyle/>
          <a:p>
            <a:r>
              <a:rPr lang="en-US" sz="1100" dirty="0"/>
              <a:t>p = 0.063 s    </a:t>
            </a:r>
          </a:p>
          <a:p>
            <a:r>
              <a:rPr lang="en-US" sz="1100" dirty="0"/>
              <a:t>TDOA = 1.6 ms</a:t>
            </a:r>
          </a:p>
          <a:p>
            <a:r>
              <a:rPr lang="en-US" sz="1100" dirty="0"/>
              <a:t>Ht = 260 km</a:t>
            </a:r>
          </a:p>
        </p:txBody>
      </p:sp>
      <p:sp>
        <p:nvSpPr>
          <p:cNvPr id="8" name="TextBox 7">
            <a:extLst>
              <a:ext uri="{FF2B5EF4-FFF2-40B4-BE49-F238E27FC236}">
                <a16:creationId xmlns:a16="http://schemas.microsoft.com/office/drawing/2014/main" id="{6EBD82B9-8CD6-38A5-D1D9-D6B26B38516C}"/>
              </a:ext>
            </a:extLst>
          </p:cNvPr>
          <p:cNvSpPr txBox="1"/>
          <p:nvPr/>
        </p:nvSpPr>
        <p:spPr>
          <a:xfrm>
            <a:off x="10923828" y="5224106"/>
            <a:ext cx="1071815" cy="600164"/>
          </a:xfrm>
          <a:prstGeom prst="rect">
            <a:avLst/>
          </a:prstGeom>
          <a:noFill/>
        </p:spPr>
        <p:txBody>
          <a:bodyPr wrap="square" rtlCol="0">
            <a:spAutoFit/>
          </a:bodyPr>
          <a:lstStyle/>
          <a:p>
            <a:r>
              <a:rPr lang="en-US" sz="1100" dirty="0"/>
              <a:t>p = 0.053 s    </a:t>
            </a:r>
          </a:p>
          <a:p>
            <a:r>
              <a:rPr lang="en-US" sz="1100" dirty="0"/>
              <a:t>TDOA = 1.9 ms</a:t>
            </a:r>
          </a:p>
          <a:p>
            <a:r>
              <a:rPr lang="en-US" sz="1100" dirty="0"/>
              <a:t>Ht = 315 km</a:t>
            </a:r>
          </a:p>
        </p:txBody>
      </p:sp>
      <p:sp>
        <p:nvSpPr>
          <p:cNvPr id="12" name="TextBox 11">
            <a:extLst>
              <a:ext uri="{FF2B5EF4-FFF2-40B4-BE49-F238E27FC236}">
                <a16:creationId xmlns:a16="http://schemas.microsoft.com/office/drawing/2014/main" id="{9913ED5F-4DE5-AE4D-CCB9-C65D84D44406}"/>
              </a:ext>
            </a:extLst>
          </p:cNvPr>
          <p:cNvSpPr txBox="1"/>
          <p:nvPr/>
        </p:nvSpPr>
        <p:spPr>
          <a:xfrm>
            <a:off x="3556426" y="1968673"/>
            <a:ext cx="619080" cy="369332"/>
          </a:xfrm>
          <a:prstGeom prst="rect">
            <a:avLst/>
          </a:prstGeom>
          <a:noFill/>
        </p:spPr>
        <p:txBody>
          <a:bodyPr wrap="none" rtlCol="0">
            <a:spAutoFit/>
          </a:bodyPr>
          <a:lstStyle/>
          <a:p>
            <a:r>
              <a:rPr lang="en-US" dirty="0"/>
              <a:t>0 Hz</a:t>
            </a:r>
          </a:p>
        </p:txBody>
      </p:sp>
      <p:sp>
        <p:nvSpPr>
          <p:cNvPr id="23" name="TextBox 22">
            <a:extLst>
              <a:ext uri="{FF2B5EF4-FFF2-40B4-BE49-F238E27FC236}">
                <a16:creationId xmlns:a16="http://schemas.microsoft.com/office/drawing/2014/main" id="{F6299983-33BC-8A3D-9BC2-81BE151AF1A5}"/>
              </a:ext>
            </a:extLst>
          </p:cNvPr>
          <p:cNvSpPr txBox="1"/>
          <p:nvPr/>
        </p:nvSpPr>
        <p:spPr>
          <a:xfrm>
            <a:off x="8323445" y="2003157"/>
            <a:ext cx="731290" cy="369332"/>
          </a:xfrm>
          <a:prstGeom prst="rect">
            <a:avLst/>
          </a:prstGeom>
          <a:noFill/>
        </p:spPr>
        <p:txBody>
          <a:bodyPr wrap="none" rtlCol="0">
            <a:spAutoFit/>
          </a:bodyPr>
          <a:lstStyle/>
          <a:p>
            <a:r>
              <a:rPr lang="en-US" dirty="0"/>
              <a:t>5 kHz</a:t>
            </a:r>
          </a:p>
        </p:txBody>
      </p:sp>
    </p:spTree>
    <p:extLst>
      <p:ext uri="{BB962C8B-B14F-4D97-AF65-F5344CB8AC3E}">
        <p14:creationId xmlns:p14="http://schemas.microsoft.com/office/powerpoint/2010/main" val="1578017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053"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7870C-CA21-CA9F-EF60-5E5E9A3AF79D}"/>
            </a:ext>
          </a:extLst>
        </p:cNvPr>
        <p:cNvGrpSpPr/>
        <p:nvPr/>
      </p:nvGrpSpPr>
      <p:grpSpPr>
        <a:xfrm>
          <a:off x="0" y="0"/>
          <a:ext cx="0" cy="0"/>
          <a:chOff x="0" y="0"/>
          <a:chExt cx="0" cy="0"/>
        </a:xfrm>
      </p:grpSpPr>
      <p:pic>
        <p:nvPicPr>
          <p:cNvPr id="16" name="Picture 15" descr="A desk with a computer and electronics on it&#10;&#10;Description automatically generated">
            <a:extLst>
              <a:ext uri="{FF2B5EF4-FFF2-40B4-BE49-F238E27FC236}">
                <a16:creationId xmlns:a16="http://schemas.microsoft.com/office/drawing/2014/main" id="{02853B91-BFA2-2577-648E-DF7D636EDA2F}"/>
              </a:ext>
            </a:extLst>
          </p:cNvPr>
          <p:cNvPicPr>
            <a:picLocks noGrp="1" noRot="1" noChangeAspect="1" noMove="1" noResize="1" noEditPoints="1" noAdjustHandles="1" noChangeArrowheads="1" noChangeShapeType="1" noCrop="1"/>
          </p:cNvPicPr>
          <p:nvPr/>
        </p:nvPicPr>
        <p:blipFill>
          <a:blip r:embed="rId3"/>
          <a:stretch>
            <a:fillRect/>
          </a:stretch>
        </p:blipFill>
        <p:spPr>
          <a:xfrm>
            <a:off x="5927920" y="2123207"/>
            <a:ext cx="5887607" cy="4415706"/>
          </a:xfrm>
          <a:prstGeom prst="rect">
            <a:avLst/>
          </a:prstGeom>
        </p:spPr>
      </p:pic>
      <p:sp>
        <p:nvSpPr>
          <p:cNvPr id="2" name="Title 1">
            <a:extLst>
              <a:ext uri="{FF2B5EF4-FFF2-40B4-BE49-F238E27FC236}">
                <a16:creationId xmlns:a16="http://schemas.microsoft.com/office/drawing/2014/main" id="{85036A1F-E23B-FC80-3AC3-CCAF49C278DC}"/>
              </a:ext>
            </a:extLst>
          </p:cNvPr>
          <p:cNvSpPr>
            <a:spLocks noGrp="1" noRot="1" noMove="1" noResize="1" noEditPoints="1" noAdjustHandles="1" noChangeArrowheads="1" noChangeShapeType="1"/>
          </p:cNvSpPr>
          <p:nvPr>
            <p:ph type="title"/>
          </p:nvPr>
        </p:nvSpPr>
        <p:spPr>
          <a:xfrm>
            <a:off x="118747" y="136523"/>
            <a:ext cx="5144369" cy="825094"/>
          </a:xfrm>
        </p:spPr>
        <p:txBody>
          <a:bodyPr>
            <a:normAutofit fontScale="90000"/>
          </a:bodyPr>
          <a:lstStyle/>
          <a:p>
            <a:r>
              <a:rPr lang="en-US" sz="3600" dirty="0"/>
              <a:t>Setup for TDOA Eclipse Experiments</a:t>
            </a:r>
          </a:p>
        </p:txBody>
      </p:sp>
      <p:sp>
        <p:nvSpPr>
          <p:cNvPr id="3" name="Slide Number Placeholder 2">
            <a:extLst>
              <a:ext uri="{FF2B5EF4-FFF2-40B4-BE49-F238E27FC236}">
                <a16:creationId xmlns:a16="http://schemas.microsoft.com/office/drawing/2014/main" id="{220E561A-8804-71A5-36CE-9AAB32735900}"/>
              </a:ext>
            </a:extLst>
          </p:cNvPr>
          <p:cNvSpPr>
            <a:spLocks noGrp="1"/>
          </p:cNvSpPr>
          <p:nvPr>
            <p:ph type="sldNum" sz="quarter" idx="12"/>
          </p:nvPr>
        </p:nvSpPr>
        <p:spPr/>
        <p:txBody>
          <a:bodyPr/>
          <a:lstStyle/>
          <a:p>
            <a:fld id="{9402E099-75C6-4785-BA6C-247B514205D8}" type="slidenum">
              <a:rPr lang="en-US" smtClean="0"/>
              <a:t>5</a:t>
            </a:fld>
            <a:endParaRPr lang="en-US"/>
          </a:p>
        </p:txBody>
      </p:sp>
      <p:pic>
        <p:nvPicPr>
          <p:cNvPr id="5" name="Picture 4">
            <a:extLst>
              <a:ext uri="{FF2B5EF4-FFF2-40B4-BE49-F238E27FC236}">
                <a16:creationId xmlns:a16="http://schemas.microsoft.com/office/drawing/2014/main" id="{06583BDB-D614-AFC1-AF5E-C01355988C36}"/>
              </a:ext>
            </a:extLst>
          </p:cNvPr>
          <p:cNvPicPr>
            <a:picLocks noGrp="1" noRot="1" noChangeAspect="1" noMove="1" noResize="1" noEditPoints="1" noAdjustHandles="1" noChangeArrowheads="1" noChangeShapeType="1" noCrop="1"/>
          </p:cNvPicPr>
          <p:nvPr/>
        </p:nvPicPr>
        <p:blipFill>
          <a:blip r:embed="rId4"/>
          <a:stretch>
            <a:fillRect/>
          </a:stretch>
        </p:blipFill>
        <p:spPr>
          <a:xfrm>
            <a:off x="311260" y="1179977"/>
            <a:ext cx="5294459" cy="4498046"/>
          </a:xfrm>
          <a:prstGeom prst="rect">
            <a:avLst/>
          </a:prstGeom>
        </p:spPr>
      </p:pic>
      <p:sp>
        <p:nvSpPr>
          <p:cNvPr id="8" name="TextBox 7">
            <a:extLst>
              <a:ext uri="{FF2B5EF4-FFF2-40B4-BE49-F238E27FC236}">
                <a16:creationId xmlns:a16="http://schemas.microsoft.com/office/drawing/2014/main" id="{729324B5-AED3-D423-8898-0F4DF4B09792}"/>
              </a:ext>
            </a:extLst>
          </p:cNvPr>
          <p:cNvSpPr txBox="1">
            <a:spLocks noGrp="1" noRot="1" noMove="1" noResize="1" noEditPoints="1" noAdjustHandles="1" noChangeArrowheads="1" noChangeShapeType="1"/>
          </p:cNvSpPr>
          <p:nvPr/>
        </p:nvSpPr>
        <p:spPr>
          <a:xfrm>
            <a:off x="175398" y="5896383"/>
            <a:ext cx="5430321" cy="642530"/>
          </a:xfrm>
          <a:prstGeom prst="rect">
            <a:avLst/>
          </a:prstGeom>
          <a:noFill/>
          <a:ln>
            <a:solidFill>
              <a:schemeClr val="accent1"/>
            </a:solidFill>
          </a:ln>
        </p:spPr>
        <p:txBody>
          <a:bodyPr wrap="square" rtlCol="0">
            <a:spAutoFit/>
          </a:bodyPr>
          <a:lstStyle/>
          <a:p>
            <a:r>
              <a:rPr lang="en-US" dirty="0"/>
              <a:t>Geometry gave proximity to expected eclipse paths and Austin Ionosonde used for ground truth data.</a:t>
            </a:r>
          </a:p>
        </p:txBody>
      </p:sp>
      <p:pic>
        <p:nvPicPr>
          <p:cNvPr id="4" name="Picture 3" descr="A map of the united states&#10;&#10;Description automatically generated">
            <a:extLst>
              <a:ext uri="{FF2B5EF4-FFF2-40B4-BE49-F238E27FC236}">
                <a16:creationId xmlns:a16="http://schemas.microsoft.com/office/drawing/2014/main" id="{8B2546E2-E0EE-5E6C-73BC-8E5555E13746}"/>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5927920" y="309758"/>
            <a:ext cx="5887607" cy="2943804"/>
          </a:xfrm>
          <a:prstGeom prst="rect">
            <a:avLst/>
          </a:prstGeom>
        </p:spPr>
      </p:pic>
      <p:cxnSp>
        <p:nvCxnSpPr>
          <p:cNvPr id="13" name="Straight Connector 12">
            <a:extLst>
              <a:ext uri="{FF2B5EF4-FFF2-40B4-BE49-F238E27FC236}">
                <a16:creationId xmlns:a16="http://schemas.microsoft.com/office/drawing/2014/main" id="{C693B0DF-E989-09B9-0B24-682E79921302}"/>
              </a:ext>
            </a:extLst>
          </p:cNvPr>
          <p:cNvCxnSpPr/>
          <p:nvPr/>
        </p:nvCxnSpPr>
        <p:spPr>
          <a:xfrm flipV="1">
            <a:off x="1690577" y="1781660"/>
            <a:ext cx="1371600" cy="30774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50B3E24-372B-4289-4C53-D01DC70D502F}"/>
              </a:ext>
            </a:extLst>
          </p:cNvPr>
          <p:cNvSpPr txBox="1"/>
          <p:nvPr/>
        </p:nvSpPr>
        <p:spPr>
          <a:xfrm>
            <a:off x="1979526" y="2341267"/>
            <a:ext cx="612949" cy="430887"/>
          </a:xfrm>
          <a:prstGeom prst="rect">
            <a:avLst/>
          </a:prstGeom>
          <a:solidFill>
            <a:schemeClr val="bg1"/>
          </a:solidFill>
          <a:ln w="25400">
            <a:solidFill>
              <a:srgbClr val="FF0000"/>
            </a:solidFill>
          </a:ln>
        </p:spPr>
        <p:txBody>
          <a:bodyPr wrap="square" rtlCol="0">
            <a:spAutoFit/>
          </a:bodyPr>
          <a:lstStyle/>
          <a:p>
            <a:r>
              <a:rPr lang="en-US" sz="1100" dirty="0"/>
              <a:t>407 km</a:t>
            </a:r>
          </a:p>
          <a:p>
            <a:r>
              <a:rPr lang="en-US" sz="1100" dirty="0"/>
              <a:t>Path</a:t>
            </a:r>
          </a:p>
        </p:txBody>
      </p:sp>
      <p:sp>
        <p:nvSpPr>
          <p:cNvPr id="17" name="Oval 16">
            <a:extLst>
              <a:ext uri="{FF2B5EF4-FFF2-40B4-BE49-F238E27FC236}">
                <a16:creationId xmlns:a16="http://schemas.microsoft.com/office/drawing/2014/main" id="{9904DB6A-AF0E-965A-F03E-04387AE2C9F4}"/>
              </a:ext>
            </a:extLst>
          </p:cNvPr>
          <p:cNvSpPr/>
          <p:nvPr/>
        </p:nvSpPr>
        <p:spPr>
          <a:xfrm>
            <a:off x="1577592" y="4762919"/>
            <a:ext cx="92889" cy="7606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2C0A34C8-F810-E5FD-4742-34755DFCCA06}"/>
              </a:ext>
            </a:extLst>
          </p:cNvPr>
          <p:cNvSpPr txBox="1"/>
          <p:nvPr/>
        </p:nvSpPr>
        <p:spPr>
          <a:xfrm>
            <a:off x="653027" y="4428192"/>
            <a:ext cx="834129" cy="415498"/>
          </a:xfrm>
          <a:prstGeom prst="rect">
            <a:avLst/>
          </a:prstGeom>
          <a:solidFill>
            <a:schemeClr val="bg1"/>
          </a:solidFill>
          <a:ln w="25400">
            <a:solidFill>
              <a:srgbClr val="FF0000"/>
            </a:solidFill>
          </a:ln>
        </p:spPr>
        <p:txBody>
          <a:bodyPr wrap="square" rtlCol="0">
            <a:spAutoFit/>
          </a:bodyPr>
          <a:lstStyle/>
          <a:p>
            <a:r>
              <a:rPr lang="en-US" sz="1050" dirty="0"/>
              <a:t>9 km NVIS</a:t>
            </a:r>
          </a:p>
          <a:p>
            <a:r>
              <a:rPr lang="en-US" sz="1050" dirty="0"/>
              <a:t>Path</a:t>
            </a:r>
          </a:p>
        </p:txBody>
      </p:sp>
      <p:sp>
        <p:nvSpPr>
          <p:cNvPr id="19" name="TextBox 18">
            <a:extLst>
              <a:ext uri="{FF2B5EF4-FFF2-40B4-BE49-F238E27FC236}">
                <a16:creationId xmlns:a16="http://schemas.microsoft.com/office/drawing/2014/main" id="{495F82FA-1DE7-D238-D7FA-D7D956C967A5}"/>
              </a:ext>
            </a:extLst>
          </p:cNvPr>
          <p:cNvSpPr txBox="1"/>
          <p:nvPr/>
        </p:nvSpPr>
        <p:spPr>
          <a:xfrm>
            <a:off x="7566412" y="865453"/>
            <a:ext cx="1055076" cy="461665"/>
          </a:xfrm>
          <a:prstGeom prst="rect">
            <a:avLst/>
          </a:prstGeom>
          <a:solidFill>
            <a:schemeClr val="bg1"/>
          </a:solidFill>
        </p:spPr>
        <p:txBody>
          <a:bodyPr wrap="square" rtlCol="0">
            <a:spAutoFit/>
          </a:bodyPr>
          <a:lstStyle/>
          <a:p>
            <a:pPr algn="ctr"/>
            <a:r>
              <a:rPr lang="en-US" sz="1200" dirty="0"/>
              <a:t>2023 Annular Eclipse</a:t>
            </a:r>
          </a:p>
        </p:txBody>
      </p:sp>
      <p:sp>
        <p:nvSpPr>
          <p:cNvPr id="20" name="TextBox 19">
            <a:extLst>
              <a:ext uri="{FF2B5EF4-FFF2-40B4-BE49-F238E27FC236}">
                <a16:creationId xmlns:a16="http://schemas.microsoft.com/office/drawing/2014/main" id="{D9D13C36-5D7B-CE1F-0E5C-B8EDD15E7C89}"/>
              </a:ext>
            </a:extLst>
          </p:cNvPr>
          <p:cNvSpPr txBox="1"/>
          <p:nvPr/>
        </p:nvSpPr>
        <p:spPr>
          <a:xfrm>
            <a:off x="9003325" y="1096285"/>
            <a:ext cx="853107" cy="461665"/>
          </a:xfrm>
          <a:prstGeom prst="rect">
            <a:avLst/>
          </a:prstGeom>
          <a:solidFill>
            <a:schemeClr val="bg1"/>
          </a:solidFill>
        </p:spPr>
        <p:txBody>
          <a:bodyPr wrap="square" rtlCol="0">
            <a:spAutoFit/>
          </a:bodyPr>
          <a:lstStyle/>
          <a:p>
            <a:pPr algn="ctr"/>
            <a:r>
              <a:rPr lang="en-US" sz="1200" dirty="0"/>
              <a:t>2024 Total Eclipse</a:t>
            </a:r>
          </a:p>
        </p:txBody>
      </p:sp>
      <p:sp>
        <p:nvSpPr>
          <p:cNvPr id="21" name="Oval 20">
            <a:extLst>
              <a:ext uri="{FF2B5EF4-FFF2-40B4-BE49-F238E27FC236}">
                <a16:creationId xmlns:a16="http://schemas.microsoft.com/office/drawing/2014/main" id="{0C88A899-B797-35F8-FDC1-949C3C302CDD}"/>
              </a:ext>
            </a:extLst>
          </p:cNvPr>
          <p:cNvSpPr/>
          <p:nvPr/>
        </p:nvSpPr>
        <p:spPr>
          <a:xfrm>
            <a:off x="8521004" y="2280975"/>
            <a:ext cx="482321" cy="74357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CC68C806-E875-36E6-0320-189649571304}"/>
              </a:ext>
            </a:extLst>
          </p:cNvPr>
          <p:cNvCxnSpPr/>
          <p:nvPr/>
        </p:nvCxnSpPr>
        <p:spPr>
          <a:xfrm flipV="1">
            <a:off x="5605719" y="2772154"/>
            <a:ext cx="2895188" cy="885446"/>
          </a:xfrm>
          <a:prstGeom prst="straightConnector1">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F652D55-27CA-C229-E14A-4E509EF26874}"/>
              </a:ext>
            </a:extLst>
          </p:cNvPr>
          <p:cNvCxnSpPr>
            <a:stCxn id="18" idx="3"/>
            <a:endCxn id="17" idx="1"/>
          </p:cNvCxnSpPr>
          <p:nvPr/>
        </p:nvCxnSpPr>
        <p:spPr>
          <a:xfrm>
            <a:off x="1487156" y="4635941"/>
            <a:ext cx="104039" cy="13811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D5D58AC-C353-748D-A55D-BCEEC637FE94}"/>
              </a:ext>
            </a:extLst>
          </p:cNvPr>
          <p:cNvSpPr txBox="1"/>
          <p:nvPr/>
        </p:nvSpPr>
        <p:spPr>
          <a:xfrm>
            <a:off x="8871723" y="5678023"/>
            <a:ext cx="1441320" cy="738664"/>
          </a:xfrm>
          <a:prstGeom prst="rect">
            <a:avLst/>
          </a:prstGeom>
          <a:solidFill>
            <a:schemeClr val="bg1"/>
          </a:solidFill>
        </p:spPr>
        <p:txBody>
          <a:bodyPr wrap="square" rtlCol="0">
            <a:spAutoFit/>
          </a:bodyPr>
          <a:lstStyle/>
          <a:p>
            <a:r>
              <a:rPr lang="en-US" sz="1400" dirty="0"/>
              <a:t>Transmitting Amateur Radio Station WA5FRF</a:t>
            </a:r>
          </a:p>
        </p:txBody>
      </p:sp>
      <p:cxnSp>
        <p:nvCxnSpPr>
          <p:cNvPr id="28" name="Straight Arrow Connector 27">
            <a:extLst>
              <a:ext uri="{FF2B5EF4-FFF2-40B4-BE49-F238E27FC236}">
                <a16:creationId xmlns:a16="http://schemas.microsoft.com/office/drawing/2014/main" id="{96D70F22-6B8F-9541-6BCD-4BC6AB68CED0}"/>
              </a:ext>
            </a:extLst>
          </p:cNvPr>
          <p:cNvCxnSpPr>
            <a:cxnSpLocks/>
          </p:cNvCxnSpPr>
          <p:nvPr/>
        </p:nvCxnSpPr>
        <p:spPr>
          <a:xfrm flipV="1">
            <a:off x="9742021" y="1413566"/>
            <a:ext cx="417979" cy="37047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A62C285A-6310-74A6-B366-2A2AB8F0DBD5}"/>
              </a:ext>
            </a:extLst>
          </p:cNvPr>
          <p:cNvCxnSpPr>
            <a:cxnSpLocks/>
          </p:cNvCxnSpPr>
          <p:nvPr/>
        </p:nvCxnSpPr>
        <p:spPr>
          <a:xfrm>
            <a:off x="7325259" y="1287977"/>
            <a:ext cx="361737" cy="35367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2023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D182-F630-F757-B5DD-B18B2D462B28}"/>
              </a:ext>
            </a:extLst>
          </p:cNvPr>
          <p:cNvSpPr>
            <a:spLocks noGrp="1" noRot="1" noMove="1" noResize="1" noEditPoints="1" noAdjustHandles="1" noChangeArrowheads="1" noChangeShapeType="1"/>
          </p:cNvSpPr>
          <p:nvPr>
            <p:ph type="title"/>
          </p:nvPr>
        </p:nvSpPr>
        <p:spPr>
          <a:xfrm>
            <a:off x="1245115" y="111200"/>
            <a:ext cx="9988279" cy="1359616"/>
          </a:xfrm>
        </p:spPr>
        <p:txBody>
          <a:bodyPr>
            <a:normAutofit fontScale="90000"/>
          </a:bodyPr>
          <a:lstStyle/>
          <a:p>
            <a:r>
              <a:rPr lang="en-US" sz="3600" dirty="0"/>
              <a:t>Layer Heights Calculated from TDOA at the Same Frequency Over Different Path Lengths Agreed Well with Each Other and With the Austin, TX Ionosonde</a:t>
            </a:r>
          </a:p>
        </p:txBody>
      </p:sp>
      <p:pic>
        <p:nvPicPr>
          <p:cNvPr id="3" name="Picture 2">
            <a:extLst>
              <a:ext uri="{FF2B5EF4-FFF2-40B4-BE49-F238E27FC236}">
                <a16:creationId xmlns:a16="http://schemas.microsoft.com/office/drawing/2014/main" id="{6EB37C30-2AE9-3E2B-A1EB-48CB5116B473}"/>
              </a:ext>
            </a:extLst>
          </p:cNvPr>
          <p:cNvPicPr>
            <a:picLocks noGrp="1" noRot="1" noChangeAspect="1" noMove="1" noResize="1" noEditPoints="1" noAdjustHandles="1" noChangeArrowheads="1" noChangeShapeType="1" noCrop="1"/>
          </p:cNvPicPr>
          <p:nvPr/>
        </p:nvPicPr>
        <p:blipFill>
          <a:blip r:embed="rId3"/>
          <a:stretch>
            <a:fillRect/>
          </a:stretch>
        </p:blipFill>
        <p:spPr>
          <a:xfrm>
            <a:off x="2491186" y="1492790"/>
            <a:ext cx="7209626" cy="3872419"/>
          </a:xfrm>
          <a:prstGeom prst="rect">
            <a:avLst/>
          </a:prstGeom>
        </p:spPr>
      </p:pic>
      <p:sp>
        <p:nvSpPr>
          <p:cNvPr id="6" name="TextBox 5">
            <a:extLst>
              <a:ext uri="{FF2B5EF4-FFF2-40B4-BE49-F238E27FC236}">
                <a16:creationId xmlns:a16="http://schemas.microsoft.com/office/drawing/2014/main" id="{16DAD278-FBCB-76F3-4AC3-DC98B8623E88}"/>
              </a:ext>
            </a:extLst>
          </p:cNvPr>
          <p:cNvSpPr txBox="1">
            <a:spLocks noGrp="1" noRot="1" noMove="1" noResize="1" noEditPoints="1" noAdjustHandles="1" noChangeArrowheads="1" noChangeShapeType="1"/>
          </p:cNvSpPr>
          <p:nvPr/>
        </p:nvSpPr>
        <p:spPr>
          <a:xfrm>
            <a:off x="1270960" y="5649540"/>
            <a:ext cx="10117385" cy="923330"/>
          </a:xfrm>
          <a:prstGeom prst="rect">
            <a:avLst/>
          </a:prstGeom>
          <a:noFill/>
        </p:spPr>
        <p:txBody>
          <a:bodyPr wrap="none" rtlCol="0">
            <a:spAutoFit/>
          </a:bodyPr>
          <a:lstStyle/>
          <a:p>
            <a:r>
              <a:rPr lang="en-US" dirty="0"/>
              <a:t>		Transmit: WA5FRF near San Antonio, TX. Waveform: 10 Hz/ms Chirps.</a:t>
            </a:r>
          </a:p>
          <a:p>
            <a:r>
              <a:rPr lang="en-US" dirty="0"/>
              <a:t>		Receive: AB5YO at 8.8 km and N5DUP at 317 km near Abilene, TX.</a:t>
            </a:r>
          </a:p>
          <a:p>
            <a:r>
              <a:rPr lang="en-US" dirty="0"/>
              <a:t>Eclipse Path of Totality was almost directly overhead TX location and nearly aligned with 317 km path.</a:t>
            </a:r>
          </a:p>
        </p:txBody>
      </p:sp>
      <p:sp>
        <p:nvSpPr>
          <p:cNvPr id="4" name="TextBox 3">
            <a:extLst>
              <a:ext uri="{FF2B5EF4-FFF2-40B4-BE49-F238E27FC236}">
                <a16:creationId xmlns:a16="http://schemas.microsoft.com/office/drawing/2014/main" id="{66FE8B37-8E56-CDD1-D303-554F89C07384}"/>
              </a:ext>
            </a:extLst>
          </p:cNvPr>
          <p:cNvSpPr txBox="1"/>
          <p:nvPr/>
        </p:nvSpPr>
        <p:spPr>
          <a:xfrm>
            <a:off x="2777698" y="5280208"/>
            <a:ext cx="6923114" cy="369332"/>
          </a:xfrm>
          <a:prstGeom prst="rect">
            <a:avLst/>
          </a:prstGeom>
          <a:noFill/>
        </p:spPr>
        <p:txBody>
          <a:bodyPr wrap="none" rtlCol="0">
            <a:spAutoFit/>
          </a:bodyPr>
          <a:lstStyle/>
          <a:p>
            <a:r>
              <a:rPr lang="en-US" dirty="0"/>
              <a:t>Manual ionosonde scaling averaged height data for higher resolution.</a:t>
            </a:r>
          </a:p>
        </p:txBody>
      </p:sp>
    </p:spTree>
    <p:extLst>
      <p:ext uri="{BB962C8B-B14F-4D97-AF65-F5344CB8AC3E}">
        <p14:creationId xmlns:p14="http://schemas.microsoft.com/office/powerpoint/2010/main" val="3850004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BA927E5-825B-79D0-7DB1-11CCBB26DBAD}"/>
              </a:ext>
            </a:extLst>
          </p:cNvPr>
          <p:cNvSpPr>
            <a:spLocks noGrp="1" noRot="1" noMove="1" noResize="1" noEditPoints="1" noAdjustHandles="1" noChangeArrowheads="1" noChangeShapeType="1"/>
          </p:cNvSpPr>
          <p:nvPr>
            <p:ph type="title"/>
          </p:nvPr>
        </p:nvSpPr>
        <p:spPr>
          <a:xfrm>
            <a:off x="341618" y="144259"/>
            <a:ext cx="11313541" cy="1302326"/>
          </a:xfrm>
        </p:spPr>
        <p:txBody>
          <a:bodyPr>
            <a:noAutofit/>
          </a:bodyPr>
          <a:lstStyle/>
          <a:p>
            <a:r>
              <a:rPr lang="en-US" sz="3200" dirty="0"/>
              <a:t>Simultaneous TDOA Measurements at Different Frequencies Over the Same Path Gave Different Height Profiles </a:t>
            </a:r>
          </a:p>
        </p:txBody>
      </p:sp>
      <p:pic>
        <p:nvPicPr>
          <p:cNvPr id="7" name="Picture 6" descr="A graph with blue lines and black text&#10;&#10;Description automatically generated">
            <a:extLst>
              <a:ext uri="{FF2B5EF4-FFF2-40B4-BE49-F238E27FC236}">
                <a16:creationId xmlns:a16="http://schemas.microsoft.com/office/drawing/2014/main" id="{6E30EDFE-8036-602D-F0D4-A8DFC285487A}"/>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341618" y="1630424"/>
            <a:ext cx="5754382" cy="3155950"/>
          </a:xfrm>
          <a:prstGeom prst="rect">
            <a:avLst/>
          </a:prstGeom>
        </p:spPr>
      </p:pic>
      <p:sp>
        <p:nvSpPr>
          <p:cNvPr id="9" name="TextBox 8">
            <a:extLst>
              <a:ext uri="{FF2B5EF4-FFF2-40B4-BE49-F238E27FC236}">
                <a16:creationId xmlns:a16="http://schemas.microsoft.com/office/drawing/2014/main" id="{8BD5C5ED-11B2-D6D0-54FF-76D3C8431B15}"/>
              </a:ext>
            </a:extLst>
          </p:cNvPr>
          <p:cNvSpPr txBox="1">
            <a:spLocks noGrp="1" noRot="1" noMove="1" noResize="1" noEditPoints="1" noAdjustHandles="1" noChangeArrowheads="1" noChangeShapeType="1"/>
          </p:cNvSpPr>
          <p:nvPr/>
        </p:nvSpPr>
        <p:spPr>
          <a:xfrm>
            <a:off x="838200" y="4766447"/>
            <a:ext cx="4571999" cy="923330"/>
          </a:xfrm>
          <a:prstGeom prst="rect">
            <a:avLst/>
          </a:prstGeom>
          <a:noFill/>
        </p:spPr>
        <p:txBody>
          <a:bodyPr wrap="square" rtlCol="0">
            <a:spAutoFit/>
          </a:bodyPr>
          <a:lstStyle/>
          <a:p>
            <a:r>
              <a:rPr lang="en-US" dirty="0"/>
              <a:t>5.3 MHz TDOA data showed a height bump near the time of eclipse passage in Texas.</a:t>
            </a:r>
          </a:p>
          <a:p>
            <a:r>
              <a:rPr lang="en-US" dirty="0"/>
              <a:t>Austin ionosonde hmF2 overlay.</a:t>
            </a:r>
          </a:p>
        </p:txBody>
      </p:sp>
      <p:sp>
        <p:nvSpPr>
          <p:cNvPr id="10" name="TextBox 9">
            <a:extLst>
              <a:ext uri="{FF2B5EF4-FFF2-40B4-BE49-F238E27FC236}">
                <a16:creationId xmlns:a16="http://schemas.microsoft.com/office/drawing/2014/main" id="{172CF9AE-2F71-D7F6-162C-EE8460255702}"/>
              </a:ext>
            </a:extLst>
          </p:cNvPr>
          <p:cNvSpPr txBox="1">
            <a:spLocks noGrp="1" noRot="1" noMove="1" noResize="1" noEditPoints="1" noAdjustHandles="1" noChangeArrowheads="1" noChangeShapeType="1"/>
          </p:cNvSpPr>
          <p:nvPr/>
        </p:nvSpPr>
        <p:spPr>
          <a:xfrm>
            <a:off x="510344" y="5790411"/>
            <a:ext cx="11171311" cy="646331"/>
          </a:xfrm>
          <a:prstGeom prst="rect">
            <a:avLst/>
          </a:prstGeom>
          <a:noFill/>
        </p:spPr>
        <p:txBody>
          <a:bodyPr wrap="square" rtlCol="0">
            <a:spAutoFit/>
          </a:bodyPr>
          <a:lstStyle/>
          <a:p>
            <a:pPr algn="ctr"/>
            <a:r>
              <a:rPr lang="en-US" dirty="0"/>
              <a:t>Path: 8.8 km ground distance for Near Vertical Incidence Skywave (NVIS)</a:t>
            </a:r>
          </a:p>
          <a:p>
            <a:pPr algn="ctr"/>
            <a:r>
              <a:rPr lang="en-US" dirty="0"/>
              <a:t>5.3 MHz data analyzed by Steve Cerwin WA5FRF; 7.3 MHz data analyzed by Sam Blackshear AB5YO</a:t>
            </a:r>
          </a:p>
        </p:txBody>
      </p:sp>
      <p:sp>
        <p:nvSpPr>
          <p:cNvPr id="11" name="TextBox 10">
            <a:extLst>
              <a:ext uri="{FF2B5EF4-FFF2-40B4-BE49-F238E27FC236}">
                <a16:creationId xmlns:a16="http://schemas.microsoft.com/office/drawing/2014/main" id="{C4D6D4B8-CE90-C0DF-CE17-3E299B036088}"/>
              </a:ext>
            </a:extLst>
          </p:cNvPr>
          <p:cNvSpPr txBox="1"/>
          <p:nvPr/>
        </p:nvSpPr>
        <p:spPr>
          <a:xfrm>
            <a:off x="3268287" y="2527686"/>
            <a:ext cx="1613006" cy="369332"/>
          </a:xfrm>
          <a:prstGeom prst="rect">
            <a:avLst/>
          </a:prstGeom>
          <a:solidFill>
            <a:schemeClr val="bg1"/>
          </a:solidFill>
        </p:spPr>
        <p:txBody>
          <a:bodyPr wrap="none" rtlCol="0">
            <a:spAutoFit/>
          </a:bodyPr>
          <a:lstStyle/>
          <a:p>
            <a:r>
              <a:rPr lang="en-US" dirty="0"/>
              <a:t>Eclipse Passage</a:t>
            </a:r>
          </a:p>
        </p:txBody>
      </p:sp>
      <p:cxnSp>
        <p:nvCxnSpPr>
          <p:cNvPr id="12" name="Straight Arrow Connector 11">
            <a:extLst>
              <a:ext uri="{FF2B5EF4-FFF2-40B4-BE49-F238E27FC236}">
                <a16:creationId xmlns:a16="http://schemas.microsoft.com/office/drawing/2014/main" id="{85D75297-F484-B30C-B24E-90383F25E0C0}"/>
              </a:ext>
            </a:extLst>
          </p:cNvPr>
          <p:cNvCxnSpPr>
            <a:cxnSpLocks/>
          </p:cNvCxnSpPr>
          <p:nvPr/>
        </p:nvCxnSpPr>
        <p:spPr>
          <a:xfrm>
            <a:off x="3743077" y="2914602"/>
            <a:ext cx="512402" cy="0"/>
          </a:xfrm>
          <a:prstGeom prst="straightConnector1">
            <a:avLst/>
          </a:prstGeom>
          <a:ln w="31750">
            <a:headEnd type="triangle"/>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0282EC7-648C-00CB-45A5-DFA32F585C39}"/>
              </a:ext>
            </a:extLst>
          </p:cNvPr>
          <p:cNvSpPr txBox="1"/>
          <p:nvPr/>
        </p:nvSpPr>
        <p:spPr>
          <a:xfrm>
            <a:off x="793808" y="2453351"/>
            <a:ext cx="2184381" cy="307777"/>
          </a:xfrm>
          <a:prstGeom prst="rect">
            <a:avLst/>
          </a:prstGeom>
          <a:noFill/>
        </p:spPr>
        <p:txBody>
          <a:bodyPr wrap="none" rtlCol="0">
            <a:spAutoFit/>
          </a:bodyPr>
          <a:lstStyle/>
          <a:p>
            <a:r>
              <a:rPr lang="en-US" sz="1400" dirty="0">
                <a:latin typeface="+mj-lt"/>
                <a:ea typeface="Verdana" panose="020B0604030504040204" pitchFamily="34" charset="0"/>
                <a:cs typeface="Arial" panose="020B0604020202020204" pitchFamily="34" charset="0"/>
              </a:rPr>
              <a:t>Standard ionosonde scaling</a:t>
            </a:r>
          </a:p>
        </p:txBody>
      </p:sp>
      <p:pic>
        <p:nvPicPr>
          <p:cNvPr id="6" name="Picture 5" descr="A graph with blue and red lines&#10;&#10;Description automatically generated">
            <a:extLst>
              <a:ext uri="{FF2B5EF4-FFF2-40B4-BE49-F238E27FC236}">
                <a16:creationId xmlns:a16="http://schemas.microsoft.com/office/drawing/2014/main" id="{66D33A3F-711D-9CDB-E943-B5D4275CF83C}"/>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181124" y="1630424"/>
            <a:ext cx="5893096" cy="3451530"/>
          </a:xfrm>
          <a:prstGeom prst="rect">
            <a:avLst/>
          </a:prstGeom>
        </p:spPr>
      </p:pic>
      <p:sp>
        <p:nvSpPr>
          <p:cNvPr id="8" name="TextBox 7">
            <a:extLst>
              <a:ext uri="{FF2B5EF4-FFF2-40B4-BE49-F238E27FC236}">
                <a16:creationId xmlns:a16="http://schemas.microsoft.com/office/drawing/2014/main" id="{D7893B55-E6CF-2C09-E97F-FEC9372B25DC}"/>
              </a:ext>
            </a:extLst>
          </p:cNvPr>
          <p:cNvSpPr txBox="1">
            <a:spLocks noGrp="1" noRot="1" noMove="1" noResize="1" noEditPoints="1" noAdjustHandles="1" noChangeArrowheads="1" noChangeShapeType="1"/>
          </p:cNvSpPr>
          <p:nvPr/>
        </p:nvSpPr>
        <p:spPr>
          <a:xfrm>
            <a:off x="7105319" y="4720923"/>
            <a:ext cx="3784597" cy="923330"/>
          </a:xfrm>
          <a:prstGeom prst="rect">
            <a:avLst/>
          </a:prstGeom>
          <a:solidFill>
            <a:schemeClr val="bg1"/>
          </a:solidFill>
        </p:spPr>
        <p:txBody>
          <a:bodyPr wrap="square" rtlCol="0">
            <a:spAutoFit/>
          </a:bodyPr>
          <a:lstStyle/>
          <a:p>
            <a:r>
              <a:rPr lang="en-US" dirty="0"/>
              <a:t>7.3 MHz TDOA data did not show a height bump. Manually scaled ionosonde hmF2 overlay.</a:t>
            </a:r>
          </a:p>
        </p:txBody>
      </p:sp>
    </p:spTree>
    <p:extLst>
      <p:ext uri="{BB962C8B-B14F-4D97-AF65-F5344CB8AC3E}">
        <p14:creationId xmlns:p14="http://schemas.microsoft.com/office/powerpoint/2010/main" val="1928906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graph with red and blue lines&#10;&#10;Description automatically generated">
            <a:extLst>
              <a:ext uri="{FF2B5EF4-FFF2-40B4-BE49-F238E27FC236}">
                <a16:creationId xmlns:a16="http://schemas.microsoft.com/office/drawing/2014/main" id="{7CF951D2-3FDF-9C29-CFA1-83B12EB96340}"/>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5634005" y="2788724"/>
            <a:ext cx="6436991" cy="3494911"/>
          </a:xfrm>
          <a:prstGeom prst="rect">
            <a:avLst/>
          </a:prstGeom>
        </p:spPr>
      </p:pic>
      <p:sp>
        <p:nvSpPr>
          <p:cNvPr id="2" name="Title 1">
            <a:extLst>
              <a:ext uri="{FF2B5EF4-FFF2-40B4-BE49-F238E27FC236}">
                <a16:creationId xmlns:a16="http://schemas.microsoft.com/office/drawing/2014/main" id="{A710BB1C-B29E-5B11-B858-925734D5F1A7}"/>
              </a:ext>
            </a:extLst>
          </p:cNvPr>
          <p:cNvSpPr>
            <a:spLocks noGrp="1" noRot="1" noMove="1" noResize="1" noEditPoints="1" noAdjustHandles="1" noChangeArrowheads="1" noChangeShapeType="1"/>
          </p:cNvSpPr>
          <p:nvPr>
            <p:ph type="title"/>
          </p:nvPr>
        </p:nvSpPr>
        <p:spPr>
          <a:xfrm>
            <a:off x="241662" y="131107"/>
            <a:ext cx="4867234" cy="2458199"/>
          </a:xfrm>
          <a:solidFill>
            <a:schemeClr val="bg1"/>
          </a:solidFill>
        </p:spPr>
        <p:txBody>
          <a:bodyPr>
            <a:noAutofit/>
          </a:bodyPr>
          <a:lstStyle/>
          <a:p>
            <a:r>
              <a:rPr lang="en-US" sz="2800" dirty="0"/>
              <a:t>TDOA “Outliers” Gave Consistent Layer Height Calculations when Processed with the Right Multi-Mode Formula</a:t>
            </a:r>
          </a:p>
        </p:txBody>
      </p:sp>
      <p:sp>
        <p:nvSpPr>
          <p:cNvPr id="7" name="TextBox 6">
            <a:extLst>
              <a:ext uri="{FF2B5EF4-FFF2-40B4-BE49-F238E27FC236}">
                <a16:creationId xmlns:a16="http://schemas.microsoft.com/office/drawing/2014/main" id="{3719FF6E-6CA7-8FF0-2E95-CCE5482977C8}"/>
              </a:ext>
            </a:extLst>
          </p:cNvPr>
          <p:cNvSpPr txBox="1"/>
          <p:nvPr/>
        </p:nvSpPr>
        <p:spPr>
          <a:xfrm>
            <a:off x="11227692" y="5667994"/>
            <a:ext cx="769763" cy="261610"/>
          </a:xfrm>
          <a:prstGeom prst="rect">
            <a:avLst/>
          </a:prstGeom>
          <a:noFill/>
        </p:spPr>
        <p:txBody>
          <a:bodyPr wrap="none" rtlCol="0">
            <a:spAutoFit/>
          </a:bodyPr>
          <a:lstStyle/>
          <a:p>
            <a:r>
              <a:rPr lang="en-US" sz="1100" dirty="0"/>
              <a:t>Time UTC</a:t>
            </a:r>
          </a:p>
        </p:txBody>
      </p:sp>
      <p:sp>
        <p:nvSpPr>
          <p:cNvPr id="8" name="TextBox 7">
            <a:extLst>
              <a:ext uri="{FF2B5EF4-FFF2-40B4-BE49-F238E27FC236}">
                <a16:creationId xmlns:a16="http://schemas.microsoft.com/office/drawing/2014/main" id="{1392B173-B6B2-AA99-3B36-82A512C47924}"/>
              </a:ext>
            </a:extLst>
          </p:cNvPr>
          <p:cNvSpPr txBox="1"/>
          <p:nvPr/>
        </p:nvSpPr>
        <p:spPr>
          <a:xfrm>
            <a:off x="11227692" y="2055797"/>
            <a:ext cx="769763" cy="261610"/>
          </a:xfrm>
          <a:prstGeom prst="rect">
            <a:avLst/>
          </a:prstGeom>
          <a:noFill/>
        </p:spPr>
        <p:txBody>
          <a:bodyPr wrap="none" rtlCol="0">
            <a:spAutoFit/>
          </a:bodyPr>
          <a:lstStyle/>
          <a:p>
            <a:r>
              <a:rPr lang="en-US" sz="1100" dirty="0"/>
              <a:t>Time UTC</a:t>
            </a:r>
          </a:p>
        </p:txBody>
      </p:sp>
      <p:sp>
        <p:nvSpPr>
          <p:cNvPr id="9" name="TextBox 8">
            <a:extLst>
              <a:ext uri="{FF2B5EF4-FFF2-40B4-BE49-F238E27FC236}">
                <a16:creationId xmlns:a16="http://schemas.microsoft.com/office/drawing/2014/main" id="{9DDF9C68-FEF3-9223-7CB3-0E45EFAFDE3D}"/>
              </a:ext>
            </a:extLst>
          </p:cNvPr>
          <p:cNvSpPr txBox="1"/>
          <p:nvPr/>
        </p:nvSpPr>
        <p:spPr>
          <a:xfrm>
            <a:off x="6988522" y="2265504"/>
            <a:ext cx="4463884" cy="523220"/>
          </a:xfrm>
          <a:prstGeom prst="rect">
            <a:avLst/>
          </a:prstGeom>
          <a:noFill/>
        </p:spPr>
        <p:txBody>
          <a:bodyPr wrap="square" rtlCol="0">
            <a:spAutoFit/>
          </a:bodyPr>
          <a:lstStyle/>
          <a:p>
            <a:r>
              <a:rPr lang="en-US" sz="1400" dirty="0"/>
              <a:t>TDOA “Outliers” were Found to Have TDOA Values that Matched Mixed Layer Propagation</a:t>
            </a:r>
          </a:p>
        </p:txBody>
      </p:sp>
      <p:pic>
        <p:nvPicPr>
          <p:cNvPr id="13" name="Picture 12" descr="A graph with blue and red lines and arrows&#10;&#10;Description automatically generated">
            <a:extLst>
              <a:ext uri="{FF2B5EF4-FFF2-40B4-BE49-F238E27FC236}">
                <a16:creationId xmlns:a16="http://schemas.microsoft.com/office/drawing/2014/main" id="{6027CB02-5EB5-8623-A92A-912B330A2A28}"/>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148817" y="2576149"/>
            <a:ext cx="5387280" cy="3596113"/>
          </a:xfrm>
          <a:prstGeom prst="rect">
            <a:avLst/>
          </a:prstGeom>
        </p:spPr>
      </p:pic>
      <p:sp>
        <p:nvSpPr>
          <p:cNvPr id="14" name="TextBox 13">
            <a:extLst>
              <a:ext uri="{FF2B5EF4-FFF2-40B4-BE49-F238E27FC236}">
                <a16:creationId xmlns:a16="http://schemas.microsoft.com/office/drawing/2014/main" id="{201FD1E3-1A30-6CCD-7386-30A7FB479335}"/>
              </a:ext>
            </a:extLst>
          </p:cNvPr>
          <p:cNvSpPr txBox="1"/>
          <p:nvPr/>
        </p:nvSpPr>
        <p:spPr>
          <a:xfrm>
            <a:off x="9125176" y="686359"/>
            <a:ext cx="1947777" cy="523220"/>
          </a:xfrm>
          <a:prstGeom prst="rect">
            <a:avLst/>
          </a:prstGeom>
          <a:solidFill>
            <a:schemeClr val="bg1"/>
          </a:solidFill>
        </p:spPr>
        <p:txBody>
          <a:bodyPr wrap="none" rtlCol="0">
            <a:spAutoFit/>
          </a:bodyPr>
          <a:lstStyle/>
          <a:p>
            <a:r>
              <a:rPr lang="en-US" sz="1400" dirty="0"/>
              <a:t>Correlation Processing</a:t>
            </a:r>
          </a:p>
          <a:p>
            <a:r>
              <a:rPr lang="en-US" sz="1400" dirty="0"/>
              <a:t>Beat Note Processing</a:t>
            </a:r>
          </a:p>
        </p:txBody>
      </p:sp>
      <p:cxnSp>
        <p:nvCxnSpPr>
          <p:cNvPr id="16" name="Straight Arrow Connector 15">
            <a:extLst>
              <a:ext uri="{FF2B5EF4-FFF2-40B4-BE49-F238E27FC236}">
                <a16:creationId xmlns:a16="http://schemas.microsoft.com/office/drawing/2014/main" id="{1D699B8C-1036-79F2-5BE4-E3C984D55F81}"/>
              </a:ext>
            </a:extLst>
          </p:cNvPr>
          <p:cNvCxnSpPr/>
          <p:nvPr/>
        </p:nvCxnSpPr>
        <p:spPr>
          <a:xfrm flipH="1">
            <a:off x="8378687" y="832237"/>
            <a:ext cx="746489" cy="1157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CA33B99B-8D41-4C12-4A5B-6ED12F83FEC6}"/>
              </a:ext>
            </a:extLst>
          </p:cNvPr>
          <p:cNvCxnSpPr>
            <a:cxnSpLocks/>
          </p:cNvCxnSpPr>
          <p:nvPr/>
        </p:nvCxnSpPr>
        <p:spPr>
          <a:xfrm flipH="1">
            <a:off x="8847220" y="1141056"/>
            <a:ext cx="277956" cy="2191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60277EF9-D3D1-1E97-3D19-12A9DBDFA3FB}"/>
              </a:ext>
            </a:extLst>
          </p:cNvPr>
          <p:cNvSpPr txBox="1"/>
          <p:nvPr/>
        </p:nvSpPr>
        <p:spPr>
          <a:xfrm>
            <a:off x="6500034" y="264470"/>
            <a:ext cx="4572919" cy="369332"/>
          </a:xfrm>
          <a:prstGeom prst="rect">
            <a:avLst/>
          </a:prstGeom>
          <a:solidFill>
            <a:schemeClr val="bg1"/>
          </a:solidFill>
        </p:spPr>
        <p:txBody>
          <a:bodyPr wrap="none" rtlCol="0">
            <a:spAutoFit/>
          </a:bodyPr>
          <a:lstStyle/>
          <a:p>
            <a:r>
              <a:rPr lang="en-US" dirty="0"/>
              <a:t>Beat Note and Correlation TDOA Processing </a:t>
            </a:r>
          </a:p>
        </p:txBody>
      </p:sp>
      <p:sp>
        <p:nvSpPr>
          <p:cNvPr id="21" name="TextBox 20">
            <a:extLst>
              <a:ext uri="{FF2B5EF4-FFF2-40B4-BE49-F238E27FC236}">
                <a16:creationId xmlns:a16="http://schemas.microsoft.com/office/drawing/2014/main" id="{2C16DE96-D736-3730-5BC0-29A09DE424EC}"/>
              </a:ext>
            </a:extLst>
          </p:cNvPr>
          <p:cNvSpPr txBox="1"/>
          <p:nvPr/>
        </p:nvSpPr>
        <p:spPr>
          <a:xfrm>
            <a:off x="6013016" y="4947584"/>
            <a:ext cx="2241063" cy="523220"/>
          </a:xfrm>
          <a:prstGeom prst="rect">
            <a:avLst/>
          </a:prstGeom>
          <a:noFill/>
        </p:spPr>
        <p:txBody>
          <a:bodyPr wrap="none" rtlCol="0">
            <a:spAutoFit/>
          </a:bodyPr>
          <a:lstStyle/>
          <a:p>
            <a:r>
              <a:rPr lang="en-US" sz="1400" dirty="0"/>
              <a:t>N.B. Internet SDR Receiver</a:t>
            </a:r>
          </a:p>
          <a:p>
            <a:r>
              <a:rPr lang="en-US" sz="1400" dirty="0"/>
              <a:t>Keller, TX</a:t>
            </a:r>
          </a:p>
        </p:txBody>
      </p:sp>
      <p:sp>
        <p:nvSpPr>
          <p:cNvPr id="3" name="TextBox 2">
            <a:extLst>
              <a:ext uri="{FF2B5EF4-FFF2-40B4-BE49-F238E27FC236}">
                <a16:creationId xmlns:a16="http://schemas.microsoft.com/office/drawing/2014/main" id="{E18D1CC8-EBDA-4FB1-8531-F27FE485E646}"/>
              </a:ext>
            </a:extLst>
          </p:cNvPr>
          <p:cNvSpPr txBox="1">
            <a:spLocks noGrp="1" noRot="1" noMove="1" noResize="1" noEditPoints="1" noAdjustHandles="1" noChangeArrowheads="1" noChangeShapeType="1"/>
          </p:cNvSpPr>
          <p:nvPr/>
        </p:nvSpPr>
        <p:spPr>
          <a:xfrm>
            <a:off x="531803" y="6187450"/>
            <a:ext cx="11128394" cy="648655"/>
          </a:xfrm>
          <a:prstGeom prst="rect">
            <a:avLst/>
          </a:prstGeom>
          <a:noFill/>
        </p:spPr>
        <p:txBody>
          <a:bodyPr wrap="square" rtlCol="0">
            <a:spAutoFit/>
          </a:bodyPr>
          <a:lstStyle/>
          <a:p>
            <a:r>
              <a:rPr lang="en-US" dirty="0"/>
              <a:t>N.B. See Poster Paper SA51D-2371 by Alexandros Papadopoulos et al for TDOA data plots showing many more mixed-layer  captures identified by using an automated FFT analysis of chirp beat note frequency. </a:t>
            </a:r>
          </a:p>
        </p:txBody>
      </p:sp>
      <p:pic>
        <p:nvPicPr>
          <p:cNvPr id="4" name="Picture 3" descr="A graph with blue and orange lines&#10;&#10;Description automatically generated">
            <a:extLst>
              <a:ext uri="{FF2B5EF4-FFF2-40B4-BE49-F238E27FC236}">
                <a16:creationId xmlns:a16="http://schemas.microsoft.com/office/drawing/2014/main" id="{A9DE3F18-8F6A-C5A3-0F58-6A5692983BA1}"/>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5108896" y="330525"/>
            <a:ext cx="7083104" cy="1986882"/>
          </a:xfrm>
          <a:prstGeom prst="rect">
            <a:avLst/>
          </a:prstGeom>
        </p:spPr>
      </p:pic>
    </p:spTree>
    <p:extLst>
      <p:ext uri="{BB962C8B-B14F-4D97-AF65-F5344CB8AC3E}">
        <p14:creationId xmlns:p14="http://schemas.microsoft.com/office/powerpoint/2010/main" val="4079259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85A56-7494-B8A9-490C-747C374BAE78}"/>
              </a:ext>
            </a:extLst>
          </p:cNvPr>
          <p:cNvSpPr>
            <a:spLocks noGrp="1"/>
          </p:cNvSpPr>
          <p:nvPr>
            <p:ph type="title"/>
          </p:nvPr>
        </p:nvSpPr>
        <p:spPr>
          <a:xfrm>
            <a:off x="192529" y="167353"/>
            <a:ext cx="10393808" cy="423774"/>
          </a:xfrm>
        </p:spPr>
        <p:txBody>
          <a:bodyPr>
            <a:normAutofit fontScale="90000"/>
          </a:bodyPr>
          <a:lstStyle/>
          <a:p>
            <a:r>
              <a:rPr lang="en-US" dirty="0"/>
              <a:t>Summary Observations and Future Development</a:t>
            </a:r>
          </a:p>
        </p:txBody>
      </p:sp>
      <p:sp>
        <p:nvSpPr>
          <p:cNvPr id="3" name="Content Placeholder 2">
            <a:extLst>
              <a:ext uri="{FF2B5EF4-FFF2-40B4-BE49-F238E27FC236}">
                <a16:creationId xmlns:a16="http://schemas.microsoft.com/office/drawing/2014/main" id="{684CDA76-89AD-47B9-8A95-73190129A6CB}"/>
              </a:ext>
            </a:extLst>
          </p:cNvPr>
          <p:cNvSpPr>
            <a:spLocks noGrp="1"/>
          </p:cNvSpPr>
          <p:nvPr>
            <p:ph idx="1"/>
          </p:nvPr>
        </p:nvSpPr>
        <p:spPr>
          <a:xfrm>
            <a:off x="192529" y="674255"/>
            <a:ext cx="11806941" cy="6108755"/>
          </a:xfrm>
        </p:spPr>
        <p:txBody>
          <a:bodyPr>
            <a:normAutofit lnSpcReduction="10000"/>
          </a:bodyPr>
          <a:lstStyle/>
          <a:p>
            <a:r>
              <a:rPr lang="en-US" sz="2000" dirty="0"/>
              <a:t>The Time Difference of Arrival (TDOA) method has demonstrated the ability to calculate ionization layer height when reconciled with a virtual height model of the ionosphere. Experimental results gave good agreement with ionosonde hmF2 data. </a:t>
            </a:r>
          </a:p>
          <a:p>
            <a:r>
              <a:rPr lang="en-US" sz="2000" dirty="0"/>
              <a:t>Received chirp waveforms must be vetted for quality and mode identification. </a:t>
            </a:r>
          </a:p>
          <a:p>
            <a:r>
              <a:rPr lang="en-US" sz="2000" dirty="0"/>
              <a:t>TDOA-derived F2 height calculations showed path invariance when performed at the same frequency over different path lengths but frequency dependence when performed at different frequencies over the same path.</a:t>
            </a:r>
          </a:p>
          <a:p>
            <a:r>
              <a:rPr lang="en-US" sz="2000" dirty="0"/>
              <a:t>The height bumps observed during the 2023 annular eclipse and reported at AGU last year were not as distinct in the 2024 total eclipse data. A potentially significant difference is the direction of eclipse passage and angular orientation relative to the propagation path. Frequency dependencies were noted in the height bumps in both data sets.</a:t>
            </a:r>
          </a:p>
          <a:p>
            <a:r>
              <a:rPr lang="en-US" sz="2000" dirty="0"/>
              <a:t>E layer transmission/reflection properties appeared to drive multipath mode by selectively blocking access to the F2 layer. Correlation with WWV Doppler spectrograms should provide additional insight to layer behavior and is planned. </a:t>
            </a:r>
          </a:p>
          <a:p>
            <a:r>
              <a:rPr lang="en-US" sz="2000" dirty="0"/>
              <a:t>Best conditions for measuring F2 layer height were obtained with ground distances less than 1000 km where the TDOA values are longer and better defined. The higher angles penetrate the E layer better for improved F2 layer access.</a:t>
            </a:r>
          </a:p>
          <a:p>
            <a:r>
              <a:rPr lang="en-US" sz="2000" dirty="0"/>
              <a:t>A limitation with the current chirp waveform is the short time duration imposed by audio bandwidth restrictions in amateur radios. A series of concatenated up-down chirps is under development to obtain an arbitrarily long beat note waveform while remaining within common audio passbands. </a:t>
            </a:r>
          </a:p>
        </p:txBody>
      </p:sp>
    </p:spTree>
    <p:extLst>
      <p:ext uri="{BB962C8B-B14F-4D97-AF65-F5344CB8AC3E}">
        <p14:creationId xmlns:p14="http://schemas.microsoft.com/office/powerpoint/2010/main" val="34328219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20308</TotalTime>
  <Words>2524</Words>
  <Application>Microsoft Office PowerPoint</Application>
  <PresentationFormat>Widescreen</PresentationFormat>
  <Paragraphs>112</Paragraphs>
  <Slides>9</Slides>
  <Notes>9</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Aptos Display</vt:lpstr>
      <vt:lpstr>Arial</vt:lpstr>
      <vt:lpstr>avenir_nextdemi_bold</vt:lpstr>
      <vt:lpstr>Calibri</vt:lpstr>
      <vt:lpstr>Symbol</vt:lpstr>
      <vt:lpstr>Office Theme</vt:lpstr>
      <vt:lpstr>HamSCI HF Multipath Propagation Mode Analysis Using Amateur Radios and Audio Waveforms Sensitive to Time Difference of Arrival (TDOA) </vt:lpstr>
      <vt:lpstr>Time Difference of Arrival (TDOA) Experiment to Deduce Multipath Propagation Modes and Measure Ionospheric Layer Heights</vt:lpstr>
      <vt:lpstr>The TDOA Experiment Seeks to Identify Multipath Propagation Modes Between Two HF Radio Stations and Measure F2 Layer Height by Sensing and Analyzing Time Differences of Arrival (TDOA)</vt:lpstr>
      <vt:lpstr>An Audio Frequency Chirp Transmitted By Stock SSB or AM Amateur Radios Can be Used to Measure Time Difference of Arrival (TDOA) </vt:lpstr>
      <vt:lpstr>Setup for TDOA Eclipse Experiments</vt:lpstr>
      <vt:lpstr>Layer Heights Calculated from TDOA at the Same Frequency Over Different Path Lengths Agreed Well with Each Other and With the Austin, TX Ionosonde</vt:lpstr>
      <vt:lpstr>Simultaneous TDOA Measurements at Different Frequencies Over the Same Path Gave Different Height Profiles </vt:lpstr>
      <vt:lpstr>TDOA “Outliers” Gave Consistent Layer Height Calculations when Processed with the Right Multi-Mode Formula</vt:lpstr>
      <vt:lpstr>Summary Observations and Future Development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 Cerwin</dc:creator>
  <cp:lastModifiedBy>Dr. Nathaniel A. Frissell Ph.D.</cp:lastModifiedBy>
  <cp:revision>153</cp:revision>
  <dcterms:created xsi:type="dcterms:W3CDTF">2024-10-19T11:54:09Z</dcterms:created>
  <dcterms:modified xsi:type="dcterms:W3CDTF">2025-07-19T15:38:35Z</dcterms:modified>
</cp:coreProperties>
</file>