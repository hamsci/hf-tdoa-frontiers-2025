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rawings/drawing1.xml" ContentType="application/vnd.openxmlformats-officedocument.drawingml.chartshape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19"/>
  </p:notesMasterIdLst>
  <p:sldIdLst>
    <p:sldId id="403" r:id="rId3"/>
    <p:sldId id="455" r:id="rId4"/>
    <p:sldId id="446" r:id="rId5"/>
    <p:sldId id="459" r:id="rId6"/>
    <p:sldId id="447" r:id="rId7"/>
    <p:sldId id="448" r:id="rId8"/>
    <p:sldId id="449" r:id="rId9"/>
    <p:sldId id="450" r:id="rId10"/>
    <p:sldId id="451" r:id="rId11"/>
    <p:sldId id="452" r:id="rId12"/>
    <p:sldId id="453" r:id="rId13"/>
    <p:sldId id="454" r:id="rId14"/>
    <p:sldId id="271" r:id="rId15"/>
    <p:sldId id="456" r:id="rId16"/>
    <p:sldId id="458" r:id="rId17"/>
    <p:sldId id="457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137"/>
    <p:restoredTop sz="95009"/>
  </p:normalViewPr>
  <p:slideViewPr>
    <p:cSldViewPr snapToGrid="0">
      <p:cViewPr varScale="1">
        <p:scale>
          <a:sx n="62" d="100"/>
          <a:sy n="62" d="100"/>
        </p:scale>
        <p:origin x="62" y="3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\\Users\stevecerwin\Desktop\HamSCI\Timing%20Study%20012920\FlatEarth%20TOF%203.xlsx" TargetMode="Externa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chartUserShapes" Target="../drawings/drawing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smoothMarker"/>
        <c:varyColors val="0"/>
        <c:ser>
          <c:idx val="5"/>
          <c:order val="0"/>
          <c:tx>
            <c:strRef>
              <c:f>Sheet1!$E$1:$E$2</c:f>
              <c:strCache>
                <c:ptCount val="2"/>
                <c:pt idx="0">
                  <c:v>3 hop</c:v>
                </c:pt>
                <c:pt idx="1">
                  <c:v>Dist - km</c:v>
                </c:pt>
              </c:strCache>
            </c:strRef>
          </c:tx>
          <c:spPr>
            <a:ln w="19050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xVal>
            <c:numRef>
              <c:f>Sheet1!$B$3:$B$27</c:f>
              <c:numCache>
                <c:formatCode>General</c:formatCode>
                <c:ptCount val="25"/>
                <c:pt idx="0">
                  <c:v>50</c:v>
                </c:pt>
                <c:pt idx="1">
                  <c:v>75</c:v>
                </c:pt>
                <c:pt idx="2">
                  <c:v>100</c:v>
                </c:pt>
                <c:pt idx="3">
                  <c:v>125</c:v>
                </c:pt>
                <c:pt idx="4">
                  <c:v>150</c:v>
                </c:pt>
                <c:pt idx="5">
                  <c:v>175</c:v>
                </c:pt>
                <c:pt idx="6">
                  <c:v>200</c:v>
                </c:pt>
                <c:pt idx="7">
                  <c:v>225</c:v>
                </c:pt>
                <c:pt idx="8">
                  <c:v>250</c:v>
                </c:pt>
                <c:pt idx="9">
                  <c:v>275</c:v>
                </c:pt>
                <c:pt idx="10">
                  <c:v>300</c:v>
                </c:pt>
                <c:pt idx="11">
                  <c:v>325</c:v>
                </c:pt>
                <c:pt idx="12">
                  <c:v>350</c:v>
                </c:pt>
                <c:pt idx="13">
                  <c:v>375</c:v>
                </c:pt>
                <c:pt idx="14">
                  <c:v>400</c:v>
                </c:pt>
                <c:pt idx="15">
                  <c:v>425</c:v>
                </c:pt>
                <c:pt idx="16">
                  <c:v>450</c:v>
                </c:pt>
                <c:pt idx="17">
                  <c:v>475</c:v>
                </c:pt>
                <c:pt idx="18">
                  <c:v>500</c:v>
                </c:pt>
                <c:pt idx="19">
                  <c:v>525</c:v>
                </c:pt>
                <c:pt idx="20">
                  <c:v>550</c:v>
                </c:pt>
                <c:pt idx="21">
                  <c:v>575</c:v>
                </c:pt>
                <c:pt idx="22">
                  <c:v>600</c:v>
                </c:pt>
              </c:numCache>
            </c:numRef>
          </c:xVal>
          <c:yVal>
            <c:numRef>
              <c:f>Sheet1!$E$3:$E$27</c:f>
              <c:numCache>
                <c:formatCode>0</c:formatCode>
                <c:ptCount val="25"/>
                <c:pt idx="0">
                  <c:v>1382.9316685939332</c:v>
                </c:pt>
                <c:pt idx="1">
                  <c:v>1423.0249470757708</c:v>
                </c:pt>
                <c:pt idx="2">
                  <c:v>1477.3286702694159</c:v>
                </c:pt>
                <c:pt idx="3">
                  <c:v>1544.34452114805</c:v>
                </c:pt>
                <c:pt idx="4">
                  <c:v>1622.4980739587954</c:v>
                </c:pt>
                <c:pt idx="5">
                  <c:v>1710.263137648707</c:v>
                </c:pt>
                <c:pt idx="6">
                  <c:v>1806.2391868188445</c:v>
                </c:pt>
                <c:pt idx="7">
                  <c:v>1909.1883092036783</c:v>
                </c:pt>
                <c:pt idx="8">
                  <c:v>2018.0436070610567</c:v>
                </c:pt>
                <c:pt idx="9">
                  <c:v>2131.9005605327843</c:v>
                </c:pt>
                <c:pt idx="10">
                  <c:v>2250</c:v>
                </c:pt>
                <c:pt idx="11">
                  <c:v>2371.7082451262845</c:v>
                </c:pt>
                <c:pt idx="12">
                  <c:v>2496.4975465639859</c:v>
                </c:pt>
                <c:pt idx="13">
                  <c:v>2623.9283526803852</c:v>
                </c:pt>
                <c:pt idx="14">
                  <c:v>2753.633962602873</c:v>
                </c:pt>
                <c:pt idx="15">
                  <c:v>2885.3076092507017</c:v>
                </c:pt>
                <c:pt idx="16">
                  <c:v>3018.691769624716</c:v>
                </c:pt>
                <c:pt idx="17">
                  <c:v>3153.5694062442958</c:v>
                </c:pt>
                <c:pt idx="18">
                  <c:v>3289.7568299191962</c:v>
                </c:pt>
                <c:pt idx="19">
                  <c:v>3427.0978976387587</c:v>
                </c:pt>
                <c:pt idx="20">
                  <c:v>3565.4592972014143</c:v>
                </c:pt>
                <c:pt idx="21">
                  <c:v>3704.7267105685405</c:v>
                </c:pt>
                <c:pt idx="22">
                  <c:v>3844.8016853928893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5CE2-0F42-B6AC-594F69D695C9}"/>
            </c:ext>
          </c:extLst>
        </c:ser>
        <c:ser>
          <c:idx val="4"/>
          <c:order val="1"/>
          <c:tx>
            <c:strRef>
              <c:f>Sheet1!$D$1:$D$2</c:f>
              <c:strCache>
                <c:ptCount val="2"/>
                <c:pt idx="0">
                  <c:v>2 hop</c:v>
                </c:pt>
                <c:pt idx="1">
                  <c:v>Dist - km</c:v>
                </c:pt>
              </c:strCache>
            </c:strRef>
          </c:tx>
          <c:spPr>
            <a:ln w="19050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xVal>
            <c:numRef>
              <c:f>Sheet1!$B$3:$B$27</c:f>
              <c:numCache>
                <c:formatCode>General</c:formatCode>
                <c:ptCount val="25"/>
                <c:pt idx="0">
                  <c:v>50</c:v>
                </c:pt>
                <c:pt idx="1">
                  <c:v>75</c:v>
                </c:pt>
                <c:pt idx="2">
                  <c:v>100</c:v>
                </c:pt>
                <c:pt idx="3">
                  <c:v>125</c:v>
                </c:pt>
                <c:pt idx="4">
                  <c:v>150</c:v>
                </c:pt>
                <c:pt idx="5">
                  <c:v>175</c:v>
                </c:pt>
                <c:pt idx="6">
                  <c:v>200</c:v>
                </c:pt>
                <c:pt idx="7">
                  <c:v>225</c:v>
                </c:pt>
                <c:pt idx="8">
                  <c:v>250</c:v>
                </c:pt>
                <c:pt idx="9">
                  <c:v>275</c:v>
                </c:pt>
                <c:pt idx="10">
                  <c:v>300</c:v>
                </c:pt>
                <c:pt idx="11">
                  <c:v>325</c:v>
                </c:pt>
                <c:pt idx="12">
                  <c:v>350</c:v>
                </c:pt>
                <c:pt idx="13">
                  <c:v>375</c:v>
                </c:pt>
                <c:pt idx="14">
                  <c:v>400</c:v>
                </c:pt>
                <c:pt idx="15">
                  <c:v>425</c:v>
                </c:pt>
                <c:pt idx="16">
                  <c:v>450</c:v>
                </c:pt>
                <c:pt idx="17">
                  <c:v>475</c:v>
                </c:pt>
                <c:pt idx="18">
                  <c:v>500</c:v>
                </c:pt>
                <c:pt idx="19">
                  <c:v>525</c:v>
                </c:pt>
                <c:pt idx="20">
                  <c:v>550</c:v>
                </c:pt>
                <c:pt idx="21">
                  <c:v>575</c:v>
                </c:pt>
                <c:pt idx="22">
                  <c:v>600</c:v>
                </c:pt>
              </c:numCache>
            </c:numRef>
          </c:xVal>
          <c:yVal>
            <c:numRef>
              <c:f>Sheet1!$D$3:$D$27</c:f>
              <c:numCache>
                <c:formatCode>0</c:formatCode>
                <c:ptCount val="25"/>
                <c:pt idx="0">
                  <c:v>1364.734406395618</c:v>
                </c:pt>
                <c:pt idx="1">
                  <c:v>1382.9316685939332</c:v>
                </c:pt>
                <c:pt idx="2">
                  <c:v>1408.0127840328723</c:v>
                </c:pt>
                <c:pt idx="3">
                  <c:v>1439.6180048887968</c:v>
                </c:pt>
                <c:pt idx="4">
                  <c:v>1477.3286702694156</c:v>
                </c:pt>
                <c:pt idx="5">
                  <c:v>1520.6906325745549</c:v>
                </c:pt>
                <c:pt idx="6">
                  <c:v>1569.2354826475216</c:v>
                </c:pt>
                <c:pt idx="7">
                  <c:v>1622.4980739587952</c:v>
                </c:pt>
                <c:pt idx="8">
                  <c:v>1680.0297616411442</c:v>
                </c:pt>
                <c:pt idx="9">
                  <c:v>1741.4074767267998</c:v>
                </c:pt>
                <c:pt idx="10">
                  <c:v>1806.2391868188442</c:v>
                </c:pt>
                <c:pt idx="11">
                  <c:v>1874.1664813991313</c:v>
                </c:pt>
                <c:pt idx="12">
                  <c:v>1944.8650338776724</c:v>
                </c:pt>
                <c:pt idx="13">
                  <c:v>2018.0436070610565</c:v>
                </c:pt>
                <c:pt idx="14">
                  <c:v>2093.4421415458323</c:v>
                </c:pt>
                <c:pt idx="15">
                  <c:v>2170.829334609241</c:v>
                </c:pt>
                <c:pt idx="16">
                  <c:v>2250</c:v>
                </c:pt>
                <c:pt idx="17">
                  <c:v>2330.7724041613328</c:v>
                </c:pt>
                <c:pt idx="18">
                  <c:v>2412.9857024027306</c:v>
                </c:pt>
                <c:pt idx="19">
                  <c:v>2496.4975465639859</c:v>
                </c:pt>
                <c:pt idx="20">
                  <c:v>2581.1818998280614</c:v>
                </c:pt>
                <c:pt idx="21">
                  <c:v>2666.9270706189172</c:v>
                </c:pt>
                <c:pt idx="22">
                  <c:v>2753.633962602873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5CE2-0F42-B6AC-594F69D695C9}"/>
            </c:ext>
          </c:extLst>
        </c:ser>
        <c:ser>
          <c:idx val="3"/>
          <c:order val="2"/>
          <c:tx>
            <c:strRef>
              <c:f>Sheet1!$C$1:$C$2</c:f>
              <c:strCache>
                <c:ptCount val="2"/>
                <c:pt idx="0">
                  <c:v>1 hop</c:v>
                </c:pt>
                <c:pt idx="1">
                  <c:v>Dist - km</c:v>
                </c:pt>
              </c:strCache>
            </c:strRef>
          </c:tx>
          <c:spPr>
            <a:ln w="19050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xVal>
            <c:numRef>
              <c:f>Sheet1!$B$3:$B$27</c:f>
              <c:numCache>
                <c:formatCode>General</c:formatCode>
                <c:ptCount val="25"/>
                <c:pt idx="0">
                  <c:v>50</c:v>
                </c:pt>
                <c:pt idx="1">
                  <c:v>75</c:v>
                </c:pt>
                <c:pt idx="2">
                  <c:v>100</c:v>
                </c:pt>
                <c:pt idx="3">
                  <c:v>125</c:v>
                </c:pt>
                <c:pt idx="4">
                  <c:v>150</c:v>
                </c:pt>
                <c:pt idx="5">
                  <c:v>175</c:v>
                </c:pt>
                <c:pt idx="6">
                  <c:v>200</c:v>
                </c:pt>
                <c:pt idx="7">
                  <c:v>225</c:v>
                </c:pt>
                <c:pt idx="8">
                  <c:v>250</c:v>
                </c:pt>
                <c:pt idx="9">
                  <c:v>275</c:v>
                </c:pt>
                <c:pt idx="10">
                  <c:v>300</c:v>
                </c:pt>
                <c:pt idx="11">
                  <c:v>325</c:v>
                </c:pt>
                <c:pt idx="12">
                  <c:v>350</c:v>
                </c:pt>
                <c:pt idx="13">
                  <c:v>375</c:v>
                </c:pt>
                <c:pt idx="14">
                  <c:v>400</c:v>
                </c:pt>
                <c:pt idx="15">
                  <c:v>425</c:v>
                </c:pt>
                <c:pt idx="16">
                  <c:v>450</c:v>
                </c:pt>
                <c:pt idx="17">
                  <c:v>475</c:v>
                </c:pt>
                <c:pt idx="18">
                  <c:v>500</c:v>
                </c:pt>
                <c:pt idx="19">
                  <c:v>525</c:v>
                </c:pt>
                <c:pt idx="20">
                  <c:v>550</c:v>
                </c:pt>
                <c:pt idx="21">
                  <c:v>575</c:v>
                </c:pt>
                <c:pt idx="22">
                  <c:v>600</c:v>
                </c:pt>
              </c:numCache>
            </c:numRef>
          </c:xVal>
          <c:yVal>
            <c:numRef>
              <c:f>Sheet1!$C$3:$C$27</c:f>
              <c:numCache>
                <c:formatCode>0</c:formatCode>
                <c:ptCount val="25"/>
                <c:pt idx="0">
                  <c:v>1353.6986370680884</c:v>
                </c:pt>
                <c:pt idx="1">
                  <c:v>1358.3077707206126</c:v>
                </c:pt>
                <c:pt idx="2">
                  <c:v>1364.734406395618</c:v>
                </c:pt>
                <c:pt idx="3">
                  <c:v>1372.953021774598</c:v>
                </c:pt>
                <c:pt idx="4">
                  <c:v>1382.9316685939332</c:v>
                </c:pt>
                <c:pt idx="5">
                  <c:v>1394.6325680981354</c:v>
                </c:pt>
                <c:pt idx="6">
                  <c:v>1408.0127840328723</c:v>
                </c:pt>
                <c:pt idx="7">
                  <c:v>1423.0249470757708</c:v>
                </c:pt>
                <c:pt idx="8">
                  <c:v>1439.6180048887968</c:v>
                </c:pt>
                <c:pt idx="9">
                  <c:v>1457.7379737113251</c:v>
                </c:pt>
                <c:pt idx="10">
                  <c:v>1477.3286702694156</c:v>
                </c:pt>
                <c:pt idx="11">
                  <c:v>1498.3324063771697</c:v>
                </c:pt>
                <c:pt idx="12">
                  <c:v>1520.6906325745549</c:v>
                </c:pt>
                <c:pt idx="13">
                  <c:v>1544.34452114805</c:v>
                </c:pt>
                <c:pt idx="14">
                  <c:v>1569.2354826475216</c:v>
                </c:pt>
                <c:pt idx="15">
                  <c:v>1595.3056133543816</c:v>
                </c:pt>
                <c:pt idx="16">
                  <c:v>1622.4980739587952</c:v>
                </c:pt>
                <c:pt idx="17">
                  <c:v>1650.7574019219178</c:v>
                </c:pt>
                <c:pt idx="18">
                  <c:v>1680.0297616411442</c:v>
                </c:pt>
                <c:pt idx="19">
                  <c:v>1710.263137648707</c:v>
                </c:pt>
                <c:pt idx="20">
                  <c:v>1741.4074767267998</c:v>
                </c:pt>
                <c:pt idx="21">
                  <c:v>1773.41478509682</c:v>
                </c:pt>
                <c:pt idx="22">
                  <c:v>1806.2391868188442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2-5CE2-0F42-B6AC-594F69D695C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554650479"/>
        <c:axId val="1554652159"/>
      </c:scatterChart>
      <c:valAx>
        <c:axId val="1554650479"/>
        <c:scaling>
          <c:orientation val="minMax"/>
          <c:max val="400"/>
          <c:min val="5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600" dirty="0"/>
                  <a:t>Virtual Layer Height - km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54652159"/>
        <c:crosses val="autoZero"/>
        <c:crossBetween val="midCat"/>
      </c:valAx>
      <c:valAx>
        <c:axId val="1554652159"/>
        <c:scaling>
          <c:orientation val="minMax"/>
          <c:max val="3000"/>
          <c:min val="10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600" dirty="0"/>
                  <a:t>Path Length-km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54650479"/>
        <c:crosses val="autoZero"/>
        <c:crossBetween val="midCat"/>
        <c:majorUnit val="500"/>
        <c:minorUnit val="100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0.55131</cdr:x>
      <cdr:y>0.04851</cdr:y>
    </cdr:from>
    <cdr:to>
      <cdr:x>0.95523</cdr:x>
      <cdr:y>0.7352</cdr:y>
    </cdr:to>
    <cdr:sp macro="" textlink="">
      <cdr:nvSpPr>
        <cdr:cNvPr id="2" name="Rectangle 1">
          <a:extLst xmlns:a="http://schemas.openxmlformats.org/drawingml/2006/main">
            <a:ext uri="{FF2B5EF4-FFF2-40B4-BE49-F238E27FC236}">
              <a16:creationId xmlns:a16="http://schemas.microsoft.com/office/drawing/2014/main" id="{55D66F4D-72AA-D64E-B4E0-52B56E5CC05D}"/>
            </a:ext>
          </a:extLst>
        </cdr:cNvPr>
        <cdr:cNvSpPr/>
      </cdr:nvSpPr>
      <cdr:spPr>
        <a:xfrm xmlns:a="http://schemas.openxmlformats.org/drawingml/2006/main">
          <a:off x="2639329" y="117777"/>
          <a:ext cx="1933764" cy="1667344"/>
        </a:xfrm>
        <a:prstGeom xmlns:a="http://schemas.openxmlformats.org/drawingml/2006/main" prst="rect">
          <a:avLst/>
        </a:prstGeom>
        <a:noFill xmlns:a="http://schemas.openxmlformats.org/drawingml/2006/main"/>
      </cdr:spPr>
      <cdr:style>
        <a:lnRef xmlns:a="http://schemas.openxmlformats.org/drawingml/2006/main" idx="2">
          <a:schemeClr val="accent1">
            <a:shade val="50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rot="0" spcFirstLastPara="0" vert="horz" wrap="square" lIns="91440" tIns="45720" rIns="91440" bIns="45720" numCol="1" spcCol="0" rtlCol="0" fromWordArt="0" anchor="ctr" anchorCtr="0" forceAA="0" compatLnSpc="1">
          <a:prstTxWarp prst="textNoShape">
            <a:avLst/>
          </a:prstTxWarp>
          <a:noAutofit/>
        </a:bodyPr>
        <a:lstStyle xmlns:a="http://schemas.openxmlformats.org/drawingml/2006/main">
          <a:defPPr>
            <a:defRPr lang="en-US"/>
          </a:defPPr>
          <a:lvl1pPr marL="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endParaRPr lang="en-US"/>
        </a:p>
      </cdr:txBody>
    </cdr:sp>
  </cdr:relSizeAnchor>
  <cdr:relSizeAnchor xmlns:cdr="http://schemas.openxmlformats.org/drawingml/2006/chartDrawing">
    <cdr:from>
      <cdr:x>0.80501</cdr:x>
      <cdr:y>0.25472</cdr:y>
    </cdr:from>
    <cdr:to>
      <cdr:x>0.9591</cdr:x>
      <cdr:y>0.40683</cdr:y>
    </cdr:to>
    <cdr:sp macro="" textlink="">
      <cdr:nvSpPr>
        <cdr:cNvPr id="3" name="TextBox 13">
          <a:extLst xmlns:a="http://schemas.openxmlformats.org/drawingml/2006/main">
            <a:ext uri="{FF2B5EF4-FFF2-40B4-BE49-F238E27FC236}">
              <a16:creationId xmlns:a16="http://schemas.microsoft.com/office/drawing/2014/main" id="{275FDDAD-3278-764E-B72C-D74029FB3DA5}"/>
            </a:ext>
          </a:extLst>
        </cdr:cNvPr>
        <cdr:cNvSpPr txBox="1"/>
      </cdr:nvSpPr>
      <cdr:spPr>
        <a:xfrm xmlns:a="http://schemas.openxmlformats.org/drawingml/2006/main">
          <a:off x="3853909" y="618482"/>
          <a:ext cx="737702" cy="369332"/>
        </a:xfrm>
        <a:prstGeom xmlns:a="http://schemas.openxmlformats.org/drawingml/2006/main" prst="rect">
          <a:avLst/>
        </a:prstGeom>
        <a:noFill xmlns:a="http://schemas.openxmlformats.org/drawingml/2006/main"/>
      </cdr:spPr>
      <cdr:txBody>
        <a:bodyPr xmlns:a="http://schemas.openxmlformats.org/drawingml/2006/main" wrap="none" rtlCol="0">
          <a:spAutoFit/>
        </a:bodyPr>
        <a:lstStyle xmlns:a="http://schemas.openxmlformats.org/drawingml/2006/main">
          <a:defPPr>
            <a:defRPr lang="en-US"/>
          </a:defPPr>
          <a:lvl1pPr marL="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1pPr>
          <a:lvl2pPr marL="4572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en-US" dirty="0"/>
            <a:t>2-hop</a:t>
          </a:r>
        </a:p>
      </cdr:txBody>
    </cdr:sp>
  </cdr:relSizeAnchor>
  <cdr:relSizeAnchor xmlns:cdr="http://schemas.openxmlformats.org/drawingml/2006/chartDrawing">
    <cdr:from>
      <cdr:x>0.80501</cdr:x>
      <cdr:y>0.43039</cdr:y>
    </cdr:from>
    <cdr:to>
      <cdr:x>0.9591</cdr:x>
      <cdr:y>0.5825</cdr:y>
    </cdr:to>
    <cdr:sp macro="" textlink="">
      <cdr:nvSpPr>
        <cdr:cNvPr id="4" name="TextBox 13">
          <a:extLst xmlns:a="http://schemas.openxmlformats.org/drawingml/2006/main">
            <a:ext uri="{FF2B5EF4-FFF2-40B4-BE49-F238E27FC236}">
              <a16:creationId xmlns:a16="http://schemas.microsoft.com/office/drawing/2014/main" id="{275FDDAD-3278-764E-B72C-D74029FB3DA5}"/>
            </a:ext>
          </a:extLst>
        </cdr:cNvPr>
        <cdr:cNvSpPr txBox="1"/>
      </cdr:nvSpPr>
      <cdr:spPr>
        <a:xfrm xmlns:a="http://schemas.openxmlformats.org/drawingml/2006/main">
          <a:off x="3853909" y="1045017"/>
          <a:ext cx="737702" cy="369332"/>
        </a:xfrm>
        <a:prstGeom xmlns:a="http://schemas.openxmlformats.org/drawingml/2006/main" prst="rect">
          <a:avLst/>
        </a:prstGeom>
        <a:noFill xmlns:a="http://schemas.openxmlformats.org/drawingml/2006/main"/>
      </cdr:spPr>
      <cdr:txBody>
        <a:bodyPr xmlns:a="http://schemas.openxmlformats.org/drawingml/2006/main" wrap="none" rtlCol="0">
          <a:spAutoFit/>
        </a:bodyPr>
        <a:lstStyle xmlns:a="http://schemas.openxmlformats.org/drawingml/2006/main">
          <a:defPPr>
            <a:defRPr lang="en-US"/>
          </a:defPPr>
          <a:lvl1pPr marL="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1pPr>
          <a:lvl2pPr marL="4572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en-US" dirty="0"/>
            <a:t>1-hop</a:t>
          </a:r>
        </a:p>
      </cdr:txBody>
    </cdr: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561DD7-A158-9E42-9894-752AFA41BA82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480607-6FDE-B148-B62F-B4E0E5D910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2569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00" dirty="0"/>
              <a:t>The pictorial on the left depicts 1 and 2 hop modes from the F layer and a 1 hop mode for the E layer. For a fixed ground distance between TX and RX the propagation path is a function of ionization layer height and number of hops. Doppler shift can be caused by a changing path length, driven by ascending or descending layer height. A virtual height geometric model was used to relate path length to layer height for a given ground distance.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1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818B16-7ABB-D24C-AAA8-3D2C6A2F494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5574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UV and X radiation from the sun photoionize the upper atmosphere into free electrons and positively charged ions.</a:t>
            </a:r>
          </a:p>
          <a:p>
            <a:r>
              <a:rPr lang="en-US" dirty="0"/>
              <a:t>Complex photochemical reactions with oxygen, ozone, nitrogen, and nitrous oxide arrange the ionization into layers labeled D, E, and F.</a:t>
            </a:r>
          </a:p>
          <a:p>
            <a:r>
              <a:rPr lang="en-US" dirty="0"/>
              <a:t>Velocity gradients in the ionized layers refract upward directed radio waves back to earth in the HF frequency range from 3-30 MHz. </a:t>
            </a:r>
          </a:p>
          <a:p>
            <a:r>
              <a:rPr lang="en-US" dirty="0"/>
              <a:t>Multiple hops involving reflection from the earth and other layers are possible, enabling global radio propagation.</a:t>
            </a:r>
          </a:p>
          <a:p>
            <a:r>
              <a:rPr lang="en-US" dirty="0"/>
              <a:t>Most HF radio propagation comes from the E and F layers. The D layer primarily acts as an attenuator with attenuation increasing with wavelength.</a:t>
            </a:r>
          </a:p>
          <a:p>
            <a:r>
              <a:rPr lang="en-US" dirty="0"/>
              <a:t>The F layer changes height significantly with diurnal changes in solar radiation. The E layer does so as well, but to a much smaller degree. The rate of height change imparts velocity on path length which results in Doppler shifts in frequency. </a:t>
            </a:r>
          </a:p>
          <a:p>
            <a:r>
              <a:rPr lang="en-US" dirty="0"/>
              <a:t>This paper postulates a phenomenology to explain observed complex Doppler behavior, specifically mode splitting, as a function of differential path velocity imparted on single and multiple hop modes by changing layer height.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4F3820A-B226-C247-9C5B-9524F3BFEE9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436071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UV and X radiation from the sun photoionize the upper atmosphere into free electrons and positively charged ions.</a:t>
            </a:r>
          </a:p>
          <a:p>
            <a:r>
              <a:rPr lang="en-US" dirty="0"/>
              <a:t>Complex photochemical reactions with oxygen, ozone, nitrogen, and nitrous oxide arrange the ionization into layers labeled D, E, and F.</a:t>
            </a:r>
          </a:p>
          <a:p>
            <a:r>
              <a:rPr lang="en-US" dirty="0"/>
              <a:t>Velocity gradients in the ionized layers refract upward directed radio waves back to earth in the HF frequency range from 3-30 MHz. </a:t>
            </a:r>
          </a:p>
          <a:p>
            <a:r>
              <a:rPr lang="en-US" dirty="0"/>
              <a:t>Multiple hops involving reflection from the earth and other layers are possible, enabling global radio propagation.</a:t>
            </a:r>
          </a:p>
          <a:p>
            <a:r>
              <a:rPr lang="en-US" dirty="0"/>
              <a:t>Most HF radio propagation comes from the E and F layers. The D layer primarily acts as an attenuator with attenuation increasing with wavelength.</a:t>
            </a:r>
          </a:p>
          <a:p>
            <a:r>
              <a:rPr lang="en-US" dirty="0"/>
              <a:t>The F layer changes height significantly with diurnal changes in solar radiation. The E layer does so as well, but to a much smaller degree. The rate of height change imparts velocity on path length which results in Doppler shifts in frequency. </a:t>
            </a:r>
          </a:p>
          <a:p>
            <a:r>
              <a:rPr lang="en-US" dirty="0"/>
              <a:t>This paper postulates a phenomenology to explain observed complex Doppler behavior, specifically mode splitting, as a function of differential path velocity imparted on single and multiple hop modes by changing layer height.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4F3820A-B226-C247-9C5B-9524F3BFEE9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436071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UV and X radiation from the sun photoionize the upper atmosphere into free electrons and positively charged ions.</a:t>
            </a:r>
          </a:p>
          <a:p>
            <a:r>
              <a:rPr lang="en-US" dirty="0"/>
              <a:t>Complex photochemical reactions with oxygen, ozone, nitrogen, and nitrous oxide arrange the ionization into layers labeled D, E, and F.</a:t>
            </a:r>
          </a:p>
          <a:p>
            <a:r>
              <a:rPr lang="en-US" dirty="0"/>
              <a:t>Velocity gradients in the ionized layers refract upward directed radio waves back to earth in the HF frequency range from 3-30 MHz. </a:t>
            </a:r>
          </a:p>
          <a:p>
            <a:r>
              <a:rPr lang="en-US" dirty="0"/>
              <a:t>Multiple hops involving reflection from the earth and other layers are possible, enabling global radio propagation.</a:t>
            </a:r>
          </a:p>
          <a:p>
            <a:r>
              <a:rPr lang="en-US" dirty="0"/>
              <a:t>Most HF radio propagation comes from the E and F layers. The D layer primarily acts as an attenuator with attenuation increasing with wavelength.</a:t>
            </a:r>
          </a:p>
          <a:p>
            <a:r>
              <a:rPr lang="en-US" dirty="0"/>
              <a:t>The F layer changes height significantly with diurnal changes in solar radiation. The E layer does so as well, but to a much smaller degree. The rate of height change imparts velocity on path length which results in Doppler shifts in frequency. </a:t>
            </a:r>
          </a:p>
          <a:p>
            <a:r>
              <a:rPr lang="en-US" dirty="0"/>
              <a:t>This paper postulates a phenomenology to explain observed complex Doppler behavior, specifically mode splitting, as a function of differential path velocity imparted on single and multiple hop modes by changing layer height.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F3820A-B226-C247-9C5B-9524F3BFEE9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6071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D5E9B0-4D2F-6940-960C-7170460E1BE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67727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7CFA19-F57F-D4A0-D6AC-FC410237AD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542BC6-92A0-DB61-A41F-6845D1A47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6CAC28-4D4D-93A4-5044-8BEC35B760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094F5-A31F-9948-8115-37572AD4F7C2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4BD931-CF81-C03B-90E1-1B3E5CC9D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248E33-EDAA-051A-9F5E-7FA0472FEC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FD857-7350-AF42-9F39-2177A12327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6910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0C7F9C-6A01-4203-D265-8BB2A8AC9A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27AFCD-9D2D-E6BD-6588-EABAFDEA3C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436083-7CC0-2FC3-79AC-EB270F175D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094F5-A31F-9948-8115-37572AD4F7C2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A22458-4E01-24A4-9604-C33EDDA5F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9DC43E-C91A-3F56-887E-225DF0D840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FD857-7350-AF42-9F39-2177A12327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42658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AC5E1-DA6C-C4D3-D8C6-9E624ED6C8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268974-9F72-E822-CFE9-2814952168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329B32-4712-40B5-8872-DEFBBFAB69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094F5-A31F-9948-8115-37572AD4F7C2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7148C6-0D77-EA89-C2A9-74BEC3D2F9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F3B23D-C914-C646-E46A-EBE9B1224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FD857-7350-AF42-9F39-2177A12327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564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96620-F1BE-96FC-55DF-1460C1168C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E5E68B-C1AC-88FF-DF8E-0E60982C1A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95F9F7-AC20-4E6F-5355-97DF78A310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B6FF87-31CB-1DB9-E1F2-31FC46FE4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094F5-A31F-9948-8115-37572AD4F7C2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CDD978-90BB-0494-37B3-4BA283514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6D7103-51CA-CB1C-552A-4671D56FED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FD857-7350-AF42-9F39-2177A12327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8771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C5B9A0-8252-B1A9-1D9A-E37DFE1F8D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29F4BE-3022-A482-129F-EA013AAB7F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DCFACB-CE2E-048E-5285-D51173F584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BB37B9-63BC-D810-3CD7-181EF8CF36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F5E6177-E7A5-03C0-29FD-86FE0C0DB2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FA4E34-C180-E61E-C44B-F37F5433D5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094F5-A31F-9948-8115-37572AD4F7C2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F2B326E-C4D6-3F8D-675F-9BBEDCD6FA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F96FE77-8228-0472-1803-FEB695654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FD857-7350-AF42-9F39-2177A12327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8847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2C993-111E-ABDC-ED4F-1F80C6292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157346C-0E35-D1AF-27A7-151DB88A51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094F5-A31F-9948-8115-37572AD4F7C2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E31BE9-AC93-700B-0052-CC0BB7DDD7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76DE72-90BA-A52A-3597-FCB4E3643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FD857-7350-AF42-9F39-2177A12327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7501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7C3DA14-D874-8AA8-1E78-307EB1CD2C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094F5-A31F-9948-8115-37572AD4F7C2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8D54341-EA7D-5B13-7F37-9C27FC548D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CE763A-C162-C0F7-BAC1-F99758DCA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FD857-7350-AF42-9F39-2177A12327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91039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516821-BC80-D353-70CC-0545E30386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1F1DDD-0FF3-6A7F-B804-0A4D02DDB7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96C9DA-B877-94C1-2B34-FB17328A9D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72E209-D98B-F3EA-C8C2-64C1D4EAF9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094F5-A31F-9948-8115-37572AD4F7C2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244502-387A-324D-5187-C5CE29BFF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110D51-1BEC-3BE4-33AE-B76F25CD7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FD857-7350-AF42-9F39-2177A12327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01142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A10FE9-E263-087D-567E-BC0CB95BB8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E706507-15A1-E744-2B1E-B8AA3757CB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B8E08D-46CF-5863-A1BE-0BFCF8AF77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311AD2-6BDB-8AAE-E1DB-7FEC7349C9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094F5-A31F-9948-8115-37572AD4F7C2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3AF1B0-53EF-41F5-AC51-1B9FC720CF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09AC00-6EE0-46D1-D4AA-4EF04C380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FD857-7350-AF42-9F39-2177A12327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1485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C98CAC-D975-48C5-0CA6-623F02E723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009FDB-5D6E-909E-1850-4C7637E1F2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3AF74E-9C43-1807-0081-389DD82429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094F5-A31F-9948-8115-37572AD4F7C2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CD540C-9040-757D-FCA9-645B6A6131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A110AF-7273-F87F-5B7F-6C920B65A4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FD857-7350-AF42-9F39-2177A12327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3857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C9DE76C-2279-4634-17D3-BF43E46E6F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0CFEDE-09E6-0C9B-9BF5-1A4D1135D3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DDA597-70E2-D6B7-1792-6C2C97319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094F5-A31F-9948-8115-37572AD4F7C2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79A106-07A4-1366-8E7F-0391959E1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40B16B-6A4F-D284-9F89-BD3113F2A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FD857-7350-AF42-9F39-2177A12327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9920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015FC-4595-3948-8E59-97F251488020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2E099-75C6-4785-BA6C-247B514205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60562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E2E01-673F-5740-AFBA-FB5349853319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2E099-75C6-4785-BA6C-247B514205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20456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8515C-3B47-BE4A-BCEC-183DD0EEACCC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2E099-75C6-4785-BA6C-247B514205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71134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C89CD-2A4D-EC4A-A417-CE94091D072D}" type="datetime1">
              <a:rPr lang="en-US" smtClean="0"/>
              <a:t>6/26/2025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2E099-75C6-4785-BA6C-247B514205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406662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03824-FD21-0F4D-B97D-AF4150A2A8CD}" type="datetime1">
              <a:rPr lang="en-US" smtClean="0"/>
              <a:t>6/26/2025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2E099-75C6-4785-BA6C-247B514205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76950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50781-2467-F64C-B288-FAD312D017EE}" type="datetime1">
              <a:rPr lang="en-US" smtClean="0"/>
              <a:t>6/26/2025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2E099-75C6-4785-BA6C-247B514205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648878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EDA03-B54D-5141-90B2-AF20FC4EA56F}" type="datetime1">
              <a:rPr lang="en-US" smtClean="0"/>
              <a:t>6/26/2025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2E099-75C6-4785-BA6C-247B514205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9776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25B48-7893-CB46-BC09-B9D5C25AEA39}" type="datetime1">
              <a:rPr lang="en-US" smtClean="0"/>
              <a:t>6/26/2025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2E099-75C6-4785-BA6C-247B514205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64755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897A9-4B7A-A740-BEEA-3A1BC0AC7562}" type="datetime1">
              <a:rPr lang="en-US" smtClean="0"/>
              <a:t>6/26/2025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2E099-75C6-4785-BA6C-247B514205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376795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2555B-F120-6242-BEF5-FAA855445114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2E099-75C6-4785-BA6C-247B514205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03379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45D82-FA4E-424F-8B90-546BCD7C68B7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2E099-75C6-4785-BA6C-247B514205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28760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B35CFC2-714A-4FB8-ACE6-235EA26BF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78B725-8525-08CD-5D7E-56A6D234E1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C8D8F2-434A-2172-AE3B-1E701B3F87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094F5-A31F-9948-8115-37572AD4F7C2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552E54-5057-5C63-9BBF-F0FF9D8DA0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D1D8F5-3A9C-F68B-C6F4-B16B4E50F5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AFD857-7350-AF42-9F39-2177A12327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973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55080-72D3-2645-BF25-2CC613CD18CC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02E099-75C6-4785-BA6C-247B514205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7181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.png"/><Relationship Id="rId4" Type="http://schemas.openxmlformats.org/officeDocument/2006/relationships/chart" Target="../charts/char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 descr="Diagram&#10;&#10;Description automatically generated">
            <a:extLst>
              <a:ext uri="{FF2B5EF4-FFF2-40B4-BE49-F238E27FC236}">
                <a16:creationId xmlns:a16="http://schemas.microsoft.com/office/drawing/2014/main" id="{E8B4F23F-D42E-766A-36C6-6BF0B524FE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1168" y="429886"/>
            <a:ext cx="7772400" cy="215600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15639EA-9805-4A4B-BE1E-FD8E4E23F1C6}"/>
              </a:ext>
            </a:extLst>
          </p:cNvPr>
          <p:cNvSpPr txBox="1"/>
          <p:nvPr/>
        </p:nvSpPr>
        <p:spPr>
          <a:xfrm>
            <a:off x="435326" y="5123292"/>
            <a:ext cx="57024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Fig 1b. Virtual Height model Used to Calculate Relationship between Virtual Height h and Path Length.</a:t>
            </a:r>
          </a:p>
          <a:p>
            <a:pPr algn="ctr"/>
            <a:r>
              <a:rPr lang="en-US" dirty="0"/>
              <a:t>                Time of Flight = Path Length / c</a:t>
            </a:r>
          </a:p>
        </p:txBody>
      </p:sp>
      <p:graphicFrame>
        <p:nvGraphicFramePr>
          <p:cNvPr id="15" name="Chart 14">
            <a:extLst>
              <a:ext uri="{FF2B5EF4-FFF2-40B4-BE49-F238E27FC236}">
                <a16:creationId xmlns:a16="http://schemas.microsoft.com/office/drawing/2014/main" id="{5547C719-87A0-4A40-A707-3512F07AC9F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0847162"/>
              </p:ext>
            </p:extLst>
          </p:nvPr>
        </p:nvGraphicFramePr>
        <p:xfrm>
          <a:off x="6553511" y="3020179"/>
          <a:ext cx="4787409" cy="24280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D65190D4-1EB9-2849-B79E-7BA696109D08}"/>
              </a:ext>
            </a:extLst>
          </p:cNvPr>
          <p:cNvSpPr txBox="1"/>
          <p:nvPr/>
        </p:nvSpPr>
        <p:spPr>
          <a:xfrm>
            <a:off x="7251279" y="2739842"/>
            <a:ext cx="3391872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Path Lengths and Times of Flight</a:t>
            </a:r>
          </a:p>
          <a:p>
            <a:r>
              <a:rPr lang="en-US" sz="1400" dirty="0"/>
              <a:t>1350 km Ground Distance</a:t>
            </a:r>
            <a:r>
              <a:rPr lang="en-US" sz="2800" dirty="0"/>
              <a:t>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5D66F4D-72AA-D64E-B4E0-52B56E5CC05D}"/>
              </a:ext>
            </a:extLst>
          </p:cNvPr>
          <p:cNvSpPr/>
          <p:nvPr/>
        </p:nvSpPr>
        <p:spPr>
          <a:xfrm>
            <a:off x="7792667" y="3970259"/>
            <a:ext cx="357187" cy="8286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3871792-9CF5-6B47-BEB1-8679C5288E5F}"/>
              </a:ext>
            </a:extLst>
          </p:cNvPr>
          <p:cNvSpPr txBox="1"/>
          <p:nvPr/>
        </p:nvSpPr>
        <p:spPr>
          <a:xfrm>
            <a:off x="7475387" y="3623628"/>
            <a:ext cx="991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 Region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01AA622-6A00-C349-8F3B-346A647500D8}"/>
              </a:ext>
            </a:extLst>
          </p:cNvPr>
          <p:cNvSpPr txBox="1"/>
          <p:nvPr/>
        </p:nvSpPr>
        <p:spPr>
          <a:xfrm>
            <a:off x="9254792" y="3137955"/>
            <a:ext cx="11023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F2 Region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75FDDAD-3278-764E-B72C-D74029FB3DA5}"/>
              </a:ext>
            </a:extLst>
          </p:cNvPr>
          <p:cNvSpPr txBox="1"/>
          <p:nvPr/>
        </p:nvSpPr>
        <p:spPr>
          <a:xfrm>
            <a:off x="10407420" y="3132535"/>
            <a:ext cx="7377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3-hop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8DCBD41-0BAF-EEB2-5D9F-74450176A674}"/>
              </a:ext>
            </a:extLst>
          </p:cNvPr>
          <p:cNvSpPr txBox="1"/>
          <p:nvPr/>
        </p:nvSpPr>
        <p:spPr>
          <a:xfrm>
            <a:off x="11088105" y="4226993"/>
            <a:ext cx="4587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5.00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DB38695-4C42-5055-C355-EB286E65DA59}"/>
              </a:ext>
            </a:extLst>
          </p:cNvPr>
          <p:cNvSpPr txBox="1"/>
          <p:nvPr/>
        </p:nvSpPr>
        <p:spPr>
          <a:xfrm>
            <a:off x="11093617" y="3440448"/>
            <a:ext cx="4946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8.33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B073ABA-2776-21A2-721B-373B13BC444C}"/>
              </a:ext>
            </a:extLst>
          </p:cNvPr>
          <p:cNvSpPr txBox="1"/>
          <p:nvPr/>
        </p:nvSpPr>
        <p:spPr>
          <a:xfrm>
            <a:off x="11088105" y="3831759"/>
            <a:ext cx="4587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6.67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4DC5566-2C48-10FD-05F3-63257C9A7DC1}"/>
              </a:ext>
            </a:extLst>
          </p:cNvPr>
          <p:cNvSpPr txBox="1"/>
          <p:nvPr/>
        </p:nvSpPr>
        <p:spPr>
          <a:xfrm>
            <a:off x="11096717" y="3005573"/>
            <a:ext cx="4587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10.0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682596C-0B86-CE53-9F00-E9C536D97334}"/>
              </a:ext>
            </a:extLst>
          </p:cNvPr>
          <p:cNvSpPr txBox="1"/>
          <p:nvPr/>
        </p:nvSpPr>
        <p:spPr>
          <a:xfrm>
            <a:off x="11088105" y="4660434"/>
            <a:ext cx="4587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3.33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31EE032-0D19-D0A1-0D2F-EDD1DF38FC84}"/>
              </a:ext>
            </a:extLst>
          </p:cNvPr>
          <p:cNvSpPr txBox="1"/>
          <p:nvPr/>
        </p:nvSpPr>
        <p:spPr>
          <a:xfrm>
            <a:off x="10902669" y="2685956"/>
            <a:ext cx="82965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TOF-mS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C2BB14C2-6E0A-0C27-982E-E5E60FFB123C}"/>
              </a:ext>
            </a:extLst>
          </p:cNvPr>
          <p:cNvCxnSpPr>
            <a:cxnSpLocks/>
          </p:cNvCxnSpPr>
          <p:nvPr/>
        </p:nvCxnSpPr>
        <p:spPr>
          <a:xfrm>
            <a:off x="10050086" y="3831759"/>
            <a:ext cx="0" cy="276999"/>
          </a:xfrm>
          <a:prstGeom prst="straightConnector1">
            <a:avLst/>
          </a:prstGeom>
          <a:ln w="222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80516FE4-1838-25D5-335A-F3F38D093A40}"/>
              </a:ext>
            </a:extLst>
          </p:cNvPr>
          <p:cNvCxnSpPr>
            <a:cxnSpLocks/>
          </p:cNvCxnSpPr>
          <p:nvPr/>
        </p:nvCxnSpPr>
        <p:spPr>
          <a:xfrm flipH="1" flipV="1">
            <a:off x="10045107" y="4394561"/>
            <a:ext cx="4979" cy="265873"/>
          </a:xfrm>
          <a:prstGeom prst="straightConnector1">
            <a:avLst/>
          </a:prstGeom>
          <a:ln w="222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069B9E9D-BAA1-9825-78A5-D9548D4CB61B}"/>
              </a:ext>
            </a:extLst>
          </p:cNvPr>
          <p:cNvSpPr txBox="1"/>
          <p:nvPr/>
        </p:nvSpPr>
        <p:spPr>
          <a:xfrm>
            <a:off x="9808388" y="4099393"/>
            <a:ext cx="5036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1.10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99C8FD3-1F86-1A22-88D5-4A6D1D469C83}"/>
              </a:ext>
            </a:extLst>
          </p:cNvPr>
          <p:cNvSpPr txBox="1"/>
          <p:nvPr/>
        </p:nvSpPr>
        <p:spPr>
          <a:xfrm>
            <a:off x="6553512" y="5382346"/>
            <a:ext cx="547068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Fig 1c. TDOA Example: At 1350 km ground distance the Time Difference of Arrival between 1 and 2 hop modes is 0.67 ms at 225 km layer height and 1.10 ms at 300 km.  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68FFF975-4A9D-6430-FDCD-E10CB91FDAF2}"/>
              </a:ext>
            </a:extLst>
          </p:cNvPr>
          <p:cNvCxnSpPr>
            <a:cxnSpLocks/>
          </p:cNvCxnSpPr>
          <p:nvPr/>
        </p:nvCxnSpPr>
        <p:spPr>
          <a:xfrm>
            <a:off x="9236324" y="3984159"/>
            <a:ext cx="0" cy="276999"/>
          </a:xfrm>
          <a:prstGeom prst="straightConnector1">
            <a:avLst/>
          </a:prstGeom>
          <a:ln w="222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C866E569-EAC1-2E09-560D-714A0AC47898}"/>
              </a:ext>
            </a:extLst>
          </p:cNvPr>
          <p:cNvCxnSpPr>
            <a:cxnSpLocks/>
          </p:cNvCxnSpPr>
          <p:nvPr/>
        </p:nvCxnSpPr>
        <p:spPr>
          <a:xfrm flipH="1" flipV="1">
            <a:off x="9248598" y="4460696"/>
            <a:ext cx="4979" cy="265873"/>
          </a:xfrm>
          <a:prstGeom prst="straightConnector1">
            <a:avLst/>
          </a:prstGeom>
          <a:ln w="222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523C5BA5-8E93-F53C-54E6-114A79015F36}"/>
              </a:ext>
            </a:extLst>
          </p:cNvPr>
          <p:cNvSpPr txBox="1"/>
          <p:nvPr/>
        </p:nvSpPr>
        <p:spPr>
          <a:xfrm>
            <a:off x="8994626" y="4200034"/>
            <a:ext cx="5036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0.67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2971CB-CC15-9AD6-7556-5389F6ADFF3D}"/>
              </a:ext>
            </a:extLst>
          </p:cNvPr>
          <p:cNvSpPr txBox="1"/>
          <p:nvPr/>
        </p:nvSpPr>
        <p:spPr>
          <a:xfrm>
            <a:off x="4107190" y="2107271"/>
            <a:ext cx="47620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 1a. 1- and 2-hop Refraction from the F2 Layer.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43300D4-926D-D21E-043F-D43C6A70FA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4797" y="3124386"/>
            <a:ext cx="5670124" cy="192207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CB64056-9E10-A3BF-6024-6B697312E02D}"/>
              </a:ext>
            </a:extLst>
          </p:cNvPr>
          <p:cNvSpPr txBox="1"/>
          <p:nvPr/>
        </p:nvSpPr>
        <p:spPr>
          <a:xfrm>
            <a:off x="5677304" y="3487988"/>
            <a:ext cx="407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9D59322-6AA5-F9CF-4197-C2646007FF61}"/>
              </a:ext>
            </a:extLst>
          </p:cNvPr>
          <p:cNvSpPr txBox="1"/>
          <p:nvPr/>
        </p:nvSpPr>
        <p:spPr>
          <a:xfrm>
            <a:off x="5721621" y="4182047"/>
            <a:ext cx="296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062A041-80D5-0413-1BE0-11341DBCDC05}"/>
              </a:ext>
            </a:extLst>
          </p:cNvPr>
          <p:cNvCxnSpPr/>
          <p:nvPr/>
        </p:nvCxnSpPr>
        <p:spPr>
          <a:xfrm>
            <a:off x="3284699" y="3512778"/>
            <a:ext cx="0" cy="96468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A55F2751-BECB-A199-6D4A-8DF23BA302CF}"/>
              </a:ext>
            </a:extLst>
          </p:cNvPr>
          <p:cNvSpPr txBox="1"/>
          <p:nvPr/>
        </p:nvSpPr>
        <p:spPr>
          <a:xfrm>
            <a:off x="3235712" y="3743838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852AF9A-DCA4-65F2-95C5-34B909F1D4E5}"/>
              </a:ext>
            </a:extLst>
          </p:cNvPr>
          <p:cNvSpPr txBox="1"/>
          <p:nvPr/>
        </p:nvSpPr>
        <p:spPr>
          <a:xfrm>
            <a:off x="2409844" y="4629864"/>
            <a:ext cx="17497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Ground Distance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631B24DF-4D84-A748-424C-68D616CE50FC}"/>
              </a:ext>
            </a:extLst>
          </p:cNvPr>
          <p:cNvCxnSpPr/>
          <p:nvPr/>
        </p:nvCxnSpPr>
        <p:spPr>
          <a:xfrm>
            <a:off x="4104714" y="4552115"/>
            <a:ext cx="1290790" cy="207136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E3CF3819-4CFE-46FE-A870-CE536B95094F}"/>
              </a:ext>
            </a:extLst>
          </p:cNvPr>
          <p:cNvCxnSpPr>
            <a:cxnSpLocks/>
          </p:cNvCxnSpPr>
          <p:nvPr/>
        </p:nvCxnSpPr>
        <p:spPr>
          <a:xfrm flipH="1">
            <a:off x="1119010" y="4551379"/>
            <a:ext cx="1492874" cy="224497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4294DDCC-41DF-BED3-DDED-1440DC230C99}"/>
              </a:ext>
            </a:extLst>
          </p:cNvPr>
          <p:cNvCxnSpPr/>
          <p:nvPr/>
        </p:nvCxnSpPr>
        <p:spPr>
          <a:xfrm>
            <a:off x="2611884" y="4551379"/>
            <a:ext cx="149283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77F8266D-977F-15DA-BA4D-445C7F479203}"/>
              </a:ext>
            </a:extLst>
          </p:cNvPr>
          <p:cNvCxnSpPr>
            <a:cxnSpLocks/>
          </p:cNvCxnSpPr>
          <p:nvPr/>
        </p:nvCxnSpPr>
        <p:spPr>
          <a:xfrm flipH="1">
            <a:off x="4804756" y="2699215"/>
            <a:ext cx="873373" cy="69668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1D108EAD-0DB4-AC23-94C9-05C07C0C195D}"/>
              </a:ext>
            </a:extLst>
          </p:cNvPr>
          <p:cNvCxnSpPr>
            <a:cxnSpLocks/>
          </p:cNvCxnSpPr>
          <p:nvPr/>
        </p:nvCxnSpPr>
        <p:spPr>
          <a:xfrm>
            <a:off x="6137756" y="4726569"/>
            <a:ext cx="595553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17563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5320205-DF06-ED93-EB31-C6AF011BE2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Time Difference of Arrival (TDOA) Between the 1-hop and 2-hop Modes Can be Analyzed to Infer Layer Height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9F0317-291B-17B5-2A03-F115A37ECA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2E099-75C6-4785-BA6C-247B514205D8}" type="slidenum">
              <a:rPr lang="en-US" smtClean="0"/>
              <a:t>2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70FACDA-00AA-AC3D-9D63-0D72281C8BE5}"/>
              </a:ext>
            </a:extLst>
          </p:cNvPr>
          <p:cNvSpPr txBox="1"/>
          <p:nvPr/>
        </p:nvSpPr>
        <p:spPr>
          <a:xfrm>
            <a:off x="1513114" y="5338584"/>
            <a:ext cx="808445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A Virtual Height model of the ionosphere </a:t>
            </a:r>
            <a:r>
              <a:rPr lang="en-US" dirty="0"/>
              <a:t>y</a:t>
            </a:r>
            <a:r>
              <a:rPr lang="en-US" sz="1800" dirty="0"/>
              <a:t>ields </a:t>
            </a:r>
            <a:r>
              <a:rPr lang="en-US" dirty="0"/>
              <a:t>s</a:t>
            </a:r>
            <a:r>
              <a:rPr lang="en-US" sz="1800" dirty="0"/>
              <a:t>imple </a:t>
            </a:r>
            <a:r>
              <a:rPr lang="en-US" dirty="0"/>
              <a:t>f</a:t>
            </a:r>
            <a:r>
              <a:rPr lang="en-US" sz="1800" dirty="0"/>
              <a:t>ormulas </a:t>
            </a:r>
            <a:r>
              <a:rPr lang="en-US" dirty="0"/>
              <a:t>r</a:t>
            </a:r>
            <a:r>
              <a:rPr lang="en-US" sz="1800" dirty="0"/>
              <a:t>elating </a:t>
            </a:r>
            <a:r>
              <a:rPr lang="en-US" dirty="0"/>
              <a:t>p</a:t>
            </a:r>
            <a:r>
              <a:rPr lang="en-US" sz="1800" dirty="0"/>
              <a:t>ath length to virtual </a:t>
            </a:r>
            <a:r>
              <a:rPr lang="en-US" dirty="0"/>
              <a:t>l</a:t>
            </a:r>
            <a:r>
              <a:rPr lang="en-US" sz="1800" dirty="0"/>
              <a:t>ayer </a:t>
            </a:r>
            <a:r>
              <a:rPr lang="en-US" dirty="0"/>
              <a:t>h</a:t>
            </a:r>
            <a:r>
              <a:rPr lang="en-US" sz="1800" dirty="0"/>
              <a:t>eight (left). Once path Length is converted to TOF, the TDOA between the 1- and 2- hop modes can be used to infer F2 layer height (right). </a:t>
            </a:r>
          </a:p>
          <a:p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209F1EC-05F8-F013-996F-63C7986676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9142" y="1942256"/>
            <a:ext cx="7772400" cy="297348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5C97792B-1976-D836-69F1-4F73C7CA139D}"/>
              </a:ext>
            </a:extLst>
          </p:cNvPr>
          <p:cNvSpPr/>
          <p:nvPr/>
        </p:nvSpPr>
        <p:spPr>
          <a:xfrm>
            <a:off x="5572897" y="4572000"/>
            <a:ext cx="383060" cy="3437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227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C308599-691F-04CE-A5CE-BB778BE2AD3E}"/>
              </a:ext>
            </a:extLst>
          </p:cNvPr>
          <p:cNvSpPr/>
          <p:nvPr/>
        </p:nvSpPr>
        <p:spPr>
          <a:xfrm>
            <a:off x="1905000" y="1066800"/>
            <a:ext cx="9905991" cy="1048174"/>
          </a:xfrm>
          <a:prstGeom prst="rect">
            <a:avLst/>
          </a:prstGeom>
          <a:gradFill>
            <a:gsLst>
              <a:gs pos="15000">
                <a:schemeClr val="accent6">
                  <a:lumMod val="5000"/>
                  <a:lumOff val="95000"/>
                </a:schemeClr>
              </a:gs>
              <a:gs pos="40000">
                <a:schemeClr val="accent6">
                  <a:alpha val="70000"/>
                  <a:lumMod val="55000"/>
                  <a:lumOff val="45000"/>
                </a:schemeClr>
              </a:gs>
              <a:gs pos="60000">
                <a:schemeClr val="accent6">
                  <a:alpha val="70000"/>
                  <a:lumMod val="55000"/>
                  <a:lumOff val="45000"/>
                </a:schemeClr>
              </a:gs>
              <a:gs pos="85000">
                <a:schemeClr val="accent6">
                  <a:lumMod val="5167"/>
                  <a:lumOff val="94833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Day ~ 300 km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Night ~ 220 km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648B07D-2A34-1221-5BC4-53E1ED86DFC5}"/>
              </a:ext>
            </a:extLst>
          </p:cNvPr>
          <p:cNvSpPr/>
          <p:nvPr/>
        </p:nvSpPr>
        <p:spPr>
          <a:xfrm>
            <a:off x="1905001" y="2953174"/>
            <a:ext cx="9905990" cy="400049"/>
          </a:xfrm>
          <a:prstGeom prst="rect">
            <a:avLst/>
          </a:prstGeom>
          <a:gradFill>
            <a:gsLst>
              <a:gs pos="0">
                <a:schemeClr val="accent6">
                  <a:lumMod val="5000"/>
                  <a:lumOff val="95000"/>
                </a:schemeClr>
              </a:gs>
              <a:gs pos="38000">
                <a:schemeClr val="accent6">
                  <a:alpha val="70000"/>
                  <a:lumMod val="90000"/>
                  <a:lumOff val="10000"/>
                </a:schemeClr>
              </a:gs>
              <a:gs pos="70000">
                <a:schemeClr val="accent6">
                  <a:alpha val="70000"/>
                  <a:lumMod val="90000"/>
                  <a:lumOff val="10000"/>
                </a:schemeClr>
              </a:gs>
              <a:gs pos="100000">
                <a:schemeClr val="accent6">
                  <a:lumMod val="5167"/>
                  <a:lumOff val="94833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Title 27">
            <a:extLst>
              <a:ext uri="{FF2B5EF4-FFF2-40B4-BE49-F238E27FC236}">
                <a16:creationId xmlns:a16="http://schemas.microsoft.com/office/drawing/2014/main" id="{7C750407-D8F7-E829-99ED-A7C06918EB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8845"/>
            <a:ext cx="11201391" cy="1148185"/>
          </a:xfrm>
        </p:spPr>
        <p:txBody>
          <a:bodyPr>
            <a:normAutofit fontScale="90000"/>
          </a:bodyPr>
          <a:lstStyle/>
          <a:p>
            <a:r>
              <a:rPr lang="en-US" dirty="0"/>
              <a:t>Simplified 1 and 2 Hop Refraction from The F2 Region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C45675A-4513-2095-EA42-2CF975CF0C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81000" y="4458124"/>
            <a:ext cx="11658600" cy="2263351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UV and X radiation from the sun photoionize the upper atmosphere into free electrons and positively charged ions.</a:t>
            </a:r>
          </a:p>
          <a:p>
            <a:r>
              <a:rPr lang="en-US" dirty="0"/>
              <a:t>Complex photochemical reactions with oxygen, ozone, nitrogen, and nitrous oxide arrange the ionization into layers labeled D, E, and F (F1 and F2).</a:t>
            </a:r>
          </a:p>
          <a:p>
            <a:r>
              <a:rPr lang="en-US" dirty="0"/>
              <a:t>Velocity gradients in the ionized layers refract upward directed radio waves back to earth. Multiple hops involving reflection from the earth and other layers are possible, enabling global radio propagation.</a:t>
            </a:r>
          </a:p>
          <a:p>
            <a:r>
              <a:rPr lang="en-US" dirty="0"/>
              <a:t>Most HF radio propagation comes from the E and F layers. The D layer primarily acts as an attenuator with attenuation increasing with wavelength.</a:t>
            </a:r>
          </a:p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8233D06-8B3D-8444-1139-D7AA71062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02E099-75C6-4785-BA6C-247B514205D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6EE0A3A-1EC2-D9B8-FAF4-5562227820FC}"/>
              </a:ext>
            </a:extLst>
          </p:cNvPr>
          <p:cNvSpPr/>
          <p:nvPr/>
        </p:nvSpPr>
        <p:spPr>
          <a:xfrm>
            <a:off x="1904999" y="2642023"/>
            <a:ext cx="9925041" cy="387351"/>
          </a:xfrm>
          <a:prstGeom prst="rect">
            <a:avLst/>
          </a:prstGeom>
          <a:gradFill>
            <a:gsLst>
              <a:gs pos="15000">
                <a:schemeClr val="accent6">
                  <a:lumMod val="5000"/>
                  <a:lumOff val="95000"/>
                </a:schemeClr>
              </a:gs>
              <a:gs pos="40000">
                <a:schemeClr val="accent6">
                  <a:alpha val="70000"/>
                  <a:lumMod val="75000"/>
                  <a:lumOff val="25000"/>
                </a:schemeClr>
              </a:gs>
              <a:gs pos="60000">
                <a:schemeClr val="accent6">
                  <a:alpha val="70000"/>
                  <a:lumMod val="75000"/>
                  <a:lumOff val="25000"/>
                </a:schemeClr>
              </a:gs>
              <a:gs pos="85000">
                <a:schemeClr val="accent6">
                  <a:lumMod val="5167"/>
                  <a:lumOff val="94833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F07A9-0994-5249-0248-D92EF3FE271E}"/>
              </a:ext>
            </a:extLst>
          </p:cNvPr>
          <p:cNvSpPr/>
          <p:nvPr/>
        </p:nvSpPr>
        <p:spPr>
          <a:xfrm>
            <a:off x="1905000" y="3638974"/>
            <a:ext cx="9906000" cy="685800"/>
          </a:xfrm>
          <a:prstGeom prst="rect">
            <a:avLst/>
          </a:prstGeom>
          <a:solidFill>
            <a:srgbClr val="0BFF0B">
              <a:alpha val="59489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Great Circle Ground Distance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0B9E2B7-1BBF-CE30-67D3-A898579DE581}"/>
              </a:ext>
            </a:extLst>
          </p:cNvPr>
          <p:cNvCxnSpPr>
            <a:cxnSpLocks/>
          </p:cNvCxnSpPr>
          <p:nvPr/>
        </p:nvCxnSpPr>
        <p:spPr>
          <a:xfrm>
            <a:off x="2362200" y="3410374"/>
            <a:ext cx="0" cy="228600"/>
          </a:xfrm>
          <a:prstGeom prst="line">
            <a:avLst/>
          </a:prstGeom>
          <a:ln w="857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CFA0267-5860-453B-767D-7F785CAE7161}"/>
              </a:ext>
            </a:extLst>
          </p:cNvPr>
          <p:cNvCxnSpPr>
            <a:cxnSpLocks/>
          </p:cNvCxnSpPr>
          <p:nvPr/>
        </p:nvCxnSpPr>
        <p:spPr>
          <a:xfrm>
            <a:off x="11353800" y="3410374"/>
            <a:ext cx="0" cy="228600"/>
          </a:xfrm>
          <a:prstGeom prst="line">
            <a:avLst/>
          </a:prstGeom>
          <a:ln w="857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Freeform 15">
            <a:extLst>
              <a:ext uri="{FF2B5EF4-FFF2-40B4-BE49-F238E27FC236}">
                <a16:creationId xmlns:a16="http://schemas.microsoft.com/office/drawing/2014/main" id="{BA8C3A4A-829A-A135-BE71-23C083E5245C}"/>
              </a:ext>
            </a:extLst>
          </p:cNvPr>
          <p:cNvSpPr/>
          <p:nvPr/>
        </p:nvSpPr>
        <p:spPr>
          <a:xfrm>
            <a:off x="2419350" y="1708575"/>
            <a:ext cx="8953481" cy="1987550"/>
          </a:xfrm>
          <a:custGeom>
            <a:avLst/>
            <a:gdLst>
              <a:gd name="connsiteX0" fmla="*/ 0 w 8953500"/>
              <a:gd name="connsiteY0" fmla="*/ 3029073 h 3124323"/>
              <a:gd name="connsiteX1" fmla="*/ 4324350 w 8953500"/>
              <a:gd name="connsiteY1" fmla="*/ 123 h 3124323"/>
              <a:gd name="connsiteX2" fmla="*/ 8953500 w 8953500"/>
              <a:gd name="connsiteY2" fmla="*/ 3124323 h 31243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953500" h="3124323">
                <a:moveTo>
                  <a:pt x="0" y="3029073"/>
                </a:moveTo>
                <a:cubicBezTo>
                  <a:pt x="1416050" y="1506660"/>
                  <a:pt x="2832100" y="-15752"/>
                  <a:pt x="4324350" y="123"/>
                </a:cubicBezTo>
                <a:cubicBezTo>
                  <a:pt x="5816600" y="15998"/>
                  <a:pt x="7385050" y="1570160"/>
                  <a:pt x="8953500" y="3124323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EF20FD3C-3CC1-F35A-7632-0601E8FAF9DC}"/>
              </a:ext>
            </a:extLst>
          </p:cNvPr>
          <p:cNvSpPr/>
          <p:nvPr/>
        </p:nvSpPr>
        <p:spPr>
          <a:xfrm>
            <a:off x="2381237" y="1708574"/>
            <a:ext cx="4476789" cy="1930400"/>
          </a:xfrm>
          <a:custGeom>
            <a:avLst/>
            <a:gdLst>
              <a:gd name="connsiteX0" fmla="*/ 0 w 8953500"/>
              <a:gd name="connsiteY0" fmla="*/ 3029073 h 3124323"/>
              <a:gd name="connsiteX1" fmla="*/ 4324350 w 8953500"/>
              <a:gd name="connsiteY1" fmla="*/ 123 h 3124323"/>
              <a:gd name="connsiteX2" fmla="*/ 8953500 w 8953500"/>
              <a:gd name="connsiteY2" fmla="*/ 3124323 h 31243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953500" h="3124323">
                <a:moveTo>
                  <a:pt x="0" y="3029073"/>
                </a:moveTo>
                <a:cubicBezTo>
                  <a:pt x="1416050" y="1506660"/>
                  <a:pt x="2832100" y="-15752"/>
                  <a:pt x="4324350" y="123"/>
                </a:cubicBezTo>
                <a:cubicBezTo>
                  <a:pt x="5816600" y="15998"/>
                  <a:pt x="7385050" y="1570160"/>
                  <a:pt x="8953500" y="3124323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BBB471CC-75F5-27EA-5752-EB1A90E5CF42}"/>
              </a:ext>
            </a:extLst>
          </p:cNvPr>
          <p:cNvSpPr/>
          <p:nvPr/>
        </p:nvSpPr>
        <p:spPr>
          <a:xfrm flipH="1">
            <a:off x="6858024" y="1651424"/>
            <a:ext cx="4476739" cy="1987550"/>
          </a:xfrm>
          <a:custGeom>
            <a:avLst/>
            <a:gdLst>
              <a:gd name="connsiteX0" fmla="*/ 0 w 8953500"/>
              <a:gd name="connsiteY0" fmla="*/ 3029073 h 3124323"/>
              <a:gd name="connsiteX1" fmla="*/ 4324350 w 8953500"/>
              <a:gd name="connsiteY1" fmla="*/ 123 h 3124323"/>
              <a:gd name="connsiteX2" fmla="*/ 8953500 w 8953500"/>
              <a:gd name="connsiteY2" fmla="*/ 3124323 h 31243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953500" h="3124323">
                <a:moveTo>
                  <a:pt x="0" y="3029073"/>
                </a:moveTo>
                <a:cubicBezTo>
                  <a:pt x="1416050" y="1506660"/>
                  <a:pt x="2832100" y="-15752"/>
                  <a:pt x="4324350" y="123"/>
                </a:cubicBezTo>
                <a:cubicBezTo>
                  <a:pt x="5816600" y="15998"/>
                  <a:pt x="7385050" y="1570160"/>
                  <a:pt x="8953500" y="3124323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6F71B9D-4FB3-A1A2-C100-AA4D03C41F6D}"/>
              </a:ext>
            </a:extLst>
          </p:cNvPr>
          <p:cNvCxnSpPr/>
          <p:nvPr/>
        </p:nvCxnSpPr>
        <p:spPr>
          <a:xfrm>
            <a:off x="11372832" y="3772325"/>
            <a:ext cx="0" cy="40004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E1DFD335-EC17-5895-B25E-C76B41DE1BBE}"/>
              </a:ext>
            </a:extLst>
          </p:cNvPr>
          <p:cNvCxnSpPr/>
          <p:nvPr/>
        </p:nvCxnSpPr>
        <p:spPr>
          <a:xfrm>
            <a:off x="2362200" y="3543725"/>
            <a:ext cx="0" cy="40004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057440DC-1815-27EC-5707-63934B551347}"/>
              </a:ext>
            </a:extLst>
          </p:cNvPr>
          <p:cNvCxnSpPr/>
          <p:nvPr/>
        </p:nvCxnSpPr>
        <p:spPr>
          <a:xfrm>
            <a:off x="8966200" y="4019974"/>
            <a:ext cx="2406632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371362CF-ADAB-EE86-144D-7B9A4DC81E2E}"/>
              </a:ext>
            </a:extLst>
          </p:cNvPr>
          <p:cNvCxnSpPr/>
          <p:nvPr/>
        </p:nvCxnSpPr>
        <p:spPr>
          <a:xfrm flipH="1">
            <a:off x="2362200" y="4019974"/>
            <a:ext cx="2438400" cy="0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D71D2E9D-B218-50E0-7BB2-1C47CABAC31B}"/>
              </a:ext>
            </a:extLst>
          </p:cNvPr>
          <p:cNvSpPr txBox="1"/>
          <p:nvPr/>
        </p:nvSpPr>
        <p:spPr>
          <a:xfrm>
            <a:off x="220102" y="1197030"/>
            <a:ext cx="166584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F2 Region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200-330 km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113C780-0A3A-4695-2C7C-23D3153DD7A2}"/>
              </a:ext>
            </a:extLst>
          </p:cNvPr>
          <p:cNvSpPr txBox="1"/>
          <p:nvPr/>
        </p:nvSpPr>
        <p:spPr>
          <a:xfrm>
            <a:off x="366197" y="2655455"/>
            <a:ext cx="14318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 100-115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FB6A88E-80DD-ECE3-4D92-44D05F48E559}"/>
              </a:ext>
            </a:extLst>
          </p:cNvPr>
          <p:cNvSpPr txBox="1"/>
          <p:nvPr/>
        </p:nvSpPr>
        <p:spPr>
          <a:xfrm>
            <a:off x="366197" y="2986384"/>
            <a:ext cx="11592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 60-90</a:t>
            </a:r>
          </a:p>
        </p:txBody>
      </p:sp>
    </p:spTree>
    <p:extLst>
      <p:ext uri="{BB962C8B-B14F-4D97-AF65-F5344CB8AC3E}">
        <p14:creationId xmlns:p14="http://schemas.microsoft.com/office/powerpoint/2010/main" val="24808153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C308599-691F-04CE-A5CE-BB778BE2AD3E}"/>
              </a:ext>
            </a:extLst>
          </p:cNvPr>
          <p:cNvSpPr/>
          <p:nvPr/>
        </p:nvSpPr>
        <p:spPr>
          <a:xfrm>
            <a:off x="1905000" y="1066800"/>
            <a:ext cx="9905991" cy="1048174"/>
          </a:xfrm>
          <a:prstGeom prst="rect">
            <a:avLst/>
          </a:prstGeom>
          <a:gradFill>
            <a:gsLst>
              <a:gs pos="15000">
                <a:schemeClr val="accent6">
                  <a:lumMod val="5000"/>
                  <a:lumOff val="95000"/>
                </a:schemeClr>
              </a:gs>
              <a:gs pos="40000">
                <a:schemeClr val="accent6">
                  <a:alpha val="70000"/>
                  <a:lumMod val="55000"/>
                  <a:lumOff val="45000"/>
                </a:schemeClr>
              </a:gs>
              <a:gs pos="60000">
                <a:schemeClr val="accent6">
                  <a:alpha val="70000"/>
                  <a:lumMod val="55000"/>
                  <a:lumOff val="45000"/>
                </a:schemeClr>
              </a:gs>
              <a:gs pos="85000">
                <a:schemeClr val="accent6">
                  <a:lumMod val="5167"/>
                  <a:lumOff val="94833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Day ~ 300 km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Night ~ 220 km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648B07D-2A34-1221-5BC4-53E1ED86DFC5}"/>
              </a:ext>
            </a:extLst>
          </p:cNvPr>
          <p:cNvSpPr/>
          <p:nvPr/>
        </p:nvSpPr>
        <p:spPr>
          <a:xfrm>
            <a:off x="1905001" y="2953174"/>
            <a:ext cx="9905990" cy="400049"/>
          </a:xfrm>
          <a:prstGeom prst="rect">
            <a:avLst/>
          </a:prstGeom>
          <a:gradFill>
            <a:gsLst>
              <a:gs pos="0">
                <a:schemeClr val="accent6">
                  <a:lumMod val="5000"/>
                  <a:lumOff val="95000"/>
                </a:schemeClr>
              </a:gs>
              <a:gs pos="38000">
                <a:schemeClr val="accent6">
                  <a:alpha val="70000"/>
                  <a:lumMod val="90000"/>
                  <a:lumOff val="10000"/>
                </a:schemeClr>
              </a:gs>
              <a:gs pos="70000">
                <a:schemeClr val="accent6">
                  <a:alpha val="70000"/>
                  <a:lumMod val="90000"/>
                  <a:lumOff val="10000"/>
                </a:schemeClr>
              </a:gs>
              <a:gs pos="100000">
                <a:schemeClr val="accent6">
                  <a:lumMod val="5167"/>
                  <a:lumOff val="94833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Title 27">
            <a:extLst>
              <a:ext uri="{FF2B5EF4-FFF2-40B4-BE49-F238E27FC236}">
                <a16:creationId xmlns:a16="http://schemas.microsoft.com/office/drawing/2014/main" id="{7C750407-D8F7-E829-99ED-A7C06918EB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09" y="59604"/>
            <a:ext cx="12095181" cy="1071984"/>
          </a:xfrm>
        </p:spPr>
        <p:txBody>
          <a:bodyPr>
            <a:normAutofit fontScale="90000"/>
          </a:bodyPr>
          <a:lstStyle/>
          <a:p>
            <a:r>
              <a:rPr lang="en-US" dirty="0"/>
              <a:t>Simultaneous 1 Hop Refraction from the E and F2 Regions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C45675A-4513-2095-EA42-2CF975CF0C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81000" y="4458124"/>
            <a:ext cx="11658600" cy="2263351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UV and X radiation from the sun photoionize the upper atmosphere into free electrons and positively charged ions.</a:t>
            </a:r>
          </a:p>
          <a:p>
            <a:r>
              <a:rPr lang="en-US" dirty="0"/>
              <a:t>Complex photochemical reactions with oxygen, ozone, nitrogen, and nitrous oxide arrange the ionization into layers labeled D, E, and F (F1 and F2).</a:t>
            </a:r>
          </a:p>
          <a:p>
            <a:r>
              <a:rPr lang="en-US" dirty="0"/>
              <a:t>Velocity gradients in the ionized layers refract upward directed radio waves back to earth. Multiple hops involving reflection from the earth and other layers are possible, enabling global radio propagation.</a:t>
            </a:r>
          </a:p>
          <a:p>
            <a:r>
              <a:rPr lang="en-US" dirty="0"/>
              <a:t>Most HF radio propagation comes from the E and F layers. The D layer primarily acts as an attenuator with attenuation increasing with wavelength.</a:t>
            </a:r>
          </a:p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8233D06-8B3D-8444-1139-D7AA71062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02E099-75C6-4785-BA6C-247B514205D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6EE0A3A-1EC2-D9B8-FAF4-5562227820FC}"/>
              </a:ext>
            </a:extLst>
          </p:cNvPr>
          <p:cNvSpPr/>
          <p:nvPr/>
        </p:nvSpPr>
        <p:spPr>
          <a:xfrm>
            <a:off x="1904999" y="2642023"/>
            <a:ext cx="9925041" cy="387351"/>
          </a:xfrm>
          <a:prstGeom prst="rect">
            <a:avLst/>
          </a:prstGeom>
          <a:gradFill>
            <a:gsLst>
              <a:gs pos="15000">
                <a:schemeClr val="accent6">
                  <a:lumMod val="5000"/>
                  <a:lumOff val="95000"/>
                </a:schemeClr>
              </a:gs>
              <a:gs pos="40000">
                <a:schemeClr val="accent6">
                  <a:alpha val="70000"/>
                  <a:lumMod val="75000"/>
                  <a:lumOff val="25000"/>
                </a:schemeClr>
              </a:gs>
              <a:gs pos="60000">
                <a:schemeClr val="accent6">
                  <a:alpha val="70000"/>
                  <a:lumMod val="75000"/>
                  <a:lumOff val="25000"/>
                </a:schemeClr>
              </a:gs>
              <a:gs pos="85000">
                <a:schemeClr val="accent6">
                  <a:lumMod val="5167"/>
                  <a:lumOff val="94833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F07A9-0994-5249-0248-D92EF3FE271E}"/>
              </a:ext>
            </a:extLst>
          </p:cNvPr>
          <p:cNvSpPr/>
          <p:nvPr/>
        </p:nvSpPr>
        <p:spPr>
          <a:xfrm>
            <a:off x="1905000" y="3638974"/>
            <a:ext cx="9906000" cy="685800"/>
          </a:xfrm>
          <a:prstGeom prst="rect">
            <a:avLst/>
          </a:prstGeom>
          <a:solidFill>
            <a:srgbClr val="0BFF0B">
              <a:alpha val="59489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Great Circle Ground Distance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0B9E2B7-1BBF-CE30-67D3-A898579DE581}"/>
              </a:ext>
            </a:extLst>
          </p:cNvPr>
          <p:cNvCxnSpPr>
            <a:cxnSpLocks/>
          </p:cNvCxnSpPr>
          <p:nvPr/>
        </p:nvCxnSpPr>
        <p:spPr>
          <a:xfrm>
            <a:off x="2362200" y="3410374"/>
            <a:ext cx="0" cy="228600"/>
          </a:xfrm>
          <a:prstGeom prst="line">
            <a:avLst/>
          </a:prstGeom>
          <a:ln w="857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CFA0267-5860-453B-767D-7F785CAE7161}"/>
              </a:ext>
            </a:extLst>
          </p:cNvPr>
          <p:cNvCxnSpPr>
            <a:cxnSpLocks/>
          </p:cNvCxnSpPr>
          <p:nvPr/>
        </p:nvCxnSpPr>
        <p:spPr>
          <a:xfrm>
            <a:off x="11353800" y="3410374"/>
            <a:ext cx="0" cy="228600"/>
          </a:xfrm>
          <a:prstGeom prst="line">
            <a:avLst/>
          </a:prstGeom>
          <a:ln w="857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Freeform 15">
            <a:extLst>
              <a:ext uri="{FF2B5EF4-FFF2-40B4-BE49-F238E27FC236}">
                <a16:creationId xmlns:a16="http://schemas.microsoft.com/office/drawing/2014/main" id="{BA8C3A4A-829A-A135-BE71-23C083E5245C}"/>
              </a:ext>
            </a:extLst>
          </p:cNvPr>
          <p:cNvSpPr/>
          <p:nvPr/>
        </p:nvSpPr>
        <p:spPr>
          <a:xfrm>
            <a:off x="2419351" y="1535000"/>
            <a:ext cx="8915400" cy="2128851"/>
          </a:xfrm>
          <a:custGeom>
            <a:avLst/>
            <a:gdLst>
              <a:gd name="connsiteX0" fmla="*/ 0 w 8953500"/>
              <a:gd name="connsiteY0" fmla="*/ 3029073 h 3124323"/>
              <a:gd name="connsiteX1" fmla="*/ 4324350 w 8953500"/>
              <a:gd name="connsiteY1" fmla="*/ 123 h 3124323"/>
              <a:gd name="connsiteX2" fmla="*/ 8953500 w 8953500"/>
              <a:gd name="connsiteY2" fmla="*/ 3124323 h 31243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953500" h="3124323">
                <a:moveTo>
                  <a:pt x="0" y="3029073"/>
                </a:moveTo>
                <a:cubicBezTo>
                  <a:pt x="1416050" y="1506660"/>
                  <a:pt x="2832100" y="-15752"/>
                  <a:pt x="4324350" y="123"/>
                </a:cubicBezTo>
                <a:cubicBezTo>
                  <a:pt x="5816600" y="15998"/>
                  <a:pt x="7385050" y="1570160"/>
                  <a:pt x="8953500" y="3124323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EF20FD3C-3CC1-F35A-7632-0601E8FAF9DC}"/>
              </a:ext>
            </a:extLst>
          </p:cNvPr>
          <p:cNvSpPr/>
          <p:nvPr/>
        </p:nvSpPr>
        <p:spPr>
          <a:xfrm>
            <a:off x="2381237" y="2848784"/>
            <a:ext cx="8915407" cy="800948"/>
          </a:xfrm>
          <a:custGeom>
            <a:avLst/>
            <a:gdLst>
              <a:gd name="connsiteX0" fmla="*/ 0 w 8953500"/>
              <a:gd name="connsiteY0" fmla="*/ 3029073 h 3124323"/>
              <a:gd name="connsiteX1" fmla="*/ 4324350 w 8953500"/>
              <a:gd name="connsiteY1" fmla="*/ 123 h 3124323"/>
              <a:gd name="connsiteX2" fmla="*/ 8953500 w 8953500"/>
              <a:gd name="connsiteY2" fmla="*/ 3124323 h 31243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953500" h="3124323">
                <a:moveTo>
                  <a:pt x="0" y="3029073"/>
                </a:moveTo>
                <a:cubicBezTo>
                  <a:pt x="1416050" y="1506660"/>
                  <a:pt x="2832100" y="-15752"/>
                  <a:pt x="4324350" y="123"/>
                </a:cubicBezTo>
                <a:cubicBezTo>
                  <a:pt x="5816600" y="15998"/>
                  <a:pt x="7385050" y="1570160"/>
                  <a:pt x="8953500" y="3124323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6F71B9D-4FB3-A1A2-C100-AA4D03C41F6D}"/>
              </a:ext>
            </a:extLst>
          </p:cNvPr>
          <p:cNvCxnSpPr/>
          <p:nvPr/>
        </p:nvCxnSpPr>
        <p:spPr>
          <a:xfrm>
            <a:off x="11372832" y="3772325"/>
            <a:ext cx="0" cy="40004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E1DFD335-EC17-5895-B25E-C76B41DE1BBE}"/>
              </a:ext>
            </a:extLst>
          </p:cNvPr>
          <p:cNvCxnSpPr/>
          <p:nvPr/>
        </p:nvCxnSpPr>
        <p:spPr>
          <a:xfrm>
            <a:off x="2362200" y="3543725"/>
            <a:ext cx="0" cy="40004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057440DC-1815-27EC-5707-63934B551347}"/>
              </a:ext>
            </a:extLst>
          </p:cNvPr>
          <p:cNvCxnSpPr/>
          <p:nvPr/>
        </p:nvCxnSpPr>
        <p:spPr>
          <a:xfrm>
            <a:off x="8966200" y="4019974"/>
            <a:ext cx="2406632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371362CF-ADAB-EE86-144D-7B9A4DC81E2E}"/>
              </a:ext>
            </a:extLst>
          </p:cNvPr>
          <p:cNvCxnSpPr/>
          <p:nvPr/>
        </p:nvCxnSpPr>
        <p:spPr>
          <a:xfrm flipH="1">
            <a:off x="2362200" y="4019974"/>
            <a:ext cx="2438400" cy="0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D71D2E9D-B218-50E0-7BB2-1C47CABAC31B}"/>
              </a:ext>
            </a:extLst>
          </p:cNvPr>
          <p:cNvSpPr txBox="1"/>
          <p:nvPr/>
        </p:nvSpPr>
        <p:spPr>
          <a:xfrm>
            <a:off x="220102" y="1197030"/>
            <a:ext cx="166584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F2 Region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200-330 km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113C780-0A3A-4695-2C7C-23D3153DD7A2}"/>
              </a:ext>
            </a:extLst>
          </p:cNvPr>
          <p:cNvSpPr txBox="1"/>
          <p:nvPr/>
        </p:nvSpPr>
        <p:spPr>
          <a:xfrm>
            <a:off x="366197" y="2655455"/>
            <a:ext cx="14318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 100-115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FB6A88E-80DD-ECE3-4D92-44D05F48E559}"/>
              </a:ext>
            </a:extLst>
          </p:cNvPr>
          <p:cNvSpPr txBox="1"/>
          <p:nvPr/>
        </p:nvSpPr>
        <p:spPr>
          <a:xfrm>
            <a:off x="366197" y="2986384"/>
            <a:ext cx="11592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 60-90</a:t>
            </a:r>
          </a:p>
        </p:txBody>
      </p:sp>
    </p:spTree>
    <p:extLst>
      <p:ext uri="{BB962C8B-B14F-4D97-AF65-F5344CB8AC3E}">
        <p14:creationId xmlns:p14="http://schemas.microsoft.com/office/powerpoint/2010/main" val="42169732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A7DBA5-68D2-980D-13B0-91AE32C5A7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2E099-75C6-4785-BA6C-247B514205D8}" type="slidenum">
              <a:rPr lang="en-US" smtClean="0"/>
              <a:t>5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A49C0BF-85BD-B192-FF29-0BFB1438DC98}"/>
              </a:ext>
            </a:extLst>
          </p:cNvPr>
          <p:cNvSpPr/>
          <p:nvPr/>
        </p:nvSpPr>
        <p:spPr>
          <a:xfrm>
            <a:off x="435077" y="1224116"/>
            <a:ext cx="2168013" cy="120936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90006B-C3EC-62BB-5CBA-B511C761F2CF}"/>
              </a:ext>
            </a:extLst>
          </p:cNvPr>
          <p:cNvSpPr txBox="1"/>
          <p:nvPr/>
        </p:nvSpPr>
        <p:spPr>
          <a:xfrm>
            <a:off x="435077" y="1367135"/>
            <a:ext cx="17907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Computer with .wav Chirp Waveform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61AC8F0-4F8B-D3BA-1896-C87E3D20A259}"/>
              </a:ext>
            </a:extLst>
          </p:cNvPr>
          <p:cNvSpPr txBox="1"/>
          <p:nvPr/>
        </p:nvSpPr>
        <p:spPr>
          <a:xfrm>
            <a:off x="1972789" y="1505634"/>
            <a:ext cx="6303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Sound</a:t>
            </a:r>
          </a:p>
          <a:p>
            <a:r>
              <a:rPr lang="en-US" sz="1200" dirty="0"/>
              <a:t>Card</a:t>
            </a:r>
          </a:p>
          <a:p>
            <a:r>
              <a:rPr lang="en-US" sz="1200" dirty="0"/>
              <a:t>Output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DCA5B00-8647-C9D1-0315-83C5DD7C9412}"/>
              </a:ext>
            </a:extLst>
          </p:cNvPr>
          <p:cNvSpPr/>
          <p:nvPr/>
        </p:nvSpPr>
        <p:spPr>
          <a:xfrm>
            <a:off x="2854427" y="1224116"/>
            <a:ext cx="2168013" cy="120936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5CF2BD3-FF09-821B-21F3-9D26EB34FE2C}"/>
              </a:ext>
            </a:extLst>
          </p:cNvPr>
          <p:cNvSpPr txBox="1"/>
          <p:nvPr/>
        </p:nvSpPr>
        <p:spPr>
          <a:xfrm>
            <a:off x="3657142" y="1505633"/>
            <a:ext cx="12794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HF</a:t>
            </a:r>
          </a:p>
          <a:p>
            <a:pPr algn="ctr"/>
            <a:r>
              <a:rPr lang="en-US" dirty="0"/>
              <a:t>Transmitter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A694ED3-33A4-028F-67E3-F820054D6CA7}"/>
              </a:ext>
            </a:extLst>
          </p:cNvPr>
          <p:cNvSpPr txBox="1"/>
          <p:nvPr/>
        </p:nvSpPr>
        <p:spPr>
          <a:xfrm>
            <a:off x="2830039" y="1524684"/>
            <a:ext cx="74122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Mic</a:t>
            </a:r>
          </a:p>
          <a:p>
            <a:r>
              <a:rPr lang="en-US" sz="1200" dirty="0"/>
              <a:t>Input</a:t>
            </a:r>
          </a:p>
          <a:p>
            <a:r>
              <a:rPr lang="en-US" sz="1200" dirty="0"/>
              <a:t>Interface</a:t>
            </a:r>
          </a:p>
        </p:txBody>
      </p:sp>
      <p:sp>
        <p:nvSpPr>
          <p:cNvPr id="13" name="Triangle 12">
            <a:extLst>
              <a:ext uri="{FF2B5EF4-FFF2-40B4-BE49-F238E27FC236}">
                <a16:creationId xmlns:a16="http://schemas.microsoft.com/office/drawing/2014/main" id="{D81948C7-2D5D-6979-1181-BA9FE14724A7}"/>
              </a:ext>
            </a:extLst>
          </p:cNvPr>
          <p:cNvSpPr/>
          <p:nvPr/>
        </p:nvSpPr>
        <p:spPr>
          <a:xfrm rot="10800000">
            <a:off x="5162550" y="1224116"/>
            <a:ext cx="647700" cy="452284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BF94B2E-45CF-F163-BC19-54CD8A57EF64}"/>
              </a:ext>
            </a:extLst>
          </p:cNvPr>
          <p:cNvCxnSpPr>
            <a:cxnSpLocks/>
            <a:endCxn id="12" idx="1"/>
          </p:cNvCxnSpPr>
          <p:nvPr/>
        </p:nvCxnSpPr>
        <p:spPr>
          <a:xfrm>
            <a:off x="2603090" y="1847850"/>
            <a:ext cx="226949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8290ED2-1F6A-74CB-7CD5-FF01D2873EAA}"/>
              </a:ext>
            </a:extLst>
          </p:cNvPr>
          <p:cNvCxnSpPr>
            <a:stCxn id="13" idx="0"/>
          </p:cNvCxnSpPr>
          <p:nvPr/>
        </p:nvCxnSpPr>
        <p:spPr>
          <a:xfrm>
            <a:off x="5486400" y="1676400"/>
            <a:ext cx="0" cy="15239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1626060-9708-62A5-F860-8DFB8A70266B}"/>
              </a:ext>
            </a:extLst>
          </p:cNvPr>
          <p:cNvCxnSpPr>
            <a:cxnSpLocks/>
          </p:cNvCxnSpPr>
          <p:nvPr/>
        </p:nvCxnSpPr>
        <p:spPr>
          <a:xfrm flipH="1">
            <a:off x="5022440" y="1828800"/>
            <a:ext cx="46396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Picture 24">
            <a:extLst>
              <a:ext uri="{FF2B5EF4-FFF2-40B4-BE49-F238E27FC236}">
                <a16:creationId xmlns:a16="http://schemas.microsoft.com/office/drawing/2014/main" id="{366394AE-2461-A493-EED8-35EBFCA5CE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0250" y="1181099"/>
            <a:ext cx="3189542" cy="120936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797FA63F-8A35-9F00-F8C8-1D9EA5A737E6}"/>
              </a:ext>
            </a:extLst>
          </p:cNvPr>
          <p:cNvSpPr/>
          <p:nvPr/>
        </p:nvSpPr>
        <p:spPr>
          <a:xfrm>
            <a:off x="1905000" y="3140530"/>
            <a:ext cx="9905991" cy="1048174"/>
          </a:xfrm>
          <a:prstGeom prst="rect">
            <a:avLst/>
          </a:prstGeom>
          <a:gradFill>
            <a:gsLst>
              <a:gs pos="15000">
                <a:schemeClr val="accent6">
                  <a:lumMod val="5000"/>
                  <a:lumOff val="95000"/>
                </a:schemeClr>
              </a:gs>
              <a:gs pos="40000">
                <a:schemeClr val="accent6">
                  <a:alpha val="70000"/>
                  <a:lumMod val="55000"/>
                  <a:lumOff val="45000"/>
                </a:schemeClr>
              </a:gs>
              <a:gs pos="60000">
                <a:schemeClr val="accent6">
                  <a:alpha val="70000"/>
                  <a:lumMod val="55000"/>
                  <a:lumOff val="45000"/>
                </a:schemeClr>
              </a:gs>
              <a:gs pos="85000">
                <a:schemeClr val="accent6">
                  <a:lumMod val="5167"/>
                  <a:lumOff val="94833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Night ~ 300 km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Day ~ 220 km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34DD8F7-51A0-8869-4FE1-E182DE67205B}"/>
              </a:ext>
            </a:extLst>
          </p:cNvPr>
          <p:cNvSpPr/>
          <p:nvPr/>
        </p:nvSpPr>
        <p:spPr>
          <a:xfrm>
            <a:off x="1905001" y="5026904"/>
            <a:ext cx="9905990" cy="400049"/>
          </a:xfrm>
          <a:prstGeom prst="rect">
            <a:avLst/>
          </a:prstGeom>
          <a:gradFill>
            <a:gsLst>
              <a:gs pos="0">
                <a:schemeClr val="accent6">
                  <a:lumMod val="5000"/>
                  <a:lumOff val="95000"/>
                </a:schemeClr>
              </a:gs>
              <a:gs pos="38000">
                <a:schemeClr val="accent6">
                  <a:alpha val="70000"/>
                  <a:lumMod val="90000"/>
                  <a:lumOff val="10000"/>
                </a:schemeClr>
              </a:gs>
              <a:gs pos="70000">
                <a:schemeClr val="accent6">
                  <a:alpha val="70000"/>
                  <a:lumMod val="90000"/>
                  <a:lumOff val="10000"/>
                </a:schemeClr>
              </a:gs>
              <a:gs pos="100000">
                <a:schemeClr val="accent6">
                  <a:lumMod val="5167"/>
                  <a:lumOff val="94833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1CE5726-83F2-24C1-6679-236F377F4279}"/>
              </a:ext>
            </a:extLst>
          </p:cNvPr>
          <p:cNvSpPr/>
          <p:nvPr/>
        </p:nvSpPr>
        <p:spPr>
          <a:xfrm>
            <a:off x="1904999" y="4715753"/>
            <a:ext cx="9925041" cy="387351"/>
          </a:xfrm>
          <a:prstGeom prst="rect">
            <a:avLst/>
          </a:prstGeom>
          <a:gradFill>
            <a:gsLst>
              <a:gs pos="15000">
                <a:schemeClr val="accent6">
                  <a:lumMod val="5000"/>
                  <a:lumOff val="95000"/>
                </a:schemeClr>
              </a:gs>
              <a:gs pos="40000">
                <a:schemeClr val="accent6">
                  <a:alpha val="70000"/>
                  <a:lumMod val="75000"/>
                  <a:lumOff val="25000"/>
                </a:schemeClr>
              </a:gs>
              <a:gs pos="60000">
                <a:schemeClr val="accent6">
                  <a:alpha val="70000"/>
                  <a:lumMod val="75000"/>
                  <a:lumOff val="25000"/>
                </a:schemeClr>
              </a:gs>
              <a:gs pos="85000">
                <a:schemeClr val="accent6">
                  <a:lumMod val="5167"/>
                  <a:lumOff val="94833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659871B-107C-2E4F-B60A-CADF1F6788A3}"/>
              </a:ext>
            </a:extLst>
          </p:cNvPr>
          <p:cNvSpPr/>
          <p:nvPr/>
        </p:nvSpPr>
        <p:spPr>
          <a:xfrm>
            <a:off x="1905000" y="5712704"/>
            <a:ext cx="9906000" cy="685800"/>
          </a:xfrm>
          <a:prstGeom prst="rect">
            <a:avLst/>
          </a:prstGeom>
          <a:solidFill>
            <a:srgbClr val="0BFF0B">
              <a:alpha val="59489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431A735-D2F5-5624-59C3-CD126508E661}"/>
              </a:ext>
            </a:extLst>
          </p:cNvPr>
          <p:cNvCxnSpPr>
            <a:cxnSpLocks/>
          </p:cNvCxnSpPr>
          <p:nvPr/>
        </p:nvCxnSpPr>
        <p:spPr>
          <a:xfrm>
            <a:off x="2362200" y="5484104"/>
            <a:ext cx="0" cy="228600"/>
          </a:xfrm>
          <a:prstGeom prst="line">
            <a:avLst/>
          </a:prstGeom>
          <a:ln w="857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8452694-CC18-261B-45CE-B6DCF29C58CE}"/>
              </a:ext>
            </a:extLst>
          </p:cNvPr>
          <p:cNvCxnSpPr>
            <a:cxnSpLocks/>
          </p:cNvCxnSpPr>
          <p:nvPr/>
        </p:nvCxnSpPr>
        <p:spPr>
          <a:xfrm>
            <a:off x="11353800" y="5484104"/>
            <a:ext cx="0" cy="228600"/>
          </a:xfrm>
          <a:prstGeom prst="line">
            <a:avLst/>
          </a:prstGeom>
          <a:ln w="857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Freeform 16">
            <a:extLst>
              <a:ext uri="{FF2B5EF4-FFF2-40B4-BE49-F238E27FC236}">
                <a16:creationId xmlns:a16="http://schemas.microsoft.com/office/drawing/2014/main" id="{BE453093-8264-0FEA-A97C-11E43175EA59}"/>
              </a:ext>
            </a:extLst>
          </p:cNvPr>
          <p:cNvSpPr/>
          <p:nvPr/>
        </p:nvSpPr>
        <p:spPr>
          <a:xfrm>
            <a:off x="2419350" y="3782305"/>
            <a:ext cx="8953481" cy="1987550"/>
          </a:xfrm>
          <a:custGeom>
            <a:avLst/>
            <a:gdLst>
              <a:gd name="connsiteX0" fmla="*/ 0 w 8953500"/>
              <a:gd name="connsiteY0" fmla="*/ 3029073 h 3124323"/>
              <a:gd name="connsiteX1" fmla="*/ 4324350 w 8953500"/>
              <a:gd name="connsiteY1" fmla="*/ 123 h 3124323"/>
              <a:gd name="connsiteX2" fmla="*/ 8953500 w 8953500"/>
              <a:gd name="connsiteY2" fmla="*/ 3124323 h 31243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953500" h="3124323">
                <a:moveTo>
                  <a:pt x="0" y="3029073"/>
                </a:moveTo>
                <a:cubicBezTo>
                  <a:pt x="1416050" y="1506660"/>
                  <a:pt x="2832100" y="-15752"/>
                  <a:pt x="4324350" y="123"/>
                </a:cubicBezTo>
                <a:cubicBezTo>
                  <a:pt x="5816600" y="15998"/>
                  <a:pt x="7385050" y="1570160"/>
                  <a:pt x="8953500" y="3124323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46022402-41E7-179A-3473-FC37EB599AEC}"/>
              </a:ext>
            </a:extLst>
          </p:cNvPr>
          <p:cNvSpPr/>
          <p:nvPr/>
        </p:nvSpPr>
        <p:spPr>
          <a:xfrm>
            <a:off x="2381237" y="3782304"/>
            <a:ext cx="4476789" cy="1930400"/>
          </a:xfrm>
          <a:custGeom>
            <a:avLst/>
            <a:gdLst>
              <a:gd name="connsiteX0" fmla="*/ 0 w 8953500"/>
              <a:gd name="connsiteY0" fmla="*/ 3029073 h 3124323"/>
              <a:gd name="connsiteX1" fmla="*/ 4324350 w 8953500"/>
              <a:gd name="connsiteY1" fmla="*/ 123 h 3124323"/>
              <a:gd name="connsiteX2" fmla="*/ 8953500 w 8953500"/>
              <a:gd name="connsiteY2" fmla="*/ 3124323 h 31243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953500" h="3124323">
                <a:moveTo>
                  <a:pt x="0" y="3029073"/>
                </a:moveTo>
                <a:cubicBezTo>
                  <a:pt x="1416050" y="1506660"/>
                  <a:pt x="2832100" y="-15752"/>
                  <a:pt x="4324350" y="123"/>
                </a:cubicBezTo>
                <a:cubicBezTo>
                  <a:pt x="5816600" y="15998"/>
                  <a:pt x="7385050" y="1570160"/>
                  <a:pt x="8953500" y="3124323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Freeform 19">
            <a:extLst>
              <a:ext uri="{FF2B5EF4-FFF2-40B4-BE49-F238E27FC236}">
                <a16:creationId xmlns:a16="http://schemas.microsoft.com/office/drawing/2014/main" id="{4386DADC-1F53-81EA-9A7F-C8231E9789EF}"/>
              </a:ext>
            </a:extLst>
          </p:cNvPr>
          <p:cNvSpPr/>
          <p:nvPr/>
        </p:nvSpPr>
        <p:spPr>
          <a:xfrm flipH="1">
            <a:off x="6858024" y="3725154"/>
            <a:ext cx="4476739" cy="1987550"/>
          </a:xfrm>
          <a:custGeom>
            <a:avLst/>
            <a:gdLst>
              <a:gd name="connsiteX0" fmla="*/ 0 w 8953500"/>
              <a:gd name="connsiteY0" fmla="*/ 3029073 h 3124323"/>
              <a:gd name="connsiteX1" fmla="*/ 4324350 w 8953500"/>
              <a:gd name="connsiteY1" fmla="*/ 123 h 3124323"/>
              <a:gd name="connsiteX2" fmla="*/ 8953500 w 8953500"/>
              <a:gd name="connsiteY2" fmla="*/ 3124323 h 31243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953500" h="3124323">
                <a:moveTo>
                  <a:pt x="0" y="3029073"/>
                </a:moveTo>
                <a:cubicBezTo>
                  <a:pt x="1416050" y="1506660"/>
                  <a:pt x="2832100" y="-15752"/>
                  <a:pt x="4324350" y="123"/>
                </a:cubicBezTo>
                <a:cubicBezTo>
                  <a:pt x="5816600" y="15998"/>
                  <a:pt x="7385050" y="1570160"/>
                  <a:pt x="8953500" y="3124323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DFA03A1-B18F-85CF-094E-86069F29DCB4}"/>
              </a:ext>
            </a:extLst>
          </p:cNvPr>
          <p:cNvSpPr txBox="1"/>
          <p:nvPr/>
        </p:nvSpPr>
        <p:spPr>
          <a:xfrm>
            <a:off x="220102" y="3270760"/>
            <a:ext cx="166584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F2 Region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200-350 km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A6FBED5-E64A-B5F3-2509-646A0B8CE51B}"/>
              </a:ext>
            </a:extLst>
          </p:cNvPr>
          <p:cNvSpPr txBox="1"/>
          <p:nvPr/>
        </p:nvSpPr>
        <p:spPr>
          <a:xfrm>
            <a:off x="366197" y="4729185"/>
            <a:ext cx="12763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 90-120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81D414C-4ABF-98F9-8FC1-C71BEAFBD325}"/>
              </a:ext>
            </a:extLst>
          </p:cNvPr>
          <p:cNvSpPr txBox="1"/>
          <p:nvPr/>
        </p:nvSpPr>
        <p:spPr>
          <a:xfrm>
            <a:off x="366197" y="5060114"/>
            <a:ext cx="11592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 60-90</a:t>
            </a:r>
          </a:p>
        </p:txBody>
      </p:sp>
    </p:spTree>
    <p:extLst>
      <p:ext uri="{BB962C8B-B14F-4D97-AF65-F5344CB8AC3E}">
        <p14:creationId xmlns:p14="http://schemas.microsoft.com/office/powerpoint/2010/main" val="10130352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C308599-691F-04CE-A5CE-BB778BE2AD3E}"/>
              </a:ext>
            </a:extLst>
          </p:cNvPr>
          <p:cNvSpPr/>
          <p:nvPr/>
        </p:nvSpPr>
        <p:spPr>
          <a:xfrm>
            <a:off x="1905000" y="1066800"/>
            <a:ext cx="9905991" cy="1048174"/>
          </a:xfrm>
          <a:prstGeom prst="rect">
            <a:avLst/>
          </a:prstGeom>
          <a:gradFill>
            <a:gsLst>
              <a:gs pos="15000">
                <a:schemeClr val="accent6">
                  <a:lumMod val="5000"/>
                  <a:lumOff val="95000"/>
                </a:schemeClr>
              </a:gs>
              <a:gs pos="40000">
                <a:schemeClr val="accent6">
                  <a:alpha val="70000"/>
                  <a:lumMod val="55000"/>
                  <a:lumOff val="45000"/>
                </a:schemeClr>
              </a:gs>
              <a:gs pos="60000">
                <a:schemeClr val="accent6">
                  <a:alpha val="70000"/>
                  <a:lumMod val="55000"/>
                  <a:lumOff val="45000"/>
                </a:schemeClr>
              </a:gs>
              <a:gs pos="85000">
                <a:schemeClr val="accent6">
                  <a:lumMod val="5167"/>
                  <a:lumOff val="94833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F07A9-0994-5249-0248-D92EF3FE271E}"/>
              </a:ext>
            </a:extLst>
          </p:cNvPr>
          <p:cNvSpPr/>
          <p:nvPr/>
        </p:nvSpPr>
        <p:spPr>
          <a:xfrm>
            <a:off x="1905000" y="3638974"/>
            <a:ext cx="9906000" cy="685800"/>
          </a:xfrm>
          <a:prstGeom prst="rect">
            <a:avLst/>
          </a:prstGeom>
          <a:solidFill>
            <a:srgbClr val="0BFF0B">
              <a:alpha val="59489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rgbClr val="002060"/>
              </a:solidFill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0B9E2B7-1BBF-CE30-67D3-A898579DE581}"/>
              </a:ext>
            </a:extLst>
          </p:cNvPr>
          <p:cNvCxnSpPr>
            <a:cxnSpLocks/>
          </p:cNvCxnSpPr>
          <p:nvPr/>
        </p:nvCxnSpPr>
        <p:spPr>
          <a:xfrm>
            <a:off x="2362200" y="3410374"/>
            <a:ext cx="0" cy="228600"/>
          </a:xfrm>
          <a:prstGeom prst="line">
            <a:avLst/>
          </a:prstGeom>
          <a:ln w="857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CFA0267-5860-453B-767D-7F785CAE7161}"/>
              </a:ext>
            </a:extLst>
          </p:cNvPr>
          <p:cNvCxnSpPr>
            <a:cxnSpLocks/>
          </p:cNvCxnSpPr>
          <p:nvPr/>
        </p:nvCxnSpPr>
        <p:spPr>
          <a:xfrm>
            <a:off x="11353800" y="3410374"/>
            <a:ext cx="0" cy="228600"/>
          </a:xfrm>
          <a:prstGeom prst="line">
            <a:avLst/>
          </a:prstGeom>
          <a:ln w="857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Freeform 15">
            <a:extLst>
              <a:ext uri="{FF2B5EF4-FFF2-40B4-BE49-F238E27FC236}">
                <a16:creationId xmlns:a16="http://schemas.microsoft.com/office/drawing/2014/main" id="{BA8C3A4A-829A-A135-BE71-23C083E5245C}"/>
              </a:ext>
            </a:extLst>
          </p:cNvPr>
          <p:cNvSpPr/>
          <p:nvPr/>
        </p:nvSpPr>
        <p:spPr>
          <a:xfrm>
            <a:off x="2419350" y="1708575"/>
            <a:ext cx="8953481" cy="1987550"/>
          </a:xfrm>
          <a:custGeom>
            <a:avLst/>
            <a:gdLst>
              <a:gd name="connsiteX0" fmla="*/ 0 w 8953500"/>
              <a:gd name="connsiteY0" fmla="*/ 3029073 h 3124323"/>
              <a:gd name="connsiteX1" fmla="*/ 4324350 w 8953500"/>
              <a:gd name="connsiteY1" fmla="*/ 123 h 3124323"/>
              <a:gd name="connsiteX2" fmla="*/ 8953500 w 8953500"/>
              <a:gd name="connsiteY2" fmla="*/ 3124323 h 31243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953500" h="3124323">
                <a:moveTo>
                  <a:pt x="0" y="3029073"/>
                </a:moveTo>
                <a:cubicBezTo>
                  <a:pt x="1416050" y="1506660"/>
                  <a:pt x="2832100" y="-15752"/>
                  <a:pt x="4324350" y="123"/>
                </a:cubicBezTo>
                <a:cubicBezTo>
                  <a:pt x="5816600" y="15998"/>
                  <a:pt x="7385050" y="1570160"/>
                  <a:pt x="8953500" y="3124323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EF20FD3C-3CC1-F35A-7632-0601E8FAF9DC}"/>
              </a:ext>
            </a:extLst>
          </p:cNvPr>
          <p:cNvSpPr/>
          <p:nvPr/>
        </p:nvSpPr>
        <p:spPr>
          <a:xfrm>
            <a:off x="2381237" y="1708574"/>
            <a:ext cx="4476789" cy="1930400"/>
          </a:xfrm>
          <a:custGeom>
            <a:avLst/>
            <a:gdLst>
              <a:gd name="connsiteX0" fmla="*/ 0 w 8953500"/>
              <a:gd name="connsiteY0" fmla="*/ 3029073 h 3124323"/>
              <a:gd name="connsiteX1" fmla="*/ 4324350 w 8953500"/>
              <a:gd name="connsiteY1" fmla="*/ 123 h 3124323"/>
              <a:gd name="connsiteX2" fmla="*/ 8953500 w 8953500"/>
              <a:gd name="connsiteY2" fmla="*/ 3124323 h 31243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953500" h="3124323">
                <a:moveTo>
                  <a:pt x="0" y="3029073"/>
                </a:moveTo>
                <a:cubicBezTo>
                  <a:pt x="1416050" y="1506660"/>
                  <a:pt x="2832100" y="-15752"/>
                  <a:pt x="4324350" y="123"/>
                </a:cubicBezTo>
                <a:cubicBezTo>
                  <a:pt x="5816600" y="15998"/>
                  <a:pt x="7385050" y="1570160"/>
                  <a:pt x="8953500" y="3124323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BBB471CC-75F5-27EA-5752-EB1A90E5CF42}"/>
              </a:ext>
            </a:extLst>
          </p:cNvPr>
          <p:cNvSpPr/>
          <p:nvPr/>
        </p:nvSpPr>
        <p:spPr>
          <a:xfrm flipH="1">
            <a:off x="6858024" y="1651424"/>
            <a:ext cx="4476739" cy="1987550"/>
          </a:xfrm>
          <a:custGeom>
            <a:avLst/>
            <a:gdLst>
              <a:gd name="connsiteX0" fmla="*/ 0 w 8953500"/>
              <a:gd name="connsiteY0" fmla="*/ 3029073 h 3124323"/>
              <a:gd name="connsiteX1" fmla="*/ 4324350 w 8953500"/>
              <a:gd name="connsiteY1" fmla="*/ 123 h 3124323"/>
              <a:gd name="connsiteX2" fmla="*/ 8953500 w 8953500"/>
              <a:gd name="connsiteY2" fmla="*/ 3124323 h 31243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953500" h="3124323">
                <a:moveTo>
                  <a:pt x="0" y="3029073"/>
                </a:moveTo>
                <a:cubicBezTo>
                  <a:pt x="1416050" y="1506660"/>
                  <a:pt x="2832100" y="-15752"/>
                  <a:pt x="4324350" y="123"/>
                </a:cubicBezTo>
                <a:cubicBezTo>
                  <a:pt x="5816600" y="15998"/>
                  <a:pt x="7385050" y="1570160"/>
                  <a:pt x="8953500" y="3124323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86807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A7DBA5-68D2-980D-13B0-91AE32C5A7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2E099-75C6-4785-BA6C-247B514205D8}" type="slidenum">
              <a:rPr lang="en-US" smtClean="0"/>
              <a:t>7</a:t>
            </a:fld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A49C0BF-85BD-B192-FF29-0BFB1438DC98}"/>
              </a:ext>
            </a:extLst>
          </p:cNvPr>
          <p:cNvSpPr/>
          <p:nvPr/>
        </p:nvSpPr>
        <p:spPr>
          <a:xfrm>
            <a:off x="720827" y="1414616"/>
            <a:ext cx="2168013" cy="120936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90006B-C3EC-62BB-5CBA-B511C761F2CF}"/>
              </a:ext>
            </a:extLst>
          </p:cNvPr>
          <p:cNvSpPr txBox="1"/>
          <p:nvPr/>
        </p:nvSpPr>
        <p:spPr>
          <a:xfrm>
            <a:off x="720827" y="1557635"/>
            <a:ext cx="20821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Computer with .wav Chirp Waveform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61AC8F0-4F8B-D3BA-1896-C87E3D20A259}"/>
              </a:ext>
            </a:extLst>
          </p:cNvPr>
          <p:cNvSpPr txBox="1"/>
          <p:nvPr/>
        </p:nvSpPr>
        <p:spPr>
          <a:xfrm>
            <a:off x="1048767" y="2294084"/>
            <a:ext cx="16744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Sound Card Output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DCA5B00-8647-C9D1-0315-83C5DD7C9412}"/>
              </a:ext>
            </a:extLst>
          </p:cNvPr>
          <p:cNvSpPr/>
          <p:nvPr/>
        </p:nvSpPr>
        <p:spPr>
          <a:xfrm>
            <a:off x="720827" y="2900516"/>
            <a:ext cx="2168013" cy="120936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5CF2BD3-FF09-821B-21F3-9D26EB34FE2C}"/>
              </a:ext>
            </a:extLst>
          </p:cNvPr>
          <p:cNvSpPr txBox="1"/>
          <p:nvPr/>
        </p:nvSpPr>
        <p:spPr>
          <a:xfrm>
            <a:off x="977823" y="3227343"/>
            <a:ext cx="15769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AM or SSB</a:t>
            </a:r>
          </a:p>
          <a:p>
            <a:pPr algn="ctr"/>
            <a:r>
              <a:rPr lang="en-US" dirty="0"/>
              <a:t>HF Transmitter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A694ED3-33A4-028F-67E3-F820054D6CA7}"/>
              </a:ext>
            </a:extLst>
          </p:cNvPr>
          <p:cNvSpPr txBox="1"/>
          <p:nvPr/>
        </p:nvSpPr>
        <p:spPr>
          <a:xfrm>
            <a:off x="1048767" y="2900513"/>
            <a:ext cx="15769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Mic Input Interface</a:t>
            </a:r>
          </a:p>
        </p:txBody>
      </p:sp>
      <p:sp>
        <p:nvSpPr>
          <p:cNvPr id="13" name="Triangle 12">
            <a:extLst>
              <a:ext uri="{FF2B5EF4-FFF2-40B4-BE49-F238E27FC236}">
                <a16:creationId xmlns:a16="http://schemas.microsoft.com/office/drawing/2014/main" id="{D81948C7-2D5D-6979-1181-BA9FE14724A7}"/>
              </a:ext>
            </a:extLst>
          </p:cNvPr>
          <p:cNvSpPr/>
          <p:nvPr/>
        </p:nvSpPr>
        <p:spPr>
          <a:xfrm rot="10800000">
            <a:off x="3028950" y="2900516"/>
            <a:ext cx="647700" cy="452284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BF94B2E-45CF-F163-BC19-54CD8A57EF64}"/>
              </a:ext>
            </a:extLst>
          </p:cNvPr>
          <p:cNvCxnSpPr>
            <a:cxnSpLocks/>
            <a:endCxn id="12" idx="0"/>
          </p:cNvCxnSpPr>
          <p:nvPr/>
        </p:nvCxnSpPr>
        <p:spPr>
          <a:xfrm>
            <a:off x="1837252" y="2618996"/>
            <a:ext cx="0" cy="281517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8290ED2-1F6A-74CB-7CD5-FF01D2873EAA}"/>
              </a:ext>
            </a:extLst>
          </p:cNvPr>
          <p:cNvCxnSpPr>
            <a:stCxn id="13" idx="0"/>
          </p:cNvCxnSpPr>
          <p:nvPr/>
        </p:nvCxnSpPr>
        <p:spPr>
          <a:xfrm>
            <a:off x="3352800" y="3352800"/>
            <a:ext cx="0" cy="15239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1626060-9708-62A5-F860-8DFB8A70266B}"/>
              </a:ext>
            </a:extLst>
          </p:cNvPr>
          <p:cNvCxnSpPr>
            <a:cxnSpLocks/>
          </p:cNvCxnSpPr>
          <p:nvPr/>
        </p:nvCxnSpPr>
        <p:spPr>
          <a:xfrm flipH="1">
            <a:off x="2888840" y="3505200"/>
            <a:ext cx="46396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Picture 24">
            <a:extLst>
              <a:ext uri="{FF2B5EF4-FFF2-40B4-BE49-F238E27FC236}">
                <a16:creationId xmlns:a16="http://schemas.microsoft.com/office/drawing/2014/main" id="{366394AE-2461-A493-EED8-35EBFCA5CE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4413" y="1602946"/>
            <a:ext cx="4284124" cy="1624397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D4E4F9F5-58B4-3E7B-D138-365FCED9968B}"/>
              </a:ext>
            </a:extLst>
          </p:cNvPr>
          <p:cNvSpPr/>
          <p:nvPr/>
        </p:nvSpPr>
        <p:spPr>
          <a:xfrm>
            <a:off x="9293327" y="1414616"/>
            <a:ext cx="2168013" cy="120936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2000A67-1A02-39B2-693C-CF393594F812}"/>
              </a:ext>
            </a:extLst>
          </p:cNvPr>
          <p:cNvSpPr txBox="1"/>
          <p:nvPr/>
        </p:nvSpPr>
        <p:spPr>
          <a:xfrm>
            <a:off x="9293327" y="1557635"/>
            <a:ext cx="20821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Computer with .wav  Capture Program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E6F9962-B895-DCB0-05FD-4E680AEC446B}"/>
              </a:ext>
            </a:extLst>
          </p:cNvPr>
          <p:cNvSpPr txBox="1"/>
          <p:nvPr/>
        </p:nvSpPr>
        <p:spPr>
          <a:xfrm>
            <a:off x="9621267" y="2294084"/>
            <a:ext cx="16744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Sound Card Input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2519ECB-4179-1359-3DCE-D4C1A6153BC8}"/>
              </a:ext>
            </a:extLst>
          </p:cNvPr>
          <p:cNvSpPr/>
          <p:nvPr/>
        </p:nvSpPr>
        <p:spPr>
          <a:xfrm>
            <a:off x="9293327" y="2900516"/>
            <a:ext cx="2168013" cy="120936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C14F753-02B1-7975-70A8-AA5D7C7DC8E1}"/>
              </a:ext>
            </a:extLst>
          </p:cNvPr>
          <p:cNvSpPr txBox="1"/>
          <p:nvPr/>
        </p:nvSpPr>
        <p:spPr>
          <a:xfrm>
            <a:off x="9737621" y="3227342"/>
            <a:ext cx="12794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AM or SSB</a:t>
            </a:r>
          </a:p>
          <a:p>
            <a:pPr algn="ctr"/>
            <a:r>
              <a:rPr lang="en-US" dirty="0"/>
              <a:t>HF Receiver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4E8B9DA-518C-67C2-1C8B-375C52A293DF}"/>
              </a:ext>
            </a:extLst>
          </p:cNvPr>
          <p:cNvSpPr txBox="1"/>
          <p:nvPr/>
        </p:nvSpPr>
        <p:spPr>
          <a:xfrm>
            <a:off x="9859936" y="2919566"/>
            <a:ext cx="11785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Audio Output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AEFD882D-0AC0-3B33-217B-1D9A44C94E7C}"/>
              </a:ext>
            </a:extLst>
          </p:cNvPr>
          <p:cNvCxnSpPr>
            <a:cxnSpLocks/>
          </p:cNvCxnSpPr>
          <p:nvPr/>
        </p:nvCxnSpPr>
        <p:spPr>
          <a:xfrm flipV="1">
            <a:off x="10401366" y="2590800"/>
            <a:ext cx="0" cy="31586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riangle 30">
            <a:extLst>
              <a:ext uri="{FF2B5EF4-FFF2-40B4-BE49-F238E27FC236}">
                <a16:creationId xmlns:a16="http://schemas.microsoft.com/office/drawing/2014/main" id="{1048BD9B-9153-B125-9871-3711BC2C16D7}"/>
              </a:ext>
            </a:extLst>
          </p:cNvPr>
          <p:cNvSpPr/>
          <p:nvPr/>
        </p:nvSpPr>
        <p:spPr>
          <a:xfrm rot="10800000">
            <a:off x="8496300" y="2919566"/>
            <a:ext cx="647700" cy="452284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94CC14E8-F8C4-C24F-0C40-1C8DFF8419E9}"/>
              </a:ext>
            </a:extLst>
          </p:cNvPr>
          <p:cNvCxnSpPr>
            <a:stCxn id="31" idx="0"/>
          </p:cNvCxnSpPr>
          <p:nvPr/>
        </p:nvCxnSpPr>
        <p:spPr>
          <a:xfrm>
            <a:off x="8820150" y="3371850"/>
            <a:ext cx="0" cy="15239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19E40C10-DDE1-40E3-68A2-9BA221E668C9}"/>
              </a:ext>
            </a:extLst>
          </p:cNvPr>
          <p:cNvCxnSpPr>
            <a:cxnSpLocks/>
          </p:cNvCxnSpPr>
          <p:nvPr/>
        </p:nvCxnSpPr>
        <p:spPr>
          <a:xfrm flipH="1">
            <a:off x="8813390" y="3524250"/>
            <a:ext cx="46396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8E0B01D9-706F-5522-F563-56471CCA9ADE}"/>
              </a:ext>
            </a:extLst>
          </p:cNvPr>
          <p:cNvCxnSpPr>
            <a:cxnSpLocks/>
            <a:endCxn id="25" idx="1"/>
          </p:cNvCxnSpPr>
          <p:nvPr/>
        </p:nvCxnSpPr>
        <p:spPr>
          <a:xfrm flipV="1">
            <a:off x="3430270" y="2415145"/>
            <a:ext cx="514143" cy="344609"/>
          </a:xfrm>
          <a:prstGeom prst="straightConnector1">
            <a:avLst/>
          </a:prstGeom>
          <a:ln w="317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DE7CDB84-DAB1-44E7-4DF5-A4114D14EA5B}"/>
              </a:ext>
            </a:extLst>
          </p:cNvPr>
          <p:cNvCxnSpPr>
            <a:cxnSpLocks/>
          </p:cNvCxnSpPr>
          <p:nvPr/>
        </p:nvCxnSpPr>
        <p:spPr>
          <a:xfrm>
            <a:off x="8277781" y="2487561"/>
            <a:ext cx="542369" cy="317705"/>
          </a:xfrm>
          <a:prstGeom prst="straightConnector1">
            <a:avLst/>
          </a:prstGeom>
          <a:ln w="317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4014924B-9ABC-585E-9DEE-7623C65BD3DA}"/>
              </a:ext>
            </a:extLst>
          </p:cNvPr>
          <p:cNvSpPr txBox="1"/>
          <p:nvPr/>
        </p:nvSpPr>
        <p:spPr>
          <a:xfrm>
            <a:off x="3657607" y="3341643"/>
            <a:ext cx="48386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Skywave path with ground distance and operating frequency suitable for multi-hop propagation.</a:t>
            </a:r>
          </a:p>
        </p:txBody>
      </p:sp>
    </p:spTree>
    <p:extLst>
      <p:ext uri="{BB962C8B-B14F-4D97-AF65-F5344CB8AC3E}">
        <p14:creationId xmlns:p14="http://schemas.microsoft.com/office/powerpoint/2010/main" val="10641056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A7DBA5-68D2-980D-13B0-91AE32C5A7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2E099-75C6-4785-BA6C-247B514205D8}" type="slidenum">
              <a:rPr lang="en-US" smtClean="0"/>
              <a:t>8</a:t>
            </a:fld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A49C0BF-85BD-B192-FF29-0BFB1438DC98}"/>
              </a:ext>
            </a:extLst>
          </p:cNvPr>
          <p:cNvSpPr/>
          <p:nvPr/>
        </p:nvSpPr>
        <p:spPr>
          <a:xfrm>
            <a:off x="720827" y="1414616"/>
            <a:ext cx="2168013" cy="120936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90006B-C3EC-62BB-5CBA-B511C761F2CF}"/>
              </a:ext>
            </a:extLst>
          </p:cNvPr>
          <p:cNvSpPr txBox="1"/>
          <p:nvPr/>
        </p:nvSpPr>
        <p:spPr>
          <a:xfrm>
            <a:off x="720827" y="1557635"/>
            <a:ext cx="20821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Computer with .wav Chirp Waveform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61AC8F0-4F8B-D3BA-1896-C87E3D20A259}"/>
              </a:ext>
            </a:extLst>
          </p:cNvPr>
          <p:cNvSpPr txBox="1"/>
          <p:nvPr/>
        </p:nvSpPr>
        <p:spPr>
          <a:xfrm>
            <a:off x="1048767" y="2294084"/>
            <a:ext cx="16744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Sound Card Output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DCA5B00-8647-C9D1-0315-83C5DD7C9412}"/>
              </a:ext>
            </a:extLst>
          </p:cNvPr>
          <p:cNvSpPr/>
          <p:nvPr/>
        </p:nvSpPr>
        <p:spPr>
          <a:xfrm>
            <a:off x="720827" y="2900516"/>
            <a:ext cx="2168013" cy="120936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5CF2BD3-FF09-821B-21F3-9D26EB34FE2C}"/>
              </a:ext>
            </a:extLst>
          </p:cNvPr>
          <p:cNvSpPr txBox="1"/>
          <p:nvPr/>
        </p:nvSpPr>
        <p:spPr>
          <a:xfrm>
            <a:off x="735392" y="3177042"/>
            <a:ext cx="216315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WA5FRF SSB</a:t>
            </a:r>
          </a:p>
          <a:p>
            <a:pPr algn="ctr"/>
            <a:r>
              <a:rPr lang="en-US" dirty="0"/>
              <a:t>HF Transmitter Near San Antonio, TX</a:t>
            </a:r>
          </a:p>
          <a:p>
            <a:pPr algn="ctr"/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A694ED3-33A4-028F-67E3-F820054D6CA7}"/>
              </a:ext>
            </a:extLst>
          </p:cNvPr>
          <p:cNvSpPr txBox="1"/>
          <p:nvPr/>
        </p:nvSpPr>
        <p:spPr>
          <a:xfrm>
            <a:off x="1048767" y="2900513"/>
            <a:ext cx="15769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Mic Input Interface</a:t>
            </a:r>
          </a:p>
        </p:txBody>
      </p:sp>
      <p:sp>
        <p:nvSpPr>
          <p:cNvPr id="13" name="Triangle 12">
            <a:extLst>
              <a:ext uri="{FF2B5EF4-FFF2-40B4-BE49-F238E27FC236}">
                <a16:creationId xmlns:a16="http://schemas.microsoft.com/office/drawing/2014/main" id="{D81948C7-2D5D-6979-1181-BA9FE14724A7}"/>
              </a:ext>
            </a:extLst>
          </p:cNvPr>
          <p:cNvSpPr/>
          <p:nvPr/>
        </p:nvSpPr>
        <p:spPr>
          <a:xfrm rot="10800000">
            <a:off x="3028950" y="2900516"/>
            <a:ext cx="647700" cy="452284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BF94B2E-45CF-F163-BC19-54CD8A57EF64}"/>
              </a:ext>
            </a:extLst>
          </p:cNvPr>
          <p:cNvCxnSpPr>
            <a:cxnSpLocks/>
            <a:endCxn id="12" idx="0"/>
          </p:cNvCxnSpPr>
          <p:nvPr/>
        </p:nvCxnSpPr>
        <p:spPr>
          <a:xfrm>
            <a:off x="1837252" y="2618996"/>
            <a:ext cx="0" cy="281517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8290ED2-1F6A-74CB-7CD5-FF01D2873EAA}"/>
              </a:ext>
            </a:extLst>
          </p:cNvPr>
          <p:cNvCxnSpPr>
            <a:stCxn id="13" idx="0"/>
          </p:cNvCxnSpPr>
          <p:nvPr/>
        </p:nvCxnSpPr>
        <p:spPr>
          <a:xfrm>
            <a:off x="3352800" y="3352800"/>
            <a:ext cx="0" cy="15239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1626060-9708-62A5-F860-8DFB8A70266B}"/>
              </a:ext>
            </a:extLst>
          </p:cNvPr>
          <p:cNvCxnSpPr>
            <a:cxnSpLocks/>
          </p:cNvCxnSpPr>
          <p:nvPr/>
        </p:nvCxnSpPr>
        <p:spPr>
          <a:xfrm flipH="1">
            <a:off x="2888840" y="3505200"/>
            <a:ext cx="46396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Picture 24">
            <a:extLst>
              <a:ext uri="{FF2B5EF4-FFF2-40B4-BE49-F238E27FC236}">
                <a16:creationId xmlns:a16="http://schemas.microsoft.com/office/drawing/2014/main" id="{366394AE-2461-A493-EED8-35EBFCA5CE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4413" y="1602946"/>
            <a:ext cx="4284124" cy="1624397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D4E4F9F5-58B4-3E7B-D138-365FCED9968B}"/>
              </a:ext>
            </a:extLst>
          </p:cNvPr>
          <p:cNvSpPr/>
          <p:nvPr/>
        </p:nvSpPr>
        <p:spPr>
          <a:xfrm>
            <a:off x="9293327" y="1414616"/>
            <a:ext cx="2168013" cy="120936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2000A67-1A02-39B2-693C-CF393594F812}"/>
              </a:ext>
            </a:extLst>
          </p:cNvPr>
          <p:cNvSpPr txBox="1"/>
          <p:nvPr/>
        </p:nvSpPr>
        <p:spPr>
          <a:xfrm>
            <a:off x="9293327" y="1557635"/>
            <a:ext cx="20821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Computer with .wav  Capture Program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E6F9962-B895-DCB0-05FD-4E680AEC446B}"/>
              </a:ext>
            </a:extLst>
          </p:cNvPr>
          <p:cNvSpPr txBox="1"/>
          <p:nvPr/>
        </p:nvSpPr>
        <p:spPr>
          <a:xfrm>
            <a:off x="9621267" y="2294084"/>
            <a:ext cx="16744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Sound Card Input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2519ECB-4179-1359-3DCE-D4C1A6153BC8}"/>
              </a:ext>
            </a:extLst>
          </p:cNvPr>
          <p:cNvSpPr/>
          <p:nvPr/>
        </p:nvSpPr>
        <p:spPr>
          <a:xfrm>
            <a:off x="9293327" y="2900516"/>
            <a:ext cx="2168013" cy="120936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C14F753-02B1-7975-70A8-AA5D7C7DC8E1}"/>
              </a:ext>
            </a:extLst>
          </p:cNvPr>
          <p:cNvSpPr txBox="1"/>
          <p:nvPr/>
        </p:nvSpPr>
        <p:spPr>
          <a:xfrm>
            <a:off x="9480142" y="3168993"/>
            <a:ext cx="184477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N5DUP SSB</a:t>
            </a:r>
          </a:p>
          <a:p>
            <a:pPr algn="ctr"/>
            <a:r>
              <a:rPr lang="en-US" dirty="0"/>
              <a:t>HF Receiver Near Abilene, TX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4E8B9DA-518C-67C2-1C8B-375C52A293DF}"/>
              </a:ext>
            </a:extLst>
          </p:cNvPr>
          <p:cNvSpPr txBox="1"/>
          <p:nvPr/>
        </p:nvSpPr>
        <p:spPr>
          <a:xfrm>
            <a:off x="9859936" y="2919566"/>
            <a:ext cx="11785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Audio Output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AEFD882D-0AC0-3B33-217B-1D9A44C94E7C}"/>
              </a:ext>
            </a:extLst>
          </p:cNvPr>
          <p:cNvCxnSpPr>
            <a:cxnSpLocks/>
          </p:cNvCxnSpPr>
          <p:nvPr/>
        </p:nvCxnSpPr>
        <p:spPr>
          <a:xfrm flipV="1">
            <a:off x="10401366" y="2590800"/>
            <a:ext cx="0" cy="31586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riangle 30">
            <a:extLst>
              <a:ext uri="{FF2B5EF4-FFF2-40B4-BE49-F238E27FC236}">
                <a16:creationId xmlns:a16="http://schemas.microsoft.com/office/drawing/2014/main" id="{1048BD9B-9153-B125-9871-3711BC2C16D7}"/>
              </a:ext>
            </a:extLst>
          </p:cNvPr>
          <p:cNvSpPr/>
          <p:nvPr/>
        </p:nvSpPr>
        <p:spPr>
          <a:xfrm rot="10800000">
            <a:off x="8496300" y="2919566"/>
            <a:ext cx="647700" cy="452284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94CC14E8-F8C4-C24F-0C40-1C8DFF8419E9}"/>
              </a:ext>
            </a:extLst>
          </p:cNvPr>
          <p:cNvCxnSpPr>
            <a:stCxn id="31" idx="0"/>
          </p:cNvCxnSpPr>
          <p:nvPr/>
        </p:nvCxnSpPr>
        <p:spPr>
          <a:xfrm>
            <a:off x="8820150" y="3371850"/>
            <a:ext cx="0" cy="15239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19E40C10-DDE1-40E3-68A2-9BA221E668C9}"/>
              </a:ext>
            </a:extLst>
          </p:cNvPr>
          <p:cNvCxnSpPr>
            <a:cxnSpLocks/>
          </p:cNvCxnSpPr>
          <p:nvPr/>
        </p:nvCxnSpPr>
        <p:spPr>
          <a:xfrm flipH="1">
            <a:off x="8813390" y="3524250"/>
            <a:ext cx="46396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8E0B01D9-706F-5522-F563-56471CCA9ADE}"/>
              </a:ext>
            </a:extLst>
          </p:cNvPr>
          <p:cNvCxnSpPr>
            <a:cxnSpLocks/>
            <a:endCxn id="25" idx="1"/>
          </p:cNvCxnSpPr>
          <p:nvPr/>
        </p:nvCxnSpPr>
        <p:spPr>
          <a:xfrm flipV="1">
            <a:off x="3430270" y="2415145"/>
            <a:ext cx="514143" cy="344609"/>
          </a:xfrm>
          <a:prstGeom prst="straightConnector1">
            <a:avLst/>
          </a:prstGeom>
          <a:ln w="317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DE7CDB84-DAB1-44E7-4DF5-A4114D14EA5B}"/>
              </a:ext>
            </a:extLst>
          </p:cNvPr>
          <p:cNvCxnSpPr>
            <a:cxnSpLocks/>
          </p:cNvCxnSpPr>
          <p:nvPr/>
        </p:nvCxnSpPr>
        <p:spPr>
          <a:xfrm>
            <a:off x="8277781" y="2487561"/>
            <a:ext cx="542369" cy="317705"/>
          </a:xfrm>
          <a:prstGeom prst="straightConnector1">
            <a:avLst/>
          </a:prstGeom>
          <a:ln w="317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4014924B-9ABC-585E-9DEE-7623C65BD3DA}"/>
              </a:ext>
            </a:extLst>
          </p:cNvPr>
          <p:cNvSpPr txBox="1"/>
          <p:nvPr/>
        </p:nvSpPr>
        <p:spPr>
          <a:xfrm>
            <a:off x="3570350" y="3324658"/>
            <a:ext cx="500645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Skywave path with ground distance and operating frequency suitable for multi-hop propagation.</a:t>
            </a:r>
          </a:p>
          <a:p>
            <a:pPr algn="ctr"/>
            <a:r>
              <a:rPr lang="en-US" dirty="0"/>
              <a:t>Frequencies for initial tests: 3.780 and 5.3715 MHz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6ADD36D-FB39-624B-DF28-5D200E547B9F}"/>
              </a:ext>
            </a:extLst>
          </p:cNvPr>
          <p:cNvSpPr txBox="1"/>
          <p:nvPr/>
        </p:nvSpPr>
        <p:spPr>
          <a:xfrm>
            <a:off x="4732223" y="2848787"/>
            <a:ext cx="27339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Ground Distance = 317 km</a:t>
            </a:r>
          </a:p>
        </p:txBody>
      </p:sp>
    </p:spTree>
    <p:extLst>
      <p:ext uri="{BB962C8B-B14F-4D97-AF65-F5344CB8AC3E}">
        <p14:creationId xmlns:p14="http://schemas.microsoft.com/office/powerpoint/2010/main" val="20020716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CF6BBB0-209B-889A-F93B-0AAD8B9F7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2E099-75C6-4785-BA6C-247B514205D8}" type="slidenum">
              <a:rPr lang="en-US" smtClean="0"/>
              <a:t>9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629B291-7008-1125-3046-818E94F722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4374" y="1429549"/>
            <a:ext cx="7660594" cy="488417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2CA4C5C-1ABB-B5E7-D16E-373127F4FE22}"/>
              </a:ext>
            </a:extLst>
          </p:cNvPr>
          <p:cNvSpPr/>
          <p:nvPr/>
        </p:nvSpPr>
        <p:spPr>
          <a:xfrm>
            <a:off x="3044493" y="4718439"/>
            <a:ext cx="5574890" cy="309716"/>
          </a:xfrm>
          <a:prstGeom prst="rect">
            <a:avLst/>
          </a:prstGeom>
          <a:solidFill>
            <a:schemeClr val="accent1">
              <a:alpha val="1962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67FB235-E391-E65F-E4D9-921576A45240}"/>
              </a:ext>
            </a:extLst>
          </p:cNvPr>
          <p:cNvSpPr/>
          <p:nvPr/>
        </p:nvSpPr>
        <p:spPr>
          <a:xfrm>
            <a:off x="3044493" y="4180123"/>
            <a:ext cx="5574890" cy="538316"/>
          </a:xfrm>
          <a:prstGeom prst="rect">
            <a:avLst/>
          </a:prstGeom>
          <a:solidFill>
            <a:schemeClr val="accent6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D2500A7-2B8F-E640-CB53-83E40B2AA20B}"/>
              </a:ext>
            </a:extLst>
          </p:cNvPr>
          <p:cNvSpPr/>
          <p:nvPr/>
        </p:nvSpPr>
        <p:spPr>
          <a:xfrm>
            <a:off x="3044493" y="2209809"/>
            <a:ext cx="5574890" cy="1970314"/>
          </a:xfrm>
          <a:prstGeom prst="rect">
            <a:avLst/>
          </a:prstGeom>
          <a:solidFill>
            <a:srgbClr val="FF0000">
              <a:alpha val="19683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CBACDF9-A26E-80F9-4023-39AF4CA4CB02}"/>
              </a:ext>
            </a:extLst>
          </p:cNvPr>
          <p:cNvSpPr txBox="1"/>
          <p:nvPr/>
        </p:nvSpPr>
        <p:spPr>
          <a:xfrm>
            <a:off x="7946575" y="3402868"/>
            <a:ext cx="4331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F2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4913E5F-F971-59C6-B00A-A583CB59A97E}"/>
              </a:ext>
            </a:extLst>
          </p:cNvPr>
          <p:cNvSpPr txBox="1"/>
          <p:nvPr/>
        </p:nvSpPr>
        <p:spPr>
          <a:xfrm>
            <a:off x="7968349" y="4230181"/>
            <a:ext cx="4331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F1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7995D16-CF29-95E1-5D38-9666FF5EE03C}"/>
              </a:ext>
            </a:extLst>
          </p:cNvPr>
          <p:cNvSpPr txBox="1"/>
          <p:nvPr/>
        </p:nvSpPr>
        <p:spPr>
          <a:xfrm>
            <a:off x="8001193" y="4683011"/>
            <a:ext cx="3097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B416A3E-6BBF-AC81-3C26-BE47995FA5ED}"/>
              </a:ext>
            </a:extLst>
          </p:cNvPr>
          <p:cNvSpPr txBox="1"/>
          <p:nvPr/>
        </p:nvSpPr>
        <p:spPr>
          <a:xfrm>
            <a:off x="8001193" y="4991387"/>
            <a:ext cx="3417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D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14E4DE2-D522-4C2E-B822-631095A2DD5B}"/>
              </a:ext>
            </a:extLst>
          </p:cNvPr>
          <p:cNvSpPr/>
          <p:nvPr/>
        </p:nvSpPr>
        <p:spPr>
          <a:xfrm>
            <a:off x="2002975" y="1287583"/>
            <a:ext cx="7660594" cy="15334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5E50276-36AE-C3A9-100B-95B74F1DC7D6}"/>
              </a:ext>
            </a:extLst>
          </p:cNvPr>
          <p:cNvSpPr txBox="1"/>
          <p:nvPr/>
        </p:nvSpPr>
        <p:spPr>
          <a:xfrm>
            <a:off x="3407321" y="2120672"/>
            <a:ext cx="48492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 hop – 2 hop TDOA to Layer Height Conversion</a:t>
            </a:r>
          </a:p>
          <a:p>
            <a:pPr algn="ctr"/>
            <a:r>
              <a:rPr lang="en-US" dirty="0"/>
              <a:t> - Spherical Earth Virtual Height Model -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8DF847E-4CF2-0383-772E-63566676BD44}"/>
              </a:ext>
            </a:extLst>
          </p:cNvPr>
          <p:cNvSpPr txBox="1"/>
          <p:nvPr/>
        </p:nvSpPr>
        <p:spPr>
          <a:xfrm>
            <a:off x="3627647" y="5913913"/>
            <a:ext cx="4408579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1 hop – 2 hop Time Difference Of Arrival - ms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3DA10B1-3F61-DC58-B811-C01EADD3E83A}"/>
              </a:ext>
            </a:extLst>
          </p:cNvPr>
          <p:cNvSpPr txBox="1"/>
          <p:nvPr/>
        </p:nvSpPr>
        <p:spPr>
          <a:xfrm rot="16200000">
            <a:off x="1514707" y="3923112"/>
            <a:ext cx="2000356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Virtual Height - km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F03FB75-A2D6-BA4D-0865-101B3B28D7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6443" y="247704"/>
            <a:ext cx="11419114" cy="1587869"/>
          </a:xfrm>
        </p:spPr>
        <p:txBody>
          <a:bodyPr>
            <a:normAutofit/>
          </a:bodyPr>
          <a:lstStyle/>
          <a:p>
            <a:r>
              <a:rPr lang="en-US" sz="3200" dirty="0"/>
              <a:t>Calculated Relationship Between 1 hop-2 hop </a:t>
            </a:r>
            <a:br>
              <a:rPr lang="en-US" sz="3200" dirty="0"/>
            </a:br>
            <a:r>
              <a:rPr lang="en-US" sz="3200" dirty="0"/>
              <a:t>Time Difference of Arrival and Virtual Layer Height for </a:t>
            </a:r>
            <a:br>
              <a:rPr lang="en-US" sz="3200" dirty="0"/>
            </a:br>
            <a:r>
              <a:rPr lang="en-US" sz="3200" dirty="0"/>
              <a:t>Ground Distances Between 250 km and 3000 km</a:t>
            </a:r>
          </a:p>
        </p:txBody>
      </p:sp>
    </p:spTree>
    <p:extLst>
      <p:ext uri="{BB962C8B-B14F-4D97-AF65-F5344CB8AC3E}">
        <p14:creationId xmlns:p14="http://schemas.microsoft.com/office/powerpoint/2010/main" val="3077698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3973DD90-9B10-730D-129A-1C2C9ED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7"/>
            <a:ext cx="3408137" cy="6264275"/>
          </a:xfrm>
        </p:spPr>
        <p:txBody>
          <a:bodyPr/>
          <a:lstStyle/>
          <a:p>
            <a:r>
              <a:rPr lang="en-US" dirty="0"/>
              <a:t> 0-5000 Hz Up-Down Chirps Illustrate Bandwidth Limiting in Transmitter And Receiver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9C9E6FE-F7AC-EF3E-B61B-F75BA1782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2E099-75C6-4785-BA6C-247B514205D8}" type="slidenum">
              <a:rPr lang="en-US" smtClean="0"/>
              <a:t>10</a:t>
            </a:fld>
            <a:endParaRPr lang="en-US"/>
          </a:p>
        </p:txBody>
      </p:sp>
      <p:pic>
        <p:nvPicPr>
          <p:cNvPr id="4" name="Picture 3" descr="A computer screen capture&#10;&#10;Description automatically generated with medium confidence">
            <a:extLst>
              <a:ext uri="{FF2B5EF4-FFF2-40B4-BE49-F238E27FC236}">
                <a16:creationId xmlns:a16="http://schemas.microsoft.com/office/drawing/2014/main" id="{C4E7701F-D953-370B-16DB-174E5D101F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9365" y="471739"/>
            <a:ext cx="6541407" cy="2979593"/>
          </a:xfrm>
          <a:prstGeom prst="rect">
            <a:avLst/>
          </a:prstGeom>
        </p:spPr>
      </p:pic>
      <p:pic>
        <p:nvPicPr>
          <p:cNvPr id="8" name="Picture 7" descr="Chart&#10;&#10;Description automatically generated">
            <a:extLst>
              <a:ext uri="{FF2B5EF4-FFF2-40B4-BE49-F238E27FC236}">
                <a16:creationId xmlns:a16="http://schemas.microsoft.com/office/drawing/2014/main" id="{D0B90DD6-E786-7E3F-706C-40810833F3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9365" y="3581652"/>
            <a:ext cx="6541407" cy="295726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232D7C0-F616-96C1-BC39-FEEC4FDFEF2C}"/>
              </a:ext>
            </a:extLst>
          </p:cNvPr>
          <p:cNvSpPr txBox="1"/>
          <p:nvPr/>
        </p:nvSpPr>
        <p:spPr>
          <a:xfrm>
            <a:off x="4976121" y="636815"/>
            <a:ext cx="56478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Up-Down Chirps Have Constant Amplitude in Source File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172CB9F-C829-FFD7-AC3F-A2A17F7DEB0E}"/>
              </a:ext>
            </a:extLst>
          </p:cNvPr>
          <p:cNvSpPr txBox="1"/>
          <p:nvPr/>
        </p:nvSpPr>
        <p:spPr>
          <a:xfrm>
            <a:off x="4919544" y="3903475"/>
            <a:ext cx="55376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Received Envelope Amplitude Shows &lt; 3000 Hz Passband</a:t>
            </a:r>
          </a:p>
        </p:txBody>
      </p:sp>
    </p:spTree>
    <p:extLst>
      <p:ext uri="{BB962C8B-B14F-4D97-AF65-F5344CB8AC3E}">
        <p14:creationId xmlns:p14="http://schemas.microsoft.com/office/powerpoint/2010/main" val="2541237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EC15C9-682C-D93E-F070-D3D4E15EC6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8277" y="591041"/>
            <a:ext cx="5486400" cy="2583861"/>
          </a:xfrm>
        </p:spPr>
        <p:txBody>
          <a:bodyPr>
            <a:normAutofit fontScale="90000"/>
          </a:bodyPr>
          <a:lstStyle/>
          <a:p>
            <a:r>
              <a:rPr lang="en-US" dirty="0"/>
              <a:t>Geometry and Setup for Initial TDOA On-Air Experiments Using Amateur Radio Stations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2DA7E9E-D9D5-F022-DA3E-C9C04C7ADF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2E099-75C6-4785-BA6C-247B514205D8}" type="slidenum">
              <a:rPr lang="en-US" smtClean="0"/>
              <a:t>11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BCD0A1-9E93-FFA8-81C4-0B2FC9697D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299" y="800548"/>
            <a:ext cx="5188242" cy="440780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7143C67-5CB5-5FAA-F0C3-213468276C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7013" y="3223440"/>
            <a:ext cx="7772400" cy="201757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47D8423-6442-F827-02B9-83EE9C6F3421}"/>
              </a:ext>
            </a:extLst>
          </p:cNvPr>
          <p:cNvSpPr txBox="1"/>
          <p:nvPr/>
        </p:nvSpPr>
        <p:spPr>
          <a:xfrm>
            <a:off x="495300" y="5433022"/>
            <a:ext cx="3996018" cy="92332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Geometry chosen for proximity to expected eclipse Path of Totality and Austin Ionosonde for ground truth data.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7242251-FEEE-8F46-A0EE-8EE13D3CCE47}"/>
              </a:ext>
            </a:extLst>
          </p:cNvPr>
          <p:cNvSpPr txBox="1"/>
          <p:nvPr/>
        </p:nvSpPr>
        <p:spPr>
          <a:xfrm>
            <a:off x="6096000" y="5433021"/>
            <a:ext cx="3787030" cy="92333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60 m and 75 m frequency bands chosen for likelihood of both 1 hop and 2 hop propagation.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4D89D52-00BB-FD3A-8E0C-37BE3C96C542}"/>
              </a:ext>
            </a:extLst>
          </p:cNvPr>
          <p:cNvSpPr/>
          <p:nvPr/>
        </p:nvSpPr>
        <p:spPr>
          <a:xfrm>
            <a:off x="4067013" y="3174902"/>
            <a:ext cx="7772400" cy="206611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53968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E1AB14-27C6-0B4B-753F-790AFF28E2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6038"/>
            <a:ext cx="6819900" cy="1880733"/>
          </a:xfrm>
        </p:spPr>
        <p:txBody>
          <a:bodyPr>
            <a:normAutofit/>
          </a:bodyPr>
          <a:lstStyle/>
          <a:p>
            <a:r>
              <a:rPr lang="en-US" sz="2800" dirty="0"/>
              <a:t>Spreadsheet for Calculating TDOA Parameters for a Specified Ground Distance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59A383A-5EDE-0D0C-48E1-42E01015EE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2E099-75C6-4785-BA6C-247B514205D8}" type="slidenum">
              <a:rPr lang="en-US" smtClean="0"/>
              <a:t>12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5C415E-4AEF-D233-5808-81875C2E77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067" y="1739598"/>
            <a:ext cx="11587866" cy="461675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0885BA9-F2A3-3F4C-981E-317242EBCB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7033" y="286657"/>
            <a:ext cx="3634105" cy="12319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784CC07-3262-FFD0-086E-67807667BF02}"/>
              </a:ext>
            </a:extLst>
          </p:cNvPr>
          <p:cNvSpPr txBox="1"/>
          <p:nvPr/>
        </p:nvSpPr>
        <p:spPr>
          <a:xfrm>
            <a:off x="7842664" y="1518557"/>
            <a:ext cx="36056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Spherical Earth Virtual Height Model</a:t>
            </a:r>
          </a:p>
        </p:txBody>
      </p:sp>
    </p:spTree>
    <p:extLst>
      <p:ext uri="{BB962C8B-B14F-4D97-AF65-F5344CB8AC3E}">
        <p14:creationId xmlns:p14="http://schemas.microsoft.com/office/powerpoint/2010/main" val="6440042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69B8FFF-EA5B-2446-9DE3-198796944593}"/>
              </a:ext>
            </a:extLst>
          </p:cNvPr>
          <p:cNvSpPr txBox="1"/>
          <p:nvPr/>
        </p:nvSpPr>
        <p:spPr>
          <a:xfrm>
            <a:off x="142567" y="1841911"/>
            <a:ext cx="31763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lphaUcPeriod"/>
            </a:pPr>
            <a:r>
              <a:rPr lang="en-US" dirty="0"/>
              <a:t>100 Hz/ms Chirp  @ 0 delay </a:t>
            </a:r>
          </a:p>
          <a:p>
            <a:r>
              <a:rPr lang="en-US" dirty="0"/>
              <a:t>       (Fast Chirp)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B350719-B86A-7D4F-8719-4329ABDD8856}"/>
              </a:ext>
            </a:extLst>
          </p:cNvPr>
          <p:cNvSpPr txBox="1"/>
          <p:nvPr/>
        </p:nvSpPr>
        <p:spPr>
          <a:xfrm>
            <a:off x="4783593" y="1226104"/>
            <a:ext cx="28902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 ms Time Delay. </a:t>
            </a:r>
            <a:r>
              <a:rPr lang="en-US" dirty="0">
                <a:latin typeface="Symbol" pitchFamily="2" charset="2"/>
              </a:rPr>
              <a:t>D</a:t>
            </a:r>
            <a:r>
              <a:rPr lang="en-US" dirty="0"/>
              <a:t>f = 100 Hz</a:t>
            </a: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DC9B4507-19FB-2B47-BEA6-6B6AE682397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94969" y="196277"/>
            <a:ext cx="11754464" cy="9787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The Time Difference of Arrival between Two Simultaneous Propagation Modes Measured by Transmission of an Audio Frequency Chirp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E86A101-21B2-B74A-AA1D-D818BB86BA5F}"/>
              </a:ext>
            </a:extLst>
          </p:cNvPr>
          <p:cNvSpPr txBox="1"/>
          <p:nvPr/>
        </p:nvSpPr>
        <p:spPr>
          <a:xfrm>
            <a:off x="8693262" y="1226104"/>
            <a:ext cx="28902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 ms Time Delay. </a:t>
            </a:r>
            <a:r>
              <a:rPr lang="en-US" dirty="0">
                <a:latin typeface="Symbol" pitchFamily="2" charset="2"/>
              </a:rPr>
              <a:t>D</a:t>
            </a:r>
            <a:r>
              <a:rPr lang="en-US" dirty="0"/>
              <a:t>f = 200 Hz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56346E2-7633-6F4A-B8C5-5996B17EAFCF}"/>
              </a:ext>
            </a:extLst>
          </p:cNvPr>
          <p:cNvSpPr txBox="1"/>
          <p:nvPr/>
        </p:nvSpPr>
        <p:spPr>
          <a:xfrm>
            <a:off x="6964053" y="4527768"/>
            <a:ext cx="2238113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SPICE Simulation</a:t>
            </a:r>
          </a:p>
          <a:p>
            <a:pPr algn="ctr"/>
            <a:r>
              <a:rPr lang="en-US" dirty="0"/>
              <a:t>Time base : 10 ms/div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048B966-19C9-454C-8999-9B0DA175DCCB}"/>
              </a:ext>
            </a:extLst>
          </p:cNvPr>
          <p:cNvSpPr txBox="1"/>
          <p:nvPr/>
        </p:nvSpPr>
        <p:spPr>
          <a:xfrm>
            <a:off x="142567" y="2536879"/>
            <a:ext cx="27744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B. Chirp delayed 1 and 2 ms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E468193-0D35-CD46-95BF-DC2B5FCCC42E}"/>
              </a:ext>
            </a:extLst>
          </p:cNvPr>
          <p:cNvSpPr txBox="1"/>
          <p:nvPr/>
        </p:nvSpPr>
        <p:spPr>
          <a:xfrm>
            <a:off x="142567" y="3106099"/>
            <a:ext cx="4058380" cy="9232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C. SUM (A+B). Beats occur at period 1/</a:t>
            </a:r>
            <a:r>
              <a:rPr lang="en-US" dirty="0">
                <a:latin typeface="Symbol" pitchFamily="2" charset="2"/>
              </a:rPr>
              <a:t>D</a:t>
            </a:r>
            <a:r>
              <a:rPr lang="en-US" dirty="0"/>
              <a:t>f. Summation occurs naturally in receiver</a:t>
            </a:r>
          </a:p>
          <a:p>
            <a:r>
              <a:rPr lang="en-US" dirty="0"/>
              <a:t>during multipath reception.</a:t>
            </a:r>
          </a:p>
        </p:txBody>
      </p:sp>
      <p:pic>
        <p:nvPicPr>
          <p:cNvPr id="19" name="Picture 18" descr="A picture containing text, traffic, light, green&#10;&#10;Description automatically generated">
            <a:extLst>
              <a:ext uri="{FF2B5EF4-FFF2-40B4-BE49-F238E27FC236}">
                <a16:creationId xmlns:a16="http://schemas.microsoft.com/office/drawing/2014/main" id="{F195A6AA-55F0-9745-B56F-FD265F4809B8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4200947" y="1541611"/>
            <a:ext cx="7848486" cy="2975922"/>
          </a:xfrm>
          <a:prstGeom prst="rect">
            <a:avLst/>
          </a:prstGeom>
        </p:spPr>
      </p:pic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C51E107-3DDF-6142-99FD-FCCBA23EA586}"/>
              </a:ext>
            </a:extLst>
          </p:cNvPr>
          <p:cNvCxnSpPr/>
          <p:nvPr/>
        </p:nvCxnSpPr>
        <p:spPr>
          <a:xfrm>
            <a:off x="3411790" y="2048385"/>
            <a:ext cx="530942" cy="0"/>
          </a:xfrm>
          <a:prstGeom prst="straightConnector1">
            <a:avLst/>
          </a:prstGeom>
          <a:ln w="349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53AC0E3E-5F24-C049-B74B-D48D6EB76A52}"/>
              </a:ext>
            </a:extLst>
          </p:cNvPr>
          <p:cNvCxnSpPr/>
          <p:nvPr/>
        </p:nvCxnSpPr>
        <p:spPr>
          <a:xfrm>
            <a:off x="3426538" y="2709917"/>
            <a:ext cx="530942" cy="0"/>
          </a:xfrm>
          <a:prstGeom prst="straightConnector1">
            <a:avLst/>
          </a:prstGeom>
          <a:ln w="349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AC4BD1ED-0E58-894D-8193-5E494BD351BC}"/>
              </a:ext>
            </a:extLst>
          </p:cNvPr>
          <p:cNvCxnSpPr/>
          <p:nvPr/>
        </p:nvCxnSpPr>
        <p:spPr>
          <a:xfrm>
            <a:off x="5486400" y="3967332"/>
            <a:ext cx="0" cy="870776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420BF35E-34F1-C04A-8D32-B8E0161BCE10}"/>
              </a:ext>
            </a:extLst>
          </p:cNvPr>
          <p:cNvCxnSpPr/>
          <p:nvPr/>
        </p:nvCxnSpPr>
        <p:spPr>
          <a:xfrm>
            <a:off x="6258233" y="3967332"/>
            <a:ext cx="0" cy="870776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192F98A3-EFB5-8542-8B5E-B8D9E8312673}"/>
              </a:ext>
            </a:extLst>
          </p:cNvPr>
          <p:cNvCxnSpPr/>
          <p:nvPr/>
        </p:nvCxnSpPr>
        <p:spPr>
          <a:xfrm>
            <a:off x="9935498" y="3967332"/>
            <a:ext cx="0" cy="870776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F59C6EE-D4AE-F14A-AA4E-DFE2F1F6E714}"/>
              </a:ext>
            </a:extLst>
          </p:cNvPr>
          <p:cNvCxnSpPr/>
          <p:nvPr/>
        </p:nvCxnSpPr>
        <p:spPr>
          <a:xfrm>
            <a:off x="10318956" y="3967332"/>
            <a:ext cx="0" cy="870776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4A1E358-9A0A-8541-A5AD-699B3A199269}"/>
              </a:ext>
            </a:extLst>
          </p:cNvPr>
          <p:cNvSpPr txBox="1"/>
          <p:nvPr/>
        </p:nvSpPr>
        <p:spPr>
          <a:xfrm>
            <a:off x="3921198" y="4473349"/>
            <a:ext cx="16017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10ms=1/100Hz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82D6D16-BD1E-9D47-9965-8F286E5148FD}"/>
              </a:ext>
            </a:extLst>
          </p:cNvPr>
          <p:cNvSpPr txBox="1"/>
          <p:nvPr/>
        </p:nvSpPr>
        <p:spPr>
          <a:xfrm>
            <a:off x="10320496" y="4493155"/>
            <a:ext cx="14847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5ms=1/200Hz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68578AA-C7D2-7146-BFEC-529CCA813A22}"/>
              </a:ext>
            </a:extLst>
          </p:cNvPr>
          <p:cNvSpPr txBox="1"/>
          <p:nvPr/>
        </p:nvSpPr>
        <p:spPr>
          <a:xfrm>
            <a:off x="621889" y="5200956"/>
            <a:ext cx="1117681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Summation of a linear chirp with a delayed copy of itself produces a difference frequency at  </a:t>
            </a:r>
            <a:r>
              <a:rPr lang="en-US" dirty="0">
                <a:latin typeface="Symbol" pitchFamily="2" charset="2"/>
              </a:rPr>
              <a:t>D</a:t>
            </a:r>
            <a:r>
              <a:rPr lang="en-US" dirty="0"/>
              <a:t>f = Sweep Rate * </a:t>
            </a:r>
            <a:r>
              <a:rPr lang="en-US" dirty="0">
                <a:latin typeface="Symbol" pitchFamily="2" charset="2"/>
              </a:rPr>
              <a:t>D</a:t>
            </a:r>
            <a:r>
              <a:rPr lang="en-US" dirty="0"/>
              <a:t>t.</a:t>
            </a:r>
          </a:p>
          <a:p>
            <a:r>
              <a:rPr lang="en-US" dirty="0"/>
              <a:t>Beat pattern has a period p = 1/</a:t>
            </a:r>
            <a:r>
              <a:rPr lang="en-US" dirty="0">
                <a:latin typeface="Symbol" pitchFamily="2" charset="2"/>
              </a:rPr>
              <a:t>D</a:t>
            </a:r>
            <a:r>
              <a:rPr lang="en-US" dirty="0"/>
              <a:t>f. The Time Difference of Arrival (TDOA) can be calculated by:</a:t>
            </a:r>
          </a:p>
          <a:p>
            <a:pPr algn="ctr"/>
            <a:r>
              <a:rPr lang="en-US" dirty="0"/>
              <a:t>TDOA = 1/ p*Sweep Rate</a:t>
            </a:r>
          </a:p>
          <a:p>
            <a:r>
              <a:rPr lang="en-US" dirty="0"/>
              <a:t>Example: two 100 Hz/ms chirps 1ms apart produce a difference frequency of 100Hz, which has a period of 10 ms. </a:t>
            </a:r>
          </a:p>
          <a:p>
            <a:pPr algn="ctr"/>
            <a:r>
              <a:rPr lang="en-US" dirty="0"/>
              <a:t>TDOA = 1/(10 ms * 100 Hz/ms) = 1 s/1000 = 1 ms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CEAD97B-82CF-9D45-87C8-12653F95A290}"/>
              </a:ext>
            </a:extLst>
          </p:cNvPr>
          <p:cNvCxnSpPr/>
          <p:nvPr/>
        </p:nvCxnSpPr>
        <p:spPr>
          <a:xfrm>
            <a:off x="3411790" y="3761969"/>
            <a:ext cx="530942" cy="0"/>
          </a:xfrm>
          <a:prstGeom prst="straightConnector1">
            <a:avLst/>
          </a:prstGeom>
          <a:ln w="349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D60CECC4-A3A3-004A-A09B-2F788777A333}"/>
              </a:ext>
            </a:extLst>
          </p:cNvPr>
          <p:cNvCxnSpPr>
            <a:cxnSpLocks/>
          </p:cNvCxnSpPr>
          <p:nvPr/>
        </p:nvCxnSpPr>
        <p:spPr>
          <a:xfrm>
            <a:off x="5493423" y="4658015"/>
            <a:ext cx="735314" cy="247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10680803-6F89-2C47-997D-B65F1246B9D1}"/>
              </a:ext>
            </a:extLst>
          </p:cNvPr>
          <p:cNvCxnSpPr>
            <a:cxnSpLocks/>
            <a:endCxn id="29" idx="1"/>
          </p:cNvCxnSpPr>
          <p:nvPr/>
        </p:nvCxnSpPr>
        <p:spPr>
          <a:xfrm>
            <a:off x="9935498" y="4677821"/>
            <a:ext cx="384998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D977280-C9E4-549F-CC53-7EB3196DEB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C9C0C8-E061-DB49-8289-DC94B78A7C77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39230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Background pattern&#10;&#10;Description automatically generated">
            <a:extLst>
              <a:ext uri="{FF2B5EF4-FFF2-40B4-BE49-F238E27FC236}">
                <a16:creationId xmlns:a16="http://schemas.microsoft.com/office/drawing/2014/main" id="{B90A4B07-686D-E712-0962-2A55941829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7501" y="739197"/>
            <a:ext cx="5054899" cy="2689803"/>
          </a:xfrm>
          <a:prstGeom prst="rect">
            <a:avLst/>
          </a:prstGeom>
        </p:spPr>
      </p:pic>
      <p:pic>
        <p:nvPicPr>
          <p:cNvPr id="11" name="Picture 10" descr="Chart&#10;&#10;Description automatically generated with medium confidence">
            <a:extLst>
              <a:ext uri="{FF2B5EF4-FFF2-40B4-BE49-F238E27FC236}">
                <a16:creationId xmlns:a16="http://schemas.microsoft.com/office/drawing/2014/main" id="{8CF4403C-3BB6-7966-4CC6-FFE26E8518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1" y="739196"/>
            <a:ext cx="5054899" cy="2689803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A060CE1-83DE-28B2-3FC9-6DB3AD2A0044}"/>
              </a:ext>
            </a:extLst>
          </p:cNvPr>
          <p:cNvCxnSpPr>
            <a:cxnSpLocks/>
          </p:cNvCxnSpPr>
          <p:nvPr/>
        </p:nvCxnSpPr>
        <p:spPr>
          <a:xfrm>
            <a:off x="9809019" y="2211185"/>
            <a:ext cx="0" cy="69827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C1B6DF5-6183-8574-C85C-50981541AFE0}"/>
              </a:ext>
            </a:extLst>
          </p:cNvPr>
          <p:cNvCxnSpPr>
            <a:cxnSpLocks/>
          </p:cNvCxnSpPr>
          <p:nvPr/>
        </p:nvCxnSpPr>
        <p:spPr>
          <a:xfrm>
            <a:off x="8930645" y="2213960"/>
            <a:ext cx="0" cy="69827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E3C6439-0158-2A0A-6B97-64F7126B9B11}"/>
              </a:ext>
            </a:extLst>
          </p:cNvPr>
          <p:cNvCxnSpPr>
            <a:cxnSpLocks/>
          </p:cNvCxnSpPr>
          <p:nvPr/>
        </p:nvCxnSpPr>
        <p:spPr>
          <a:xfrm flipH="1">
            <a:off x="8930645" y="2743200"/>
            <a:ext cx="878374" cy="0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7D5299B3-14D9-C757-16C5-DE40F3C725B8}"/>
              </a:ext>
            </a:extLst>
          </p:cNvPr>
          <p:cNvSpPr txBox="1"/>
          <p:nvPr/>
        </p:nvSpPr>
        <p:spPr>
          <a:xfrm>
            <a:off x="507592" y="4359478"/>
            <a:ext cx="1117681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Summation of a linear chirp with a delayed copy of itself produces a difference frequency at  </a:t>
            </a:r>
            <a:r>
              <a:rPr lang="en-US" dirty="0">
                <a:latin typeface="Symbol" pitchFamily="2" charset="2"/>
              </a:rPr>
              <a:t>D</a:t>
            </a:r>
            <a:r>
              <a:rPr lang="en-US" dirty="0"/>
              <a:t>f = Sweep Rate * </a:t>
            </a:r>
            <a:r>
              <a:rPr lang="en-US" dirty="0">
                <a:latin typeface="Symbol" pitchFamily="2" charset="2"/>
              </a:rPr>
              <a:t>D</a:t>
            </a:r>
            <a:r>
              <a:rPr lang="en-US" dirty="0"/>
              <a:t>t.</a:t>
            </a:r>
          </a:p>
          <a:p>
            <a:r>
              <a:rPr lang="en-US" dirty="0"/>
              <a:t>Beat pattern has a period p = 1/</a:t>
            </a:r>
            <a:r>
              <a:rPr lang="en-US" dirty="0">
                <a:latin typeface="Symbol" pitchFamily="2" charset="2"/>
              </a:rPr>
              <a:t>D</a:t>
            </a:r>
            <a:r>
              <a:rPr lang="en-US" dirty="0"/>
              <a:t>f. The Time Difference of Arrival (TDOA) can be calculated by:</a:t>
            </a:r>
          </a:p>
          <a:p>
            <a:pPr algn="ctr"/>
            <a:r>
              <a:rPr lang="en-US" dirty="0"/>
              <a:t>TDOA = 1/(p*Sweep Rate)</a:t>
            </a:r>
          </a:p>
          <a:p>
            <a:r>
              <a:rPr lang="en-US" dirty="0"/>
              <a:t>Example: two 100 Hz/ms chirps 1ms apart produce a difference frequency of 100Hz, which has a period of 10 ms. </a:t>
            </a:r>
          </a:p>
          <a:p>
            <a:pPr algn="ctr"/>
            <a:r>
              <a:rPr lang="en-US" dirty="0"/>
              <a:t>TDOA = 1/(10 ms * 100 Hz/ms) = 1 s/1000 = 1 ms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256E78C-2908-92B8-929C-26776EAAE5C0}"/>
              </a:ext>
            </a:extLst>
          </p:cNvPr>
          <p:cNvCxnSpPr>
            <a:cxnSpLocks/>
          </p:cNvCxnSpPr>
          <p:nvPr/>
        </p:nvCxnSpPr>
        <p:spPr>
          <a:xfrm>
            <a:off x="5664500" y="1567745"/>
            <a:ext cx="817985" cy="264630"/>
          </a:xfrm>
          <a:prstGeom prst="straightConnector1">
            <a:avLst/>
          </a:prstGeom>
          <a:ln w="317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E64914D-D1AA-1BA9-DE9F-79EA7A68344D}"/>
              </a:ext>
            </a:extLst>
          </p:cNvPr>
          <p:cNvCxnSpPr>
            <a:cxnSpLocks/>
          </p:cNvCxnSpPr>
          <p:nvPr/>
        </p:nvCxnSpPr>
        <p:spPr>
          <a:xfrm flipV="1">
            <a:off x="5543342" y="2295690"/>
            <a:ext cx="939143" cy="264630"/>
          </a:xfrm>
          <a:prstGeom prst="straightConnector1">
            <a:avLst/>
          </a:prstGeom>
          <a:ln w="317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640AB868-ADE5-CC3B-3FDD-60BE0D730F17}"/>
              </a:ext>
            </a:extLst>
          </p:cNvPr>
          <p:cNvSpPr txBox="1"/>
          <p:nvPr/>
        </p:nvSpPr>
        <p:spPr>
          <a:xfrm>
            <a:off x="5847375" y="1862052"/>
            <a:ext cx="6351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SUM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A2986EB4-9327-1AB3-5220-8ECA943B0F1A}"/>
              </a:ext>
            </a:extLst>
          </p:cNvPr>
          <p:cNvCxnSpPr/>
          <p:nvPr/>
        </p:nvCxnSpPr>
        <p:spPr>
          <a:xfrm>
            <a:off x="1379914" y="1695796"/>
            <a:ext cx="0" cy="1213659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DE5FB440-5948-2A84-03D2-AA1815A50CF4}"/>
              </a:ext>
            </a:extLst>
          </p:cNvPr>
          <p:cNvCxnSpPr>
            <a:cxnSpLocks/>
          </p:cNvCxnSpPr>
          <p:nvPr/>
        </p:nvCxnSpPr>
        <p:spPr>
          <a:xfrm>
            <a:off x="1449189" y="2560320"/>
            <a:ext cx="0" cy="349135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2DB71E4D-E2F2-7452-3A21-787866958D43}"/>
              </a:ext>
            </a:extLst>
          </p:cNvPr>
          <p:cNvCxnSpPr/>
          <p:nvPr/>
        </p:nvCxnSpPr>
        <p:spPr>
          <a:xfrm>
            <a:off x="1163782" y="2826330"/>
            <a:ext cx="216132" cy="0"/>
          </a:xfrm>
          <a:prstGeom prst="straightConnector1">
            <a:avLst/>
          </a:prstGeom>
          <a:ln w="222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E5CD0DF3-F1E9-51CB-4920-3257DF5A0E9C}"/>
              </a:ext>
            </a:extLst>
          </p:cNvPr>
          <p:cNvCxnSpPr>
            <a:cxnSpLocks/>
          </p:cNvCxnSpPr>
          <p:nvPr/>
        </p:nvCxnSpPr>
        <p:spPr>
          <a:xfrm flipH="1">
            <a:off x="1449189" y="2826330"/>
            <a:ext cx="246607" cy="0"/>
          </a:xfrm>
          <a:prstGeom prst="straightConnector1">
            <a:avLst/>
          </a:prstGeom>
          <a:ln w="222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49DE79EC-DE0F-45A3-5778-E6FF2712271E}"/>
              </a:ext>
            </a:extLst>
          </p:cNvPr>
          <p:cNvSpPr txBox="1"/>
          <p:nvPr/>
        </p:nvSpPr>
        <p:spPr>
          <a:xfrm>
            <a:off x="703986" y="2510449"/>
            <a:ext cx="57900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 ms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178D0CA-B074-000B-9BF9-654C0317A390}"/>
              </a:ext>
            </a:extLst>
          </p:cNvPr>
          <p:cNvSpPr txBox="1"/>
          <p:nvPr/>
        </p:nvSpPr>
        <p:spPr>
          <a:xfrm>
            <a:off x="9867397" y="2579724"/>
            <a:ext cx="98616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p = 10 ms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C5FD3ED-A098-3D4B-2090-2C6834102E64}"/>
              </a:ext>
            </a:extLst>
          </p:cNvPr>
          <p:cNvSpPr txBox="1"/>
          <p:nvPr/>
        </p:nvSpPr>
        <p:spPr>
          <a:xfrm>
            <a:off x="847897" y="3428999"/>
            <a:ext cx="4999477" cy="646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Fig 2a. Two 100 Hz/ms Chirps with 1 ms Time Delay. Delayed Chirp is 3 dB lower in Amplitude.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88953C2-6736-AE48-450B-0045F8707CBC}"/>
              </a:ext>
            </a:extLst>
          </p:cNvPr>
          <p:cNvSpPr txBox="1"/>
          <p:nvPr/>
        </p:nvSpPr>
        <p:spPr>
          <a:xfrm>
            <a:off x="6646649" y="3462247"/>
            <a:ext cx="48166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Fig 2b. Summation produces a Waveform with a Beat Note of Period p = 10 ms.</a:t>
            </a:r>
          </a:p>
        </p:txBody>
      </p:sp>
    </p:spTree>
    <p:extLst>
      <p:ext uri="{BB962C8B-B14F-4D97-AF65-F5344CB8AC3E}">
        <p14:creationId xmlns:p14="http://schemas.microsoft.com/office/powerpoint/2010/main" val="20282846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EC15C9-682C-D93E-F070-D3D4E15EC6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83541" y="3028248"/>
            <a:ext cx="5898859" cy="775949"/>
          </a:xfrm>
        </p:spPr>
        <p:txBody>
          <a:bodyPr>
            <a:noAutofit/>
          </a:bodyPr>
          <a:lstStyle/>
          <a:p>
            <a:pPr algn="l"/>
            <a:r>
              <a:rPr lang="en-US" sz="1800" dirty="0"/>
              <a:t>Geometry and Setup for Initial TDOA On-Air Experiments Using Amateur Radio Stations WA5FRF and N5DUP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BCD0A1-9E93-FFA8-81C4-0B2FC9697D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299" y="800548"/>
            <a:ext cx="5188242" cy="440780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7143C67-5CB5-5FAA-F0C3-213468276C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7585" y="863293"/>
            <a:ext cx="7772400" cy="201757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47D8423-6442-F827-02B9-83EE9C6F3421}"/>
              </a:ext>
            </a:extLst>
          </p:cNvPr>
          <p:cNvSpPr txBox="1"/>
          <p:nvPr/>
        </p:nvSpPr>
        <p:spPr>
          <a:xfrm>
            <a:off x="6096000" y="3804197"/>
            <a:ext cx="5693985" cy="6542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Geometry is convenient for proximity to expected eclipse Path and to the Austin Ionosonde for ground truth data.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7242251-FEEE-8F46-A0EE-8EE13D3CCE47}"/>
              </a:ext>
            </a:extLst>
          </p:cNvPr>
          <p:cNvSpPr txBox="1"/>
          <p:nvPr/>
        </p:nvSpPr>
        <p:spPr>
          <a:xfrm>
            <a:off x="6096001" y="4517660"/>
            <a:ext cx="5693984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The 60 m and 75 m frequency bands were chosen for likelihood of both 1 hop and 2 hop propagation.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4D89D52-00BB-FD3A-8E0C-37BE3C96C542}"/>
              </a:ext>
            </a:extLst>
          </p:cNvPr>
          <p:cNvSpPr/>
          <p:nvPr/>
        </p:nvSpPr>
        <p:spPr>
          <a:xfrm>
            <a:off x="4017585" y="814755"/>
            <a:ext cx="7772400" cy="206611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46518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32EBED9-0C68-7BC6-3106-E338128777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2037" y="3633824"/>
            <a:ext cx="3615883" cy="259774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9FE3049-DB37-0F77-B295-82EB185EA7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0112" y="3633824"/>
            <a:ext cx="3596303" cy="2597747"/>
          </a:xfrm>
          <a:prstGeom prst="rect">
            <a:avLst/>
          </a:prstGeom>
        </p:spPr>
      </p:pic>
      <p:pic>
        <p:nvPicPr>
          <p:cNvPr id="7" name="Picture 6" descr="Chart&#10;&#10;Description automatically generated">
            <a:extLst>
              <a:ext uri="{FF2B5EF4-FFF2-40B4-BE49-F238E27FC236}">
                <a16:creationId xmlns:a16="http://schemas.microsoft.com/office/drawing/2014/main" id="{17268C1F-356E-3135-4C99-5B04C3BBA2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8909" y="61175"/>
            <a:ext cx="5144000" cy="2880377"/>
          </a:xfrm>
          <a:prstGeom prst="rect">
            <a:avLst/>
          </a:prstGeom>
        </p:spPr>
      </p:pic>
      <p:pic>
        <p:nvPicPr>
          <p:cNvPr id="9" name="Picture 8" descr="Chart, line chart&#10;&#10;Description automatically generated">
            <a:extLst>
              <a:ext uri="{FF2B5EF4-FFF2-40B4-BE49-F238E27FC236}">
                <a16:creationId xmlns:a16="http://schemas.microsoft.com/office/drawing/2014/main" id="{0C9C5594-34FA-0D2D-81EE-501B6AB1F1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08317" y="177550"/>
            <a:ext cx="3004562" cy="1373315"/>
          </a:xfrm>
          <a:prstGeom prst="rect">
            <a:avLst/>
          </a:prstGeom>
        </p:spPr>
      </p:pic>
      <p:pic>
        <p:nvPicPr>
          <p:cNvPr id="11" name="Picture 10" descr="Chart, histogram&#10;&#10;Description automatically generated">
            <a:extLst>
              <a:ext uri="{FF2B5EF4-FFF2-40B4-BE49-F238E27FC236}">
                <a16:creationId xmlns:a16="http://schemas.microsoft.com/office/drawing/2014/main" id="{D5B5B70E-7763-25FC-4F6A-2127EAFEC1A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08317" y="1550865"/>
            <a:ext cx="3004562" cy="1389961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A4F56D3-8835-5700-531B-244AC06B79B5}"/>
              </a:ext>
            </a:extLst>
          </p:cNvPr>
          <p:cNvCxnSpPr>
            <a:cxnSpLocks/>
          </p:cNvCxnSpPr>
          <p:nvPr/>
        </p:nvCxnSpPr>
        <p:spPr>
          <a:xfrm flipV="1">
            <a:off x="7936749" y="1246915"/>
            <a:ext cx="0" cy="1263534"/>
          </a:xfrm>
          <a:prstGeom prst="line">
            <a:avLst/>
          </a:prstGeom>
          <a:ln w="15875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9EDE192-EAA5-878C-6198-87E5EE99CF66}"/>
              </a:ext>
            </a:extLst>
          </p:cNvPr>
          <p:cNvCxnSpPr>
            <a:cxnSpLocks/>
          </p:cNvCxnSpPr>
          <p:nvPr/>
        </p:nvCxnSpPr>
        <p:spPr>
          <a:xfrm flipH="1">
            <a:off x="6096000" y="1261663"/>
            <a:ext cx="1840749" cy="0"/>
          </a:xfrm>
          <a:prstGeom prst="line">
            <a:avLst/>
          </a:prstGeom>
          <a:ln w="12700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33FD0DD-949A-EB59-41DF-17FEECA54BF1}"/>
              </a:ext>
            </a:extLst>
          </p:cNvPr>
          <p:cNvCxnSpPr>
            <a:cxnSpLocks/>
          </p:cNvCxnSpPr>
          <p:nvPr/>
        </p:nvCxnSpPr>
        <p:spPr>
          <a:xfrm>
            <a:off x="3963560" y="2351345"/>
            <a:ext cx="0" cy="382472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F07C4F50-EA0F-C1CE-348A-178EAFD978A7}"/>
              </a:ext>
            </a:extLst>
          </p:cNvPr>
          <p:cNvCxnSpPr>
            <a:cxnSpLocks/>
          </p:cNvCxnSpPr>
          <p:nvPr/>
        </p:nvCxnSpPr>
        <p:spPr>
          <a:xfrm>
            <a:off x="3566521" y="2351345"/>
            <a:ext cx="0" cy="382472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F9312598-4B4E-A88F-CA1C-8B7C1D201A8F}"/>
              </a:ext>
            </a:extLst>
          </p:cNvPr>
          <p:cNvCxnSpPr>
            <a:cxnSpLocks/>
          </p:cNvCxnSpPr>
          <p:nvPr/>
        </p:nvCxnSpPr>
        <p:spPr>
          <a:xfrm>
            <a:off x="3566521" y="2626824"/>
            <a:ext cx="397039" cy="0"/>
          </a:xfrm>
          <a:prstGeom prst="straightConnector1">
            <a:avLst/>
          </a:prstGeom>
          <a:ln w="2222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212C475-4FE9-9459-598B-BDBA58EB40E0}"/>
              </a:ext>
            </a:extLst>
          </p:cNvPr>
          <p:cNvCxnSpPr>
            <a:cxnSpLocks/>
          </p:cNvCxnSpPr>
          <p:nvPr/>
        </p:nvCxnSpPr>
        <p:spPr>
          <a:xfrm>
            <a:off x="3762002" y="261990"/>
            <a:ext cx="0" cy="382472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C7BC6F15-7652-7A7C-FFA6-766DA2AF87A1}"/>
              </a:ext>
            </a:extLst>
          </p:cNvPr>
          <p:cNvCxnSpPr>
            <a:cxnSpLocks/>
          </p:cNvCxnSpPr>
          <p:nvPr/>
        </p:nvCxnSpPr>
        <p:spPr>
          <a:xfrm>
            <a:off x="3438703" y="261990"/>
            <a:ext cx="0" cy="382472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2E7ECEB3-0086-4CCF-7D0F-1514F4622453}"/>
              </a:ext>
            </a:extLst>
          </p:cNvPr>
          <p:cNvCxnSpPr>
            <a:cxnSpLocks/>
          </p:cNvCxnSpPr>
          <p:nvPr/>
        </p:nvCxnSpPr>
        <p:spPr>
          <a:xfrm>
            <a:off x="3438703" y="522721"/>
            <a:ext cx="323299" cy="0"/>
          </a:xfrm>
          <a:prstGeom prst="straightConnector1">
            <a:avLst/>
          </a:prstGeom>
          <a:ln w="2222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DA6FA6FD-6FBC-3A0A-A6A1-9D06665FA59A}"/>
              </a:ext>
            </a:extLst>
          </p:cNvPr>
          <p:cNvSpPr txBox="1"/>
          <p:nvPr/>
        </p:nvSpPr>
        <p:spPr>
          <a:xfrm>
            <a:off x="3710598" y="368832"/>
            <a:ext cx="12550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TDOA = 1.6 ms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175FAF8-BBE1-FE16-BDB5-80574923D607}"/>
              </a:ext>
            </a:extLst>
          </p:cNvPr>
          <p:cNvSpPr txBox="1"/>
          <p:nvPr/>
        </p:nvSpPr>
        <p:spPr>
          <a:xfrm>
            <a:off x="3940492" y="2482767"/>
            <a:ext cx="8851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p = 61 ms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DE6836C-034F-A89A-8619-A0EDFB9FE2F2}"/>
              </a:ext>
            </a:extLst>
          </p:cNvPr>
          <p:cNvSpPr txBox="1"/>
          <p:nvPr/>
        </p:nvSpPr>
        <p:spPr>
          <a:xfrm>
            <a:off x="2208317" y="1620636"/>
            <a:ext cx="3004560" cy="307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TDOA = 1/(61 ms * 10 Hz/ms) = 1.6 ms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0D13F32E-E046-958E-9E24-494BBA14C866}"/>
              </a:ext>
            </a:extLst>
          </p:cNvPr>
          <p:cNvCxnSpPr>
            <a:cxnSpLocks/>
          </p:cNvCxnSpPr>
          <p:nvPr/>
        </p:nvCxnSpPr>
        <p:spPr>
          <a:xfrm>
            <a:off x="5246127" y="869476"/>
            <a:ext cx="456032" cy="0"/>
          </a:xfrm>
          <a:prstGeom prst="straightConnector1">
            <a:avLst/>
          </a:prstGeom>
          <a:ln w="317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229101FF-BAE8-83D6-D96D-D3F03DC8123C}"/>
              </a:ext>
            </a:extLst>
          </p:cNvPr>
          <p:cNvCxnSpPr>
            <a:cxnSpLocks/>
          </p:cNvCxnSpPr>
          <p:nvPr/>
        </p:nvCxnSpPr>
        <p:spPr>
          <a:xfrm>
            <a:off x="5248902" y="2252156"/>
            <a:ext cx="456032" cy="0"/>
          </a:xfrm>
          <a:prstGeom prst="straightConnector1">
            <a:avLst/>
          </a:prstGeom>
          <a:ln w="317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D8F23395-2214-AAFF-B782-0BC0932DCE60}"/>
              </a:ext>
            </a:extLst>
          </p:cNvPr>
          <p:cNvCxnSpPr>
            <a:cxnSpLocks/>
          </p:cNvCxnSpPr>
          <p:nvPr/>
        </p:nvCxnSpPr>
        <p:spPr>
          <a:xfrm flipH="1">
            <a:off x="5474143" y="2824451"/>
            <a:ext cx="857384" cy="692998"/>
          </a:xfrm>
          <a:prstGeom prst="straightConnector1">
            <a:avLst/>
          </a:prstGeom>
          <a:ln w="317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0987C840-FDBB-246A-2701-0455DACA6B75}"/>
              </a:ext>
            </a:extLst>
          </p:cNvPr>
          <p:cNvCxnSpPr>
            <a:cxnSpLocks/>
          </p:cNvCxnSpPr>
          <p:nvPr/>
        </p:nvCxnSpPr>
        <p:spPr>
          <a:xfrm>
            <a:off x="6331527" y="2824451"/>
            <a:ext cx="538585" cy="966153"/>
          </a:xfrm>
          <a:prstGeom prst="straightConnector1">
            <a:avLst/>
          </a:prstGeom>
          <a:ln w="317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5985FD38-5D5D-51D4-EC5F-F3E5A436D068}"/>
              </a:ext>
            </a:extLst>
          </p:cNvPr>
          <p:cNvSpPr txBox="1"/>
          <p:nvPr/>
        </p:nvSpPr>
        <p:spPr>
          <a:xfrm>
            <a:off x="2410134" y="2960282"/>
            <a:ext cx="2591619" cy="584774"/>
          </a:xfrm>
          <a:prstGeom prst="rect">
            <a:avLst/>
          </a:prstGeom>
          <a:noFill/>
          <a:ln>
            <a:solidFill>
              <a:schemeClr val="accent1">
                <a:shade val="95000"/>
                <a:satMod val="10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/>
              <a:t>Fig. 4a Short Pulse and Chirp TDOA Measurements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E13906F-E6DF-E1C6-A36F-E33D958B7DCF}"/>
              </a:ext>
            </a:extLst>
          </p:cNvPr>
          <p:cNvSpPr txBox="1"/>
          <p:nvPr/>
        </p:nvSpPr>
        <p:spPr>
          <a:xfrm>
            <a:off x="6803917" y="2962283"/>
            <a:ext cx="3429277" cy="584776"/>
          </a:xfrm>
          <a:prstGeom prst="rect">
            <a:avLst/>
          </a:prstGeom>
          <a:noFill/>
          <a:ln>
            <a:solidFill>
              <a:schemeClr val="accent1">
                <a:shade val="95000"/>
                <a:satMod val="10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/>
              <a:t>Fig. 4b Convert  1.6 ms TDOA Measurements to 270 km Layer Height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7D3C20B-F12C-6E7C-1B97-BFD580DAC0B0}"/>
              </a:ext>
            </a:extLst>
          </p:cNvPr>
          <p:cNvSpPr txBox="1"/>
          <p:nvPr/>
        </p:nvSpPr>
        <p:spPr>
          <a:xfrm>
            <a:off x="2026496" y="6240410"/>
            <a:ext cx="8481850" cy="584775"/>
          </a:xfrm>
          <a:prstGeom prst="rect">
            <a:avLst/>
          </a:prstGeom>
          <a:noFill/>
          <a:ln>
            <a:solidFill>
              <a:schemeClr val="accent1">
                <a:shade val="95000"/>
                <a:satMod val="10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/>
              <a:t>Fig. 4c  Overlay Layer Height Estimation on Ionosonde hmF2 Data for Day and Time of Measurement.</a:t>
            </a:r>
          </a:p>
          <a:p>
            <a:r>
              <a:rPr lang="en-US" sz="1600" dirty="0"/>
              <a:t>Error bars show range of 18 separate measurements using short pulses and 10-50 Hz/ms chirps.</a:t>
            </a:r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1FAD0C51-023B-BB96-4B83-0E7902B76E83}"/>
              </a:ext>
            </a:extLst>
          </p:cNvPr>
          <p:cNvSpPr/>
          <p:nvPr/>
        </p:nvSpPr>
        <p:spPr>
          <a:xfrm>
            <a:off x="4059610" y="4616150"/>
            <a:ext cx="104927" cy="10492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161DF752-C57B-C92E-327C-3F85711B8AD5}"/>
              </a:ext>
            </a:extLst>
          </p:cNvPr>
          <p:cNvSpPr/>
          <p:nvPr/>
        </p:nvSpPr>
        <p:spPr>
          <a:xfrm>
            <a:off x="9512771" y="4616151"/>
            <a:ext cx="104927" cy="10492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22130F95-C781-9C9F-1E00-18C1DEB0DEED}"/>
              </a:ext>
            </a:extLst>
          </p:cNvPr>
          <p:cNvCxnSpPr>
            <a:cxnSpLocks/>
          </p:cNvCxnSpPr>
          <p:nvPr/>
        </p:nvCxnSpPr>
        <p:spPr>
          <a:xfrm flipV="1">
            <a:off x="6331527" y="1504261"/>
            <a:ext cx="1465811" cy="1320190"/>
          </a:xfrm>
          <a:prstGeom prst="straightConnector1">
            <a:avLst/>
          </a:prstGeom>
          <a:ln w="317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71D34463-0979-FD7F-E37C-0D10890D759B}"/>
              </a:ext>
            </a:extLst>
          </p:cNvPr>
          <p:cNvCxnSpPr>
            <a:cxnSpLocks/>
          </p:cNvCxnSpPr>
          <p:nvPr/>
        </p:nvCxnSpPr>
        <p:spPr>
          <a:xfrm>
            <a:off x="4098037" y="4505498"/>
            <a:ext cx="0" cy="12727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725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5187</TotalTime>
  <Words>1920</Words>
  <Application>Microsoft Office PowerPoint</Application>
  <PresentationFormat>Widescreen</PresentationFormat>
  <Paragraphs>182</Paragraphs>
  <Slides>16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Calibri</vt:lpstr>
      <vt:lpstr>Calibri Light</vt:lpstr>
      <vt:lpstr>Symbol</vt:lpstr>
      <vt:lpstr>Office Theme</vt:lpstr>
      <vt:lpstr>1_Office Theme</vt:lpstr>
      <vt:lpstr>PowerPoint Presentation</vt:lpstr>
      <vt:lpstr>Time Difference of Arrival (TDOA) Between the 1-hop and 2-hop Modes Can be Analyzed to Infer Layer Height</vt:lpstr>
      <vt:lpstr>Simplified 1 and 2 Hop Refraction from The F2 Region</vt:lpstr>
      <vt:lpstr>Simultaneous 1 Hop Refraction from the E and F2 Regions</vt:lpstr>
      <vt:lpstr>PowerPoint Presentation</vt:lpstr>
      <vt:lpstr>PowerPoint Presentation</vt:lpstr>
      <vt:lpstr>PowerPoint Presentation</vt:lpstr>
      <vt:lpstr>PowerPoint Presentation</vt:lpstr>
      <vt:lpstr>Calculated Relationship Between 1 hop-2 hop  Time Difference of Arrival and Virtual Layer Height for  Ground Distances Between 250 km and 3000 km</vt:lpstr>
      <vt:lpstr> 0-5000 Hz Up-Down Chirps Illustrate Bandwidth Limiting in Transmitter And Receiver</vt:lpstr>
      <vt:lpstr>Geometry and Setup for Initial TDOA On-Air Experiments Using Amateur Radio Stations</vt:lpstr>
      <vt:lpstr>Spreadsheet for Calculating TDOA Parameters for a Specified Ground Distance</vt:lpstr>
      <vt:lpstr>The Time Difference of Arrival between Two Simultaneous Propagation Modes Measured by Transmission of an Audio Frequency Chirp </vt:lpstr>
      <vt:lpstr>PowerPoint Presentation</vt:lpstr>
      <vt:lpstr>Geometry and Setup for Initial TDOA On-Air Experiments Using Amateur Radio Stations WA5FRF and N5DUP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Simplified Virtual Height Model Used to Relate Path Length to Reflection Height  </dc:title>
  <dc:creator>Steve Cerwin</dc:creator>
  <cp:lastModifiedBy>Steve Cerwin</cp:lastModifiedBy>
  <cp:revision>39</cp:revision>
  <dcterms:created xsi:type="dcterms:W3CDTF">2023-02-20T18:55:33Z</dcterms:created>
  <dcterms:modified xsi:type="dcterms:W3CDTF">2025-06-26T02:48:10Z</dcterms:modified>
</cp:coreProperties>
</file>