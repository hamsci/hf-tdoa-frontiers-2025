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465" r:id="rId2"/>
    <p:sldId id="273"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87" autoAdjust="0"/>
    <p:restoredTop sz="92597" autoAdjust="0"/>
  </p:normalViewPr>
  <p:slideViewPr>
    <p:cSldViewPr snapToGrid="0">
      <p:cViewPr varScale="1">
        <p:scale>
          <a:sx n="68" d="100"/>
          <a:sy n="68" d="100"/>
        </p:scale>
        <p:origin x="1219" y="72"/>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06220-9AFA-4FA1-9079-EA85A4A02A94}" type="datetimeFigureOut">
              <a:rPr lang="en-US" smtClean="0"/>
              <a:t>10/10/25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AE693-752C-4720-B6D7-D348E1F4E496}" type="slidenum">
              <a:rPr lang="en-US" smtClean="0"/>
              <a:t>‹#›</a:t>
            </a:fld>
            <a:endParaRPr lang="en-US"/>
          </a:p>
        </p:txBody>
      </p:sp>
    </p:spTree>
    <p:extLst>
      <p:ext uri="{BB962C8B-B14F-4D97-AF65-F5344CB8AC3E}">
        <p14:creationId xmlns:p14="http://schemas.microsoft.com/office/powerpoint/2010/main" val="17165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Steve Cerwin and I am going to talk about a way of probing the bottom side ionosphere using ordinary amateur radios transmitting and receiving audio waveforms that can reveal the Time Difference of Arrival, or TDOA between multipath propagation modes.</a:t>
            </a:r>
          </a:p>
        </p:txBody>
      </p:sp>
      <p:sp>
        <p:nvSpPr>
          <p:cNvPr id="4" name="Slide Number Placeholder 3"/>
          <p:cNvSpPr>
            <a:spLocks noGrp="1"/>
          </p:cNvSpPr>
          <p:nvPr>
            <p:ph type="sldNum" sz="quarter" idx="5"/>
          </p:nvPr>
        </p:nvSpPr>
        <p:spPr/>
        <p:txBody>
          <a:bodyPr/>
          <a:lstStyle/>
          <a:p>
            <a:fld id="{591AE693-752C-4720-B6D7-D348E1F4E496}" type="slidenum">
              <a:rPr lang="en-US" smtClean="0"/>
              <a:t>1</a:t>
            </a:fld>
            <a:endParaRPr lang="en-US"/>
          </a:p>
        </p:txBody>
      </p:sp>
    </p:spTree>
    <p:extLst>
      <p:ext uri="{BB962C8B-B14F-4D97-AF65-F5344CB8AC3E}">
        <p14:creationId xmlns:p14="http://schemas.microsoft.com/office/powerpoint/2010/main" val="539493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several charts show TDOA data collected during the 2023 and 2024 North American eclipses. This chart shows same-frequency data over two very different path lengths: a short NVIS path to a local station only 9 km away and a 317 km path that was in the same direction as the eclipse Path of Totality. Measured TDOA was consistent with 1 and 2 hops from the F2 layer, though the NVIS multipath could have been between ground wave and 1 or more hops from F2. The calculated F2 layer height data from both paths agreed well with each other and with hmF2 data from the Austin, TX ionosonde. Data were acquired from 1400 UTC to 2030 UTC which included local totality at the TX site at 1830 UTC. The measured height profile resembles a two-hump saddle with one peak at 1530 UTC and a second near the time of totality passage at 1830 UTC. </a:t>
            </a:r>
          </a:p>
        </p:txBody>
      </p:sp>
      <p:sp>
        <p:nvSpPr>
          <p:cNvPr id="4" name="Slide Number Placeholder 3"/>
          <p:cNvSpPr>
            <a:spLocks noGrp="1"/>
          </p:cNvSpPr>
          <p:nvPr>
            <p:ph type="sldNum" sz="quarter" idx="5"/>
          </p:nvPr>
        </p:nvSpPr>
        <p:spPr/>
        <p:txBody>
          <a:bodyPr/>
          <a:lstStyle/>
          <a:p>
            <a:fld id="{591AE693-752C-4720-B6D7-D348E1F4E496}" type="slidenum">
              <a:rPr lang="en-US" smtClean="0"/>
              <a:t>2</a:t>
            </a:fld>
            <a:endParaRPr lang="en-US"/>
          </a:p>
        </p:txBody>
      </p:sp>
    </p:spTree>
    <p:extLst>
      <p:ext uri="{BB962C8B-B14F-4D97-AF65-F5344CB8AC3E}">
        <p14:creationId xmlns:p14="http://schemas.microsoft.com/office/powerpoint/2010/main" val="4009141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18D5-C364-681A-F336-254C47712B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6EC7F5-7BFE-5A34-D66B-D91F0C87B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1BEC19-0A8D-C3AA-2A3F-4467BD450E78}"/>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6E121EBB-A9D2-0684-0B55-E4A3F0FDC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F745-533B-F306-2B5C-9C97130426C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1563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27DF-7972-0E49-317C-37D6BC500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92EB8-7320-9577-A667-ED891D284C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BFE0B-B19C-A2A1-762D-9C1696540189}"/>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7A7E1DB9-E17D-DF24-70E4-1E041CBF2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083F4-8D52-2C1E-96F2-F08E870F71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29090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2FE4-B0E0-4504-DCB9-66345B3543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48A0-5A50-BAA8-AE36-24A9BA6A32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F0D038-3E97-8F24-5C01-7AFF8291DEC6}"/>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4E0A3934-C94E-34E7-7140-7043C4AE7B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5543F-7AEF-395F-4C86-026204D85C1F}"/>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50378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A7314-97E3-1F82-652E-315F7662B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DCEAE-06FE-8238-58D6-4960AB1CE0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D1006-51BF-FF21-15A4-7CAF0F23E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4C1338-4D8D-2075-E1F0-7F932E78F841}"/>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8B761E79-8D6F-B113-9A0C-27FCAF618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7CD1FA-2360-1C81-02ED-1CC8AA1DD5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771596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649D-56B0-9728-D1B7-AD4521D6AD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A6C79-4449-1C7A-A516-79CCC6F6D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8A231A-D606-2EF7-61FD-2D043D726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A31F68-4C14-C3A2-8851-A83A9251C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CE558-D50D-B0F3-2407-7BCAB0DD2D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AF6E91-1845-0038-299A-E7D1F22AE517}"/>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8" name="Footer Placeholder 7">
            <a:extLst>
              <a:ext uri="{FF2B5EF4-FFF2-40B4-BE49-F238E27FC236}">
                <a16:creationId xmlns:a16="http://schemas.microsoft.com/office/drawing/2014/main" id="{4350A02E-D1B3-93D8-C2D4-D4917913C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30E3F5-C468-CD1A-8848-5354361DBD9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3289696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3F6A-BF43-E98C-ACD3-9432E5CDD6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DF50AF-91C3-61CA-B46A-DEA95A1146AF}"/>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4" name="Footer Placeholder 3">
            <a:extLst>
              <a:ext uri="{FF2B5EF4-FFF2-40B4-BE49-F238E27FC236}">
                <a16:creationId xmlns:a16="http://schemas.microsoft.com/office/drawing/2014/main" id="{3D84558C-698F-35BD-4193-7BBF99FC93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0AB9BA-C606-76BB-FB59-CD5228708D8C}"/>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232167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D6E10-40FA-74F1-2547-E893FAF1238F}"/>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3" name="Footer Placeholder 2">
            <a:extLst>
              <a:ext uri="{FF2B5EF4-FFF2-40B4-BE49-F238E27FC236}">
                <a16:creationId xmlns:a16="http://schemas.microsoft.com/office/drawing/2014/main" id="{49CCC1C9-A010-42CA-C672-C7B93A241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669021-D371-FA64-8689-B9318DBCBE55}"/>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91812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B8E4-3F17-6847-0FD6-23143306D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43399A-A8F6-13DF-344D-E331C9210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14521-733E-6794-7638-9F0746F92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BA1B7-BD71-09C9-BB2B-525A885C1BA2}"/>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F27BC925-0590-D1B6-0BB1-F87671B1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CA66E-2B96-69D2-25F6-626EE0EFD08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64583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6614-BAA5-28FB-5606-F728094E3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D1BC2-0A3D-147C-A142-479B81A74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FE830D-6BF2-F698-BCD9-C4742005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800B-10F2-68BC-EDDD-9D37B4982EDB}"/>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00C013F8-E632-2F70-354D-AD014B48D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766E7-BD61-4408-4AF5-B1D196BB1FD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80537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4547-C476-5E9F-00E7-56F22E327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C35955-F25F-DC16-5A7F-02BF90A73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47494-4B36-5304-A297-381DA12E6E29}"/>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A7ECCC26-CE59-1D86-BA63-2646EC3301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6E80-AEC2-8F5F-E7A6-2B309216D871}"/>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488734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27F85D-7190-1093-9FBD-E405A9729D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9D832E-97C8-6830-C39E-D9F3EEAE91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783A0-745E-0934-1B8C-CE842FAD4236}"/>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35CB00ED-BEDD-FD5F-D3CC-8007E043D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59ACDB-5C73-4509-1FEA-F54BC9931956}"/>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4928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6ABC3-EAAC-B0B7-D3DC-71183A7DF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633D00-F676-29D5-C369-7E64033DB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616E7-8C9B-63C8-4FE0-422C2C5F1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82E489E1-9C55-4435-878F-806B8DEBA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01B997-005D-01F7-C9F4-6D16FCAB1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B1C0B9-E3A8-4662-BF5D-12372F198869}" type="slidenum">
              <a:rPr lang="en-US" smtClean="0"/>
              <a:t>‹#›</a:t>
            </a:fld>
            <a:endParaRPr lang="en-US"/>
          </a:p>
        </p:txBody>
      </p:sp>
    </p:spTree>
    <p:extLst>
      <p:ext uri="{BB962C8B-B14F-4D97-AF65-F5344CB8AC3E}">
        <p14:creationId xmlns:p14="http://schemas.microsoft.com/office/powerpoint/2010/main" val="2854267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CC668-90E8-451C-C1A3-87C44D3A5117}"/>
              </a:ext>
            </a:extLst>
          </p:cNvPr>
          <p:cNvSpPr>
            <a:spLocks noGrp="1"/>
          </p:cNvSpPr>
          <p:nvPr>
            <p:ph type="ctrTitle"/>
          </p:nvPr>
        </p:nvSpPr>
        <p:spPr>
          <a:xfrm>
            <a:off x="850609" y="558837"/>
            <a:ext cx="10494333" cy="1854754"/>
          </a:xfrm>
        </p:spPr>
        <p:txBody>
          <a:bodyPr>
            <a:normAutofit/>
          </a:bodyPr>
          <a:lstStyle/>
          <a:p>
            <a:r>
              <a:rPr lang="en-US" sz="4000" kern="100" dirty="0">
                <a:effectLst/>
                <a:latin typeface="Calibri" panose="020F0502020204030204" pitchFamily="34" charset="0"/>
                <a:ea typeface="Calibri" panose="020F0502020204030204" pitchFamily="34" charset="0"/>
                <a:cs typeface="Times New Roman" panose="02020603050405020304" pitchFamily="18" charset="0"/>
              </a:rPr>
              <a:t>HamSCI HF Multipath Propagation Mode Analysis Using Amateur Radios and Audio Waveforms Sensitive to Time Difference of Arrival (TDOA) </a:t>
            </a:r>
            <a:endParaRPr lang="en-US" dirty="0"/>
          </a:p>
        </p:txBody>
      </p:sp>
      <p:sp>
        <p:nvSpPr>
          <p:cNvPr id="3" name="Subtitle 2">
            <a:extLst>
              <a:ext uri="{FF2B5EF4-FFF2-40B4-BE49-F238E27FC236}">
                <a16:creationId xmlns:a16="http://schemas.microsoft.com/office/drawing/2014/main" id="{F932A519-7BEC-5DBC-A6A4-EEF2BA81B9AC}"/>
              </a:ext>
            </a:extLst>
          </p:cNvPr>
          <p:cNvSpPr>
            <a:spLocks noGrp="1"/>
          </p:cNvSpPr>
          <p:nvPr>
            <p:ph type="subTitle" idx="1"/>
          </p:nvPr>
        </p:nvSpPr>
        <p:spPr>
          <a:xfrm>
            <a:off x="2502640" y="2791047"/>
            <a:ext cx="6463711" cy="1477925"/>
          </a:xfrm>
        </p:spPr>
        <p:txBody>
          <a:bodyPr>
            <a:normAutofit/>
          </a:bodyPr>
          <a:lstStyle/>
          <a:p>
            <a:r>
              <a:rPr lang="en-US" sz="1800" dirty="0"/>
              <a:t>Steve Cerwin WA5FRF, Jesse T. McMahan K1FR,</a:t>
            </a:r>
          </a:p>
          <a:p>
            <a:r>
              <a:rPr lang="en-US" sz="1800" dirty="0"/>
              <a:t>Alexandros Papadopoulos KC3WUD, Gerard Piccini KD2ZHK,</a:t>
            </a:r>
          </a:p>
          <a:p>
            <a:r>
              <a:rPr lang="en-US" sz="1800" dirty="0"/>
              <a:t>Paul Bilberry N5DUP, Sam Blackshear AB5YO</a:t>
            </a:r>
          </a:p>
          <a:p>
            <a:r>
              <a:rPr lang="en-US" sz="1800" dirty="0"/>
              <a:t>Kristina V. Collins KD8OXT, Nathaniel  A. Frissell W2NAV</a:t>
            </a:r>
          </a:p>
          <a:p>
            <a:endParaRPr lang="en-US" sz="1600" dirty="0"/>
          </a:p>
        </p:txBody>
      </p:sp>
      <p:sp>
        <p:nvSpPr>
          <p:cNvPr id="4" name="TextBox 3">
            <a:extLst>
              <a:ext uri="{FF2B5EF4-FFF2-40B4-BE49-F238E27FC236}">
                <a16:creationId xmlns:a16="http://schemas.microsoft.com/office/drawing/2014/main" id="{0EF4D52B-A8FE-5FB1-A573-9385532A661A}"/>
              </a:ext>
            </a:extLst>
          </p:cNvPr>
          <p:cNvSpPr txBox="1"/>
          <p:nvPr/>
        </p:nvSpPr>
        <p:spPr>
          <a:xfrm>
            <a:off x="1725835" y="4646429"/>
            <a:ext cx="8017323" cy="954107"/>
          </a:xfrm>
          <a:prstGeom prst="rect">
            <a:avLst/>
          </a:prstGeom>
          <a:noFill/>
        </p:spPr>
        <p:txBody>
          <a:bodyPr wrap="none" rtlCol="0">
            <a:spAutoFit/>
          </a:bodyPr>
          <a:lstStyle/>
          <a:p>
            <a:pPr algn="ctr"/>
            <a:r>
              <a:rPr lang="en-US" sz="2800" b="0" i="0" dirty="0">
                <a:effectLst/>
                <a:latin typeface="avenir_nextdemi_bold"/>
              </a:rPr>
              <a:t>American Geophysical Union (AGU) Fall Meeting 2024</a:t>
            </a:r>
          </a:p>
          <a:p>
            <a:pPr algn="ctr"/>
            <a:r>
              <a:rPr lang="en-US" sz="2800" dirty="0">
                <a:latin typeface="avenir_nextdemi_bold"/>
              </a:rPr>
              <a:t>December 9-13, 2024</a:t>
            </a:r>
            <a:endParaRPr lang="en-US" sz="2800" dirty="0"/>
          </a:p>
        </p:txBody>
      </p:sp>
      <p:pic>
        <p:nvPicPr>
          <p:cNvPr id="5" name="Picture 4" descr="A person standing on a computer&#10;&#10;Description automatically generated">
            <a:extLst>
              <a:ext uri="{FF2B5EF4-FFF2-40B4-BE49-F238E27FC236}">
                <a16:creationId xmlns:a16="http://schemas.microsoft.com/office/drawing/2014/main" id="{4AA33C46-CB2B-2B4B-741F-A62FF67BD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805" y="6148571"/>
            <a:ext cx="2453853" cy="548688"/>
          </a:xfrm>
          <a:prstGeom prst="rect">
            <a:avLst/>
          </a:prstGeom>
        </p:spPr>
      </p:pic>
      <p:sp>
        <p:nvSpPr>
          <p:cNvPr id="6" name="TextBox 5">
            <a:extLst>
              <a:ext uri="{FF2B5EF4-FFF2-40B4-BE49-F238E27FC236}">
                <a16:creationId xmlns:a16="http://schemas.microsoft.com/office/drawing/2014/main" id="{D4708A3E-DEE8-9805-492B-D51AEC7A6769}"/>
              </a:ext>
            </a:extLst>
          </p:cNvPr>
          <p:cNvSpPr txBox="1"/>
          <p:nvPr/>
        </p:nvSpPr>
        <p:spPr>
          <a:xfrm>
            <a:off x="2724728" y="6192082"/>
            <a:ext cx="4192173" cy="461665"/>
          </a:xfrm>
          <a:prstGeom prst="rect">
            <a:avLst/>
          </a:prstGeom>
          <a:noFill/>
        </p:spPr>
        <p:txBody>
          <a:bodyPr wrap="none" rtlCol="0">
            <a:spAutoFit/>
          </a:bodyPr>
          <a:lstStyle/>
          <a:p>
            <a:r>
              <a:rPr lang="en-US" sz="2400" dirty="0"/>
              <a:t>steve@cerwinconsulting.com</a:t>
            </a:r>
          </a:p>
        </p:txBody>
      </p:sp>
    </p:spTree>
    <p:extLst>
      <p:ext uri="{BB962C8B-B14F-4D97-AF65-F5344CB8AC3E}">
        <p14:creationId xmlns:p14="http://schemas.microsoft.com/office/powerpoint/2010/main" val="182924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D182-F630-F757-B5DD-B18B2D462B28}"/>
              </a:ext>
            </a:extLst>
          </p:cNvPr>
          <p:cNvSpPr>
            <a:spLocks noGrp="1" noRot="1" noMove="1" noResize="1" noEditPoints="1" noAdjustHandles="1" noChangeArrowheads="1" noChangeShapeType="1"/>
          </p:cNvSpPr>
          <p:nvPr>
            <p:ph type="title"/>
          </p:nvPr>
        </p:nvSpPr>
        <p:spPr>
          <a:xfrm>
            <a:off x="1245115" y="111200"/>
            <a:ext cx="9988279" cy="1359616"/>
          </a:xfrm>
        </p:spPr>
        <p:txBody>
          <a:bodyPr>
            <a:normAutofit fontScale="90000"/>
          </a:bodyPr>
          <a:lstStyle/>
          <a:p>
            <a:r>
              <a:rPr lang="en-US" sz="3600" dirty="0"/>
              <a:t>Layer Heights Calculated from TDOA at the Same Frequency Over Different Path Lengths Agreed Well with Each Other and With the Austin, TX Ionosonde</a:t>
            </a:r>
          </a:p>
        </p:txBody>
      </p:sp>
      <p:pic>
        <p:nvPicPr>
          <p:cNvPr id="3" name="Picture 2">
            <a:extLst>
              <a:ext uri="{FF2B5EF4-FFF2-40B4-BE49-F238E27FC236}">
                <a16:creationId xmlns:a16="http://schemas.microsoft.com/office/drawing/2014/main" id="{6EB37C30-2AE9-3E2B-A1EB-48CB5116B473}"/>
              </a:ext>
            </a:extLst>
          </p:cNvPr>
          <p:cNvPicPr>
            <a:picLocks noGrp="1" noRot="1" noChangeAspect="1" noMove="1" noResize="1" noEditPoints="1" noAdjustHandles="1" noChangeArrowheads="1" noChangeShapeType="1" noCrop="1"/>
          </p:cNvPicPr>
          <p:nvPr/>
        </p:nvPicPr>
        <p:blipFill>
          <a:blip r:embed="rId3"/>
          <a:stretch>
            <a:fillRect/>
          </a:stretch>
        </p:blipFill>
        <p:spPr>
          <a:xfrm>
            <a:off x="2491186" y="1492790"/>
            <a:ext cx="7209626" cy="3872419"/>
          </a:xfrm>
          <a:prstGeom prst="rect">
            <a:avLst/>
          </a:prstGeom>
        </p:spPr>
      </p:pic>
      <p:sp>
        <p:nvSpPr>
          <p:cNvPr id="6" name="TextBox 5">
            <a:extLst>
              <a:ext uri="{FF2B5EF4-FFF2-40B4-BE49-F238E27FC236}">
                <a16:creationId xmlns:a16="http://schemas.microsoft.com/office/drawing/2014/main" id="{16DAD278-FBCB-76F3-4AC3-DC98B8623E88}"/>
              </a:ext>
            </a:extLst>
          </p:cNvPr>
          <p:cNvSpPr txBox="1">
            <a:spLocks noGrp="1" noRot="1" noMove="1" noResize="1" noEditPoints="1" noAdjustHandles="1" noChangeArrowheads="1" noChangeShapeType="1"/>
          </p:cNvSpPr>
          <p:nvPr/>
        </p:nvSpPr>
        <p:spPr>
          <a:xfrm>
            <a:off x="1270960" y="5649540"/>
            <a:ext cx="10117385" cy="923330"/>
          </a:xfrm>
          <a:prstGeom prst="rect">
            <a:avLst/>
          </a:prstGeom>
          <a:noFill/>
        </p:spPr>
        <p:txBody>
          <a:bodyPr wrap="none" rtlCol="0">
            <a:spAutoFit/>
          </a:bodyPr>
          <a:lstStyle/>
          <a:p>
            <a:r>
              <a:rPr lang="en-US" dirty="0"/>
              <a:t>		Transmit: WA5FRF near San Antonio, TX. Waveform: 10 Hz/ms Chirps.</a:t>
            </a:r>
          </a:p>
          <a:p>
            <a:r>
              <a:rPr lang="en-US" dirty="0"/>
              <a:t>		Receive: AB5YO at 8.8 km and N5DUP at 317 km near Abilene, TX.</a:t>
            </a:r>
          </a:p>
          <a:p>
            <a:r>
              <a:rPr lang="en-US" dirty="0"/>
              <a:t>Eclipse Path of Totality was almost directly overhead TX location and nearly aligned with 317 km path.</a:t>
            </a:r>
          </a:p>
        </p:txBody>
      </p:sp>
      <p:sp>
        <p:nvSpPr>
          <p:cNvPr id="4" name="TextBox 3">
            <a:extLst>
              <a:ext uri="{FF2B5EF4-FFF2-40B4-BE49-F238E27FC236}">
                <a16:creationId xmlns:a16="http://schemas.microsoft.com/office/drawing/2014/main" id="{66FE8B37-8E56-CDD1-D303-554F89C07384}"/>
              </a:ext>
            </a:extLst>
          </p:cNvPr>
          <p:cNvSpPr txBox="1"/>
          <p:nvPr/>
        </p:nvSpPr>
        <p:spPr>
          <a:xfrm>
            <a:off x="2777698" y="5280208"/>
            <a:ext cx="6923114" cy="369332"/>
          </a:xfrm>
          <a:prstGeom prst="rect">
            <a:avLst/>
          </a:prstGeom>
          <a:noFill/>
        </p:spPr>
        <p:txBody>
          <a:bodyPr wrap="none" rtlCol="0">
            <a:spAutoFit/>
          </a:bodyPr>
          <a:lstStyle/>
          <a:p>
            <a:r>
              <a:rPr lang="en-US" dirty="0"/>
              <a:t>Manual ionosonde scaling averaged height data for higher resolution.</a:t>
            </a:r>
          </a:p>
        </p:txBody>
      </p:sp>
    </p:spTree>
    <p:extLst>
      <p:ext uri="{BB962C8B-B14F-4D97-AF65-F5344CB8AC3E}">
        <p14:creationId xmlns:p14="http://schemas.microsoft.com/office/powerpoint/2010/main" val="3850004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34986</TotalTime>
  <Words>379</Words>
  <Application>Microsoft Macintosh PowerPoint</Application>
  <PresentationFormat>Widescreen</PresentationFormat>
  <Paragraphs>17</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avenir_nextdemi_bold</vt:lpstr>
      <vt:lpstr>Calibri</vt:lpstr>
      <vt:lpstr>Office Theme</vt:lpstr>
      <vt:lpstr>HamSCI HF Multipath Propagation Mode Analysis Using Amateur Radios and Audio Waveforms Sensitive to Time Difference of Arrival (TDOA) </vt:lpstr>
      <vt:lpstr>Layer Heights Calculated from TDOA at the Same Frequency Over Different Path Lengths Agreed Well with Each Other and With the Austin, TX Ionosonde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Cerwin</dc:creator>
  <cp:lastModifiedBy>Dr. Nathaniel A. Frissell Ph.D.</cp:lastModifiedBy>
  <cp:revision>176</cp:revision>
  <dcterms:created xsi:type="dcterms:W3CDTF">2024-10-19T11:54:09Z</dcterms:created>
  <dcterms:modified xsi:type="dcterms:W3CDTF">2025-10-10T20:22:51Z</dcterms:modified>
</cp:coreProperties>
</file>